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0" r:id="rId2"/>
    <p:sldId id="658" r:id="rId3"/>
    <p:sldId id="659" r:id="rId4"/>
    <p:sldId id="464" r:id="rId5"/>
    <p:sldId id="528" r:id="rId6"/>
    <p:sldId id="530" r:id="rId7"/>
    <p:sldId id="649" r:id="rId8"/>
    <p:sldId id="683" r:id="rId9"/>
    <p:sldId id="687" r:id="rId10"/>
    <p:sldId id="682" r:id="rId11"/>
    <p:sldId id="640" r:id="rId12"/>
    <p:sldId id="655" r:id="rId13"/>
    <p:sldId id="691" r:id="rId14"/>
    <p:sldId id="695" r:id="rId15"/>
    <p:sldId id="641" r:id="rId16"/>
    <p:sldId id="661" r:id="rId17"/>
    <p:sldId id="642" r:id="rId18"/>
    <p:sldId id="696" r:id="rId19"/>
    <p:sldId id="652" r:id="rId20"/>
    <p:sldId id="703" r:id="rId21"/>
    <p:sldId id="704" r:id="rId22"/>
    <p:sldId id="705" r:id="rId23"/>
    <p:sldId id="706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58"/>
            <p14:sldId id="659"/>
            <p14:sldId id="464"/>
            <p14:sldId id="528"/>
            <p14:sldId id="530"/>
            <p14:sldId id="649"/>
            <p14:sldId id="683"/>
            <p14:sldId id="687"/>
            <p14:sldId id="682"/>
            <p14:sldId id="640"/>
            <p14:sldId id="655"/>
            <p14:sldId id="691"/>
            <p14:sldId id="695"/>
            <p14:sldId id="641"/>
            <p14:sldId id="661"/>
            <p14:sldId id="642"/>
            <p14:sldId id="696"/>
            <p14:sldId id="652"/>
            <p14:sldId id="703"/>
            <p14:sldId id="704"/>
            <p14:sldId id="705"/>
            <p14:sldId id="7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5172" autoAdjust="0"/>
  </p:normalViewPr>
  <p:slideViewPr>
    <p:cSldViewPr snapToGrid="0" showGuides="1">
      <p:cViewPr varScale="1">
        <p:scale>
          <a:sx n="114" d="100"/>
          <a:sy n="114" d="100"/>
        </p:scale>
        <p:origin x="132" y="174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3096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4393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1227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7686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7930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5681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2938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8774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42042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5374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4124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93600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228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67557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56163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668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6305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2026-07-05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5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3" r:id="rId13"/>
    <p:sldLayoutId id="2147483674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6"/>
            <a:ext cx="7689344" cy="743737"/>
          </a:xfrm>
        </p:spPr>
        <p:txBody>
          <a:bodyPr/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SoC 102</a:t>
            </a:r>
            <a:r>
              <a:rPr lang="en-US" altLang="ko-KR">
                <a:latin typeface="Arial" panose="020B0604020202020204" pitchFamily="34" charset="0"/>
                <a:cs typeface="Arial" panose="020B0604020202020204" pitchFamily="34" charset="0"/>
              </a:rPr>
              <a:t>: Design</a:t>
            </a: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4037851"/>
            <a:ext cx="7689344" cy="438950"/>
          </a:xfrm>
        </p:spPr>
        <p:txBody>
          <a:bodyPr/>
          <a:lstStyle/>
          <a:p>
            <a:r>
              <a:rPr lang="en-US" altLang="ko-KR" b="1" dirty="0"/>
              <a:t>Session6</a:t>
            </a:r>
            <a:r>
              <a:rPr lang="en-US" altLang="ko-KR" dirty="0"/>
              <a:t> : </a:t>
            </a:r>
            <a:r>
              <a:rPr lang="en-US" altLang="ko-KR" b="1" dirty="0"/>
              <a:t>S</a:t>
            </a:r>
            <a:r>
              <a:rPr lang="en-US" altLang="ko-KR" dirty="0"/>
              <a:t>equential </a:t>
            </a:r>
            <a:r>
              <a:rPr lang="en-US" altLang="ko-KR" b="1" dirty="0"/>
              <a:t>L</a:t>
            </a:r>
            <a:r>
              <a:rPr lang="en-US" altLang="ko-KR" dirty="0"/>
              <a:t>ogic </a:t>
            </a:r>
            <a:r>
              <a:rPr lang="en-US" altLang="ko-KR" b="1" dirty="0"/>
              <a:t>B</a:t>
            </a:r>
            <a:r>
              <a:rPr lang="en-US" altLang="ko-KR" dirty="0"/>
              <a:t>locks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D66995-EC8F-4241-838D-FB8A84AF17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3363-4663-4A83-B5B9-7302893C9A0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E3330-E42F-45C6-9FDA-74753CBBADAF}"/>
              </a:ext>
            </a:extLst>
          </p:cNvPr>
          <p:cNvSpPr txBox="1"/>
          <p:nvPr/>
        </p:nvSpPr>
        <p:spPr>
          <a:xfrm>
            <a:off x="570451" y="1325461"/>
            <a:ext cx="8296712" cy="336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Basic Sequential Blocks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Latch &amp; Flip-Flop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D-Latch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D-Flip Lop</a:t>
            </a:r>
            <a:endParaRPr lang="ko-KR" altLang="en-US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Counter and Shift Register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Shift Register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Register Map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LABS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15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1. Latch and Flip Flop</a:t>
            </a:r>
          </a:p>
        </p:txBody>
      </p:sp>
    </p:spTree>
    <p:extLst>
      <p:ext uri="{BB962C8B-B14F-4D97-AF65-F5344CB8AC3E}">
        <p14:creationId xmlns:p14="http://schemas.microsoft.com/office/powerpoint/2010/main" val="378849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491E-7D98-A5A2-F889-3F2C1DE2C4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5559" y="370680"/>
            <a:ext cx="10515600" cy="620713"/>
          </a:xfrm>
        </p:spPr>
        <p:txBody>
          <a:bodyPr>
            <a:normAutofit/>
          </a:bodyPr>
          <a:lstStyle/>
          <a:p>
            <a:r>
              <a:rPr lang="en-CA" sz="3200" dirty="0"/>
              <a:t>Sequential Logic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A09469-85A5-43AF-8AC9-4EC1FC8BFF9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229" y="1154331"/>
            <a:ext cx="10515600" cy="50561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ko-KR" altLang="en-US" sz="1800" dirty="0"/>
              <a:t>순차회로</a:t>
            </a:r>
          </a:p>
          <a:p>
            <a:pPr lvl="1">
              <a:lnSpc>
                <a:spcPct val="140000"/>
              </a:lnSpc>
            </a:pPr>
            <a:r>
              <a:rPr lang="ko-KR" altLang="en-US" sz="1600" dirty="0"/>
              <a:t>현재의 입력</a:t>
            </a:r>
            <a:r>
              <a:rPr lang="en-US" altLang="ko-KR" sz="1600" dirty="0"/>
              <a:t>, </a:t>
            </a:r>
            <a:r>
              <a:rPr lang="ko-KR" altLang="en-US" sz="1600" dirty="0"/>
              <a:t>과거의 입력</a:t>
            </a:r>
            <a:r>
              <a:rPr lang="en-US" altLang="ko-KR" sz="1600" dirty="0"/>
              <a:t>, </a:t>
            </a:r>
            <a:r>
              <a:rPr lang="ko-KR" altLang="en-US" sz="1600" dirty="0"/>
              <a:t>회로에 기억된 </a:t>
            </a:r>
            <a:r>
              <a:rPr lang="ko-KR" altLang="en-US" sz="1600" dirty="0" err="1"/>
              <a:t>상태값에</a:t>
            </a:r>
            <a:r>
              <a:rPr lang="ko-KR" altLang="en-US" sz="1600" dirty="0"/>
              <a:t> 의해 출력이 결정</a:t>
            </a:r>
          </a:p>
          <a:p>
            <a:pPr lvl="1">
              <a:lnSpc>
                <a:spcPct val="140000"/>
              </a:lnSpc>
            </a:pPr>
            <a:r>
              <a:rPr lang="ko-KR" altLang="en-US" sz="1600" dirty="0"/>
              <a:t>과거의 입력</a:t>
            </a:r>
            <a:r>
              <a:rPr lang="en-US" altLang="ko-KR" sz="1600" dirty="0"/>
              <a:t>, </a:t>
            </a:r>
            <a:r>
              <a:rPr lang="ko-KR" altLang="en-US" sz="1600" dirty="0"/>
              <a:t>현재의 </a:t>
            </a:r>
            <a:r>
              <a:rPr lang="ko-KR" altLang="en-US" sz="1600" dirty="0" err="1"/>
              <a:t>상태값을</a:t>
            </a:r>
            <a:r>
              <a:rPr lang="ko-KR" altLang="en-US" sz="1600" dirty="0"/>
              <a:t> 저장하는 저장소자</a:t>
            </a:r>
            <a:r>
              <a:rPr lang="en-US" altLang="ko-KR" sz="1600" dirty="0"/>
              <a:t>(</a:t>
            </a:r>
            <a:r>
              <a:rPr lang="ko-KR" altLang="en-US" sz="1600" dirty="0"/>
              <a:t>래치</a:t>
            </a:r>
            <a:r>
              <a:rPr lang="en-US" altLang="ko-KR" sz="1600" dirty="0"/>
              <a:t>,</a:t>
            </a:r>
            <a:r>
              <a:rPr lang="ko-KR" altLang="en-US" sz="1600" dirty="0"/>
              <a:t> 플립플롭</a:t>
            </a:r>
            <a:r>
              <a:rPr lang="en-US" altLang="ko-KR" sz="1600" dirty="0"/>
              <a:t>)</a:t>
            </a:r>
            <a:r>
              <a:rPr lang="ko-KR" altLang="en-US" sz="1600" dirty="0"/>
              <a:t>와 조합논리회로로 구성</a:t>
            </a:r>
          </a:p>
          <a:p>
            <a:pPr lvl="1">
              <a:lnSpc>
                <a:spcPct val="140000"/>
              </a:lnSpc>
            </a:pPr>
            <a:r>
              <a:rPr lang="ko-KR" altLang="en-US" sz="1600" dirty="0"/>
              <a:t>데이터 레지스터</a:t>
            </a:r>
            <a:r>
              <a:rPr lang="en-US" altLang="ko-KR" sz="1600" dirty="0"/>
              <a:t>, </a:t>
            </a:r>
            <a:r>
              <a:rPr lang="ko-KR" altLang="en-US" sz="1600" dirty="0"/>
              <a:t>시프트 레지스터</a:t>
            </a:r>
            <a:r>
              <a:rPr lang="en-US" altLang="ko-KR" sz="1600" dirty="0"/>
              <a:t>, </a:t>
            </a:r>
            <a:r>
              <a:rPr lang="ko-KR" altLang="en-US" sz="1600" dirty="0"/>
              <a:t>계수기</a:t>
            </a:r>
            <a:r>
              <a:rPr lang="en-US" altLang="ko-KR" sz="1600" dirty="0"/>
              <a:t>(counter), </a:t>
            </a:r>
            <a:r>
              <a:rPr lang="ko-KR" altLang="en-US" sz="1600" dirty="0"/>
              <a:t>직렬</a:t>
            </a:r>
            <a:r>
              <a:rPr lang="en-US" altLang="ko-KR" sz="1600" dirty="0"/>
              <a:t>/</a:t>
            </a:r>
            <a:r>
              <a:rPr lang="ko-KR" altLang="en-US" sz="1600" dirty="0"/>
              <a:t>병렬 변환기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유한상태머신</a:t>
            </a:r>
            <a:r>
              <a:rPr lang="en-US" altLang="ko-KR" sz="1600" dirty="0"/>
              <a:t>(Finite State Machine; FSM), </a:t>
            </a:r>
            <a:r>
              <a:rPr lang="ko-KR" altLang="en-US" sz="1600" dirty="0"/>
              <a:t>주파수 </a:t>
            </a:r>
            <a:r>
              <a:rPr lang="ko-KR" altLang="en-US" sz="1600" dirty="0" err="1"/>
              <a:t>분주기</a:t>
            </a:r>
            <a:r>
              <a:rPr lang="en-US" altLang="ko-KR" sz="1600" dirty="0"/>
              <a:t>, </a:t>
            </a:r>
            <a:r>
              <a:rPr lang="ko-KR" altLang="en-US" sz="1600" dirty="0"/>
              <a:t>펄스 발생기 등</a:t>
            </a:r>
          </a:p>
          <a:p>
            <a:pPr>
              <a:lnSpc>
                <a:spcPct val="140000"/>
              </a:lnSpc>
            </a:pPr>
            <a:r>
              <a:rPr lang="ko-KR" altLang="en-US" sz="1800" dirty="0" err="1"/>
              <a:t>래치와</a:t>
            </a:r>
            <a:r>
              <a:rPr lang="ko-KR" altLang="en-US" sz="1800" dirty="0"/>
              <a:t> 플립플롭</a:t>
            </a:r>
          </a:p>
          <a:p>
            <a:pPr lvl="1">
              <a:lnSpc>
                <a:spcPct val="140000"/>
              </a:lnSpc>
            </a:pPr>
            <a:r>
              <a:rPr lang="ko-KR" altLang="en-US" sz="1600" dirty="0"/>
              <a:t>래치 </a:t>
            </a:r>
            <a:r>
              <a:rPr lang="en-US" altLang="ko-KR" sz="1600" dirty="0"/>
              <a:t>(latch)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클록신호의</a:t>
            </a:r>
            <a:r>
              <a:rPr lang="ko-KR" altLang="en-US" sz="1600" dirty="0"/>
              <a:t> </a:t>
            </a:r>
            <a:r>
              <a:rPr lang="ko-KR" altLang="en-US" sz="1600" b="1" dirty="0"/>
              <a:t>레벨</a:t>
            </a:r>
            <a:r>
              <a:rPr lang="en-US" altLang="ko-KR" sz="1600" dirty="0"/>
              <a:t>(</a:t>
            </a:r>
            <a:r>
              <a:rPr lang="ko-KR" altLang="en-US" sz="1600" dirty="0"/>
              <a:t>즉</a:t>
            </a:r>
            <a:r>
              <a:rPr lang="en-US" altLang="ko-KR" sz="1600" dirty="0"/>
              <a:t>, 0 </a:t>
            </a:r>
            <a:r>
              <a:rPr lang="ko-KR" altLang="en-US" sz="1600" dirty="0"/>
              <a:t>또는 </a:t>
            </a:r>
            <a:r>
              <a:rPr lang="en-US" altLang="ko-KR" sz="1600" dirty="0"/>
              <a:t>1)</a:t>
            </a:r>
            <a:r>
              <a:rPr lang="ko-KR" altLang="en-US" sz="1600" dirty="0"/>
              <a:t>에 따라 동작하는 저장소자</a:t>
            </a:r>
          </a:p>
          <a:p>
            <a:pPr lvl="1">
              <a:lnSpc>
                <a:spcPct val="140000"/>
              </a:lnSpc>
            </a:pPr>
            <a:r>
              <a:rPr lang="ko-KR" altLang="en-US" sz="1600" dirty="0"/>
              <a:t>플립플롭 </a:t>
            </a:r>
            <a:r>
              <a:rPr lang="en-US" altLang="ko-KR" sz="1600" dirty="0"/>
              <a:t>(Flop-flop)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클록신호의</a:t>
            </a:r>
            <a:r>
              <a:rPr lang="ko-KR" altLang="en-US" sz="1600" dirty="0"/>
              <a:t> </a:t>
            </a:r>
            <a:r>
              <a:rPr lang="ko-KR" altLang="en-US" sz="1600" b="1" dirty="0"/>
              <a:t>상승 또는 </a:t>
            </a:r>
            <a:r>
              <a:rPr lang="ko-KR" altLang="en-US" sz="1600" b="1" dirty="0" err="1"/>
              <a:t>하강에지</a:t>
            </a:r>
            <a:r>
              <a:rPr lang="ko-KR" altLang="en-US" sz="1600" dirty="0" err="1"/>
              <a:t>에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동기되어</a:t>
            </a:r>
            <a:r>
              <a:rPr lang="ko-KR" altLang="en-US" sz="1600" dirty="0"/>
              <a:t> 동작하는 저장소자</a:t>
            </a:r>
          </a:p>
          <a:p>
            <a:pPr lvl="1">
              <a:lnSpc>
                <a:spcPct val="140000"/>
              </a:lnSpc>
            </a:pPr>
            <a:r>
              <a:rPr lang="en-US" altLang="ko-KR" sz="1600" dirty="0"/>
              <a:t>always </a:t>
            </a:r>
            <a:r>
              <a:rPr lang="ko-KR" altLang="en-US" sz="1600" dirty="0"/>
              <a:t>구문 내부에 </a:t>
            </a:r>
            <a:r>
              <a:rPr lang="en-US" altLang="ko-KR" sz="1600" dirty="0"/>
              <a:t>if </a:t>
            </a:r>
            <a:r>
              <a:rPr lang="ko-KR" altLang="en-US" sz="1600" dirty="0"/>
              <a:t>조건문을 이용하여 모델링</a:t>
            </a:r>
          </a:p>
          <a:p>
            <a:pPr>
              <a:lnSpc>
                <a:spcPct val="140000"/>
              </a:lnSpc>
            </a:pPr>
            <a:r>
              <a:rPr lang="ko-KR" altLang="en-US" sz="1800" dirty="0"/>
              <a:t>순차회로의 모델링</a:t>
            </a:r>
          </a:p>
          <a:p>
            <a:pPr lvl="1">
              <a:lnSpc>
                <a:spcPct val="140000"/>
              </a:lnSpc>
            </a:pPr>
            <a:r>
              <a:rPr lang="en-US" altLang="ko-KR" sz="1600" dirty="0"/>
              <a:t>always </a:t>
            </a:r>
            <a:r>
              <a:rPr lang="ko-KR" altLang="en-US" sz="1600" dirty="0"/>
              <a:t>블록을 이용한 행위수준 모델링</a:t>
            </a:r>
            <a:r>
              <a:rPr lang="en-US" altLang="ko-KR" sz="1600" dirty="0"/>
              <a:t>, </a:t>
            </a:r>
            <a:r>
              <a:rPr lang="ko-KR" altLang="en-US" sz="1600" dirty="0"/>
              <a:t>게이트 </a:t>
            </a:r>
            <a:r>
              <a:rPr lang="ko-KR" altLang="en-US" sz="1600" dirty="0" err="1"/>
              <a:t>프리미티브</a:t>
            </a:r>
            <a:r>
              <a:rPr lang="ko-KR" altLang="en-US" sz="1600" dirty="0"/>
              <a:t> 및 </a:t>
            </a:r>
            <a:r>
              <a:rPr lang="ko-KR" altLang="en-US" sz="1600" dirty="0" err="1"/>
              <a:t>하위모듈</a:t>
            </a:r>
            <a:r>
              <a:rPr lang="ko-KR" altLang="en-US" sz="1600" dirty="0"/>
              <a:t> 인스턴스</a:t>
            </a:r>
            <a:r>
              <a:rPr lang="en-US" altLang="ko-KR" sz="1600" dirty="0"/>
              <a:t>, </a:t>
            </a:r>
          </a:p>
          <a:p>
            <a:pPr marL="342900" lvl="1" indent="0">
              <a:lnSpc>
                <a:spcPct val="140000"/>
              </a:lnSpc>
              <a:buNone/>
            </a:pPr>
            <a:r>
              <a:rPr lang="en-US" altLang="ko-KR" sz="1600" dirty="0"/>
              <a:t>     </a:t>
            </a:r>
            <a:r>
              <a:rPr lang="ko-KR" altLang="en-US" sz="1600" dirty="0"/>
              <a:t>연속 </a:t>
            </a:r>
            <a:r>
              <a:rPr lang="ko-KR" altLang="en-US" sz="1600" dirty="0" err="1"/>
              <a:t>할당문</a:t>
            </a:r>
            <a:r>
              <a:rPr lang="ko-KR" altLang="en-US" sz="1600" dirty="0"/>
              <a:t> 등 다양한 </a:t>
            </a:r>
            <a:r>
              <a:rPr lang="en-US" altLang="ko-KR" sz="1600" dirty="0"/>
              <a:t>Verilog HDL </a:t>
            </a:r>
            <a:r>
              <a:rPr lang="ko-KR" altLang="en-US" sz="1600" dirty="0"/>
              <a:t>구문들이  사용됨</a:t>
            </a:r>
          </a:p>
          <a:p>
            <a:pPr lvl="1">
              <a:lnSpc>
                <a:spcPct val="140000"/>
              </a:lnSpc>
            </a:pPr>
            <a:r>
              <a:rPr lang="ko-KR" altLang="en-US" sz="1600" dirty="0"/>
              <a:t>할당문의 형태 </a:t>
            </a:r>
            <a:r>
              <a:rPr lang="en-US" altLang="ko-KR" sz="1600" dirty="0"/>
              <a:t>(nonblocking </a:t>
            </a:r>
            <a:r>
              <a:rPr lang="ko-KR" altLang="en-US" sz="1600" dirty="0"/>
              <a:t>또는 </a:t>
            </a:r>
            <a:r>
              <a:rPr lang="en-US" altLang="ko-KR" sz="1600" dirty="0"/>
              <a:t>blocking)</a:t>
            </a:r>
            <a:r>
              <a:rPr lang="ko-KR" altLang="en-US" sz="1600" dirty="0"/>
              <a:t>에 따라 회로의 동작과 구조가 달라짐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276220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D4461-2A9C-502A-8C5A-497121AE784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4617" y="281235"/>
            <a:ext cx="10515600" cy="620713"/>
          </a:xfrm>
        </p:spPr>
        <p:txBody>
          <a:bodyPr>
            <a:normAutofit/>
          </a:bodyPr>
          <a:lstStyle/>
          <a:p>
            <a:r>
              <a:rPr lang="en-CA" sz="3200" dirty="0"/>
              <a:t>D-Latch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4C5DDD-6B6B-C894-C791-1AC037B071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37563" y="1095608"/>
            <a:ext cx="10515600" cy="5056188"/>
          </a:xfrm>
        </p:spPr>
        <p:txBody>
          <a:bodyPr/>
          <a:lstStyle/>
          <a:p>
            <a:r>
              <a:rPr lang="ko-KR" altLang="en-US" b="1" dirty="0" err="1"/>
              <a:t>클록</a:t>
            </a:r>
            <a:r>
              <a:rPr lang="ko-KR" altLang="en-US" b="1" dirty="0"/>
              <a:t> 신호의 레벨 </a:t>
            </a:r>
            <a:r>
              <a:rPr lang="en-US" altLang="ko-KR" b="1" dirty="0"/>
              <a:t>(0 </a:t>
            </a:r>
            <a:r>
              <a:rPr lang="ko-KR" altLang="en-US" b="1" dirty="0"/>
              <a:t>또는 </a:t>
            </a:r>
            <a:r>
              <a:rPr lang="en-US" altLang="ko-KR" b="1" dirty="0"/>
              <a:t>1)</a:t>
            </a:r>
            <a:r>
              <a:rPr lang="ko-KR" altLang="en-US" b="1" dirty="0"/>
              <a:t>에 따라 통과모드</a:t>
            </a:r>
            <a:r>
              <a:rPr lang="en-US" altLang="ko-KR" b="1" dirty="0"/>
              <a:t> </a:t>
            </a:r>
            <a:r>
              <a:rPr lang="ko-KR" altLang="en-US" b="1" dirty="0"/>
              <a:t>또는</a:t>
            </a:r>
            <a:r>
              <a:rPr lang="en-US" altLang="ko-KR" b="1" dirty="0"/>
              <a:t> </a:t>
            </a:r>
            <a:r>
              <a:rPr lang="ko-KR" altLang="en-US" b="1" dirty="0"/>
              <a:t>유지모드로</a:t>
            </a:r>
            <a:r>
              <a:rPr lang="en-US" altLang="ko-KR" b="1" dirty="0"/>
              <a:t> </a:t>
            </a:r>
            <a:r>
              <a:rPr lang="ko-KR" altLang="en-US" b="1" dirty="0"/>
              <a:t>동작</a:t>
            </a:r>
            <a:endParaRPr lang="en-US" altLang="ko-KR" b="1" dirty="0"/>
          </a:p>
          <a:p>
            <a:pPr lvl="1"/>
            <a:r>
              <a:rPr lang="ko-KR" altLang="en-US" sz="2000" dirty="0"/>
              <a:t>통과 </a:t>
            </a:r>
            <a:r>
              <a:rPr lang="en-US" altLang="ko-KR" sz="2000" dirty="0"/>
              <a:t>(transparent) </a:t>
            </a:r>
            <a:r>
              <a:rPr lang="ko-KR" altLang="en-US" sz="2000" dirty="0"/>
              <a:t>모드 </a:t>
            </a:r>
            <a:r>
              <a:rPr lang="en-US" altLang="ko-KR" sz="2000" dirty="0"/>
              <a:t>: </a:t>
            </a:r>
            <a:r>
              <a:rPr lang="ko-KR" altLang="en-US" sz="2000" dirty="0"/>
              <a:t>입력 </a:t>
            </a:r>
            <a:r>
              <a:rPr lang="en-US" altLang="ko-KR" sz="2000" dirty="0"/>
              <a:t>D</a:t>
            </a:r>
            <a:r>
              <a:rPr lang="ko-KR" altLang="en-US" sz="2000" dirty="0"/>
              <a:t>가 출력 </a:t>
            </a:r>
            <a:r>
              <a:rPr lang="en-US" altLang="ko-KR" sz="2000" dirty="0"/>
              <a:t>Q</a:t>
            </a:r>
            <a:r>
              <a:rPr lang="ko-KR" altLang="en-US" sz="2000" dirty="0"/>
              <a:t>로 통과됨</a:t>
            </a:r>
            <a:r>
              <a:rPr lang="en-US" altLang="ko-KR" sz="2000" dirty="0"/>
              <a:t>(Latch</a:t>
            </a:r>
            <a:r>
              <a:rPr lang="ko-KR" altLang="en-US" sz="2000" dirty="0"/>
              <a:t>가 </a:t>
            </a:r>
            <a:r>
              <a:rPr lang="ko-KR" altLang="en-US" sz="2000" dirty="0" err="1"/>
              <a:t>열려있음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유지 </a:t>
            </a:r>
            <a:r>
              <a:rPr lang="en-US" altLang="ko-KR" sz="2000" dirty="0"/>
              <a:t>(hold) </a:t>
            </a:r>
            <a:r>
              <a:rPr lang="ko-KR" altLang="en-US" sz="2000" dirty="0"/>
              <a:t>모드 </a:t>
            </a:r>
            <a:r>
              <a:rPr lang="en-US" altLang="ko-KR" sz="2000" dirty="0"/>
              <a:t>: </a:t>
            </a:r>
            <a:r>
              <a:rPr lang="ko-KR" altLang="en-US" sz="2000" dirty="0"/>
              <a:t>출력 </a:t>
            </a:r>
            <a:r>
              <a:rPr lang="en-US" altLang="ko-KR" sz="2000" dirty="0"/>
              <a:t>Q</a:t>
            </a:r>
            <a:r>
              <a:rPr lang="ko-KR" altLang="en-US" sz="2000" dirty="0"/>
              <a:t>의 값이 유지됨</a:t>
            </a:r>
            <a:r>
              <a:rPr lang="en-US" altLang="ko-KR" sz="2000" dirty="0"/>
              <a:t>(Latch</a:t>
            </a:r>
            <a:r>
              <a:rPr lang="ko-KR" altLang="en-US" sz="2000" dirty="0"/>
              <a:t>가 </a:t>
            </a:r>
            <a:r>
              <a:rPr lang="ko-KR" altLang="en-US" sz="2000" dirty="0" err="1"/>
              <a:t>닫혀있음</a:t>
            </a:r>
            <a:r>
              <a:rPr lang="en-US" altLang="ko-KR" sz="2000" dirty="0"/>
              <a:t>)</a:t>
            </a:r>
          </a:p>
          <a:p>
            <a:pPr lvl="1"/>
            <a:r>
              <a:rPr lang="en-US" altLang="ko-KR" sz="2000" dirty="0"/>
              <a:t>positive (level-sensitive) latch, negative (level-sensitive) latch</a:t>
            </a:r>
          </a:p>
          <a:p>
            <a:pPr lvl="1"/>
            <a:r>
              <a:rPr lang="en-US" altLang="ko-KR" sz="2000" dirty="0"/>
              <a:t>Latch</a:t>
            </a:r>
            <a:r>
              <a:rPr lang="ko-KR" altLang="en-US" sz="2000" dirty="0"/>
              <a:t>의 </a:t>
            </a:r>
            <a:r>
              <a:rPr lang="en-US" altLang="ko-KR" sz="2000" dirty="0"/>
              <a:t>Timing </a:t>
            </a:r>
            <a:r>
              <a:rPr lang="ko-KR" altLang="en-US" sz="2000" dirty="0"/>
              <a:t>문제 </a:t>
            </a:r>
            <a:r>
              <a:rPr lang="en-US" altLang="ko-KR" sz="2000" dirty="0"/>
              <a:t>: </a:t>
            </a:r>
            <a:r>
              <a:rPr lang="ko-KR" altLang="en-US" sz="2000" dirty="0"/>
              <a:t>통과모드에서 입력이 빠르게 변할 경우 출력이 불안정해 질 수 있음</a:t>
            </a:r>
            <a:endParaRPr lang="en-US" altLang="ko-KR" sz="2000" dirty="0"/>
          </a:p>
          <a:p>
            <a:endParaRPr lang="en-CA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7B49EE-382F-47E8-8DCA-C863D044D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041" y="3945430"/>
            <a:ext cx="6768752" cy="24000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F297222-4112-4ED1-8D2A-CBE7B8F540FC}"/>
              </a:ext>
            </a:extLst>
          </p:cNvPr>
          <p:cNvSpPr/>
          <p:nvPr/>
        </p:nvSpPr>
        <p:spPr>
          <a:xfrm>
            <a:off x="5587068" y="3945429"/>
            <a:ext cx="508932" cy="15493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AC11C3-CB8B-45CB-B56B-94BDC26FBDA4}"/>
              </a:ext>
            </a:extLst>
          </p:cNvPr>
          <p:cNvSpPr/>
          <p:nvPr/>
        </p:nvSpPr>
        <p:spPr>
          <a:xfrm>
            <a:off x="6365787" y="3945428"/>
            <a:ext cx="508932" cy="15493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B31E69-159F-49EA-A768-7B4CBB471A8B}"/>
              </a:ext>
            </a:extLst>
          </p:cNvPr>
          <p:cNvSpPr/>
          <p:nvPr/>
        </p:nvSpPr>
        <p:spPr>
          <a:xfrm>
            <a:off x="7336930" y="3945428"/>
            <a:ext cx="508932" cy="15493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0FF03-767E-4252-8B56-46D5CD9F745A}"/>
              </a:ext>
            </a:extLst>
          </p:cNvPr>
          <p:cNvSpPr/>
          <p:nvPr/>
        </p:nvSpPr>
        <p:spPr>
          <a:xfrm>
            <a:off x="8308073" y="3945428"/>
            <a:ext cx="508932" cy="15493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58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6C62E-2FCB-AF4C-1A63-B7AED9D0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FD7F76-568D-B063-7CD7-3FA4196891C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89624"/>
            <a:ext cx="10515600" cy="620713"/>
          </a:xfrm>
        </p:spPr>
        <p:txBody>
          <a:bodyPr>
            <a:normAutofit/>
          </a:bodyPr>
          <a:lstStyle/>
          <a:p>
            <a:r>
              <a:rPr lang="en-CA" sz="3200" dirty="0"/>
              <a:t>D Flip-Flop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05B49-11DE-54ED-19E4-20231E2048E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045274"/>
            <a:ext cx="10515600" cy="5056188"/>
          </a:xfrm>
        </p:spPr>
        <p:txBody>
          <a:bodyPr/>
          <a:lstStyle/>
          <a:p>
            <a:r>
              <a:rPr lang="ko-KR" altLang="en-US" b="1" dirty="0" err="1"/>
              <a:t>클록</a:t>
            </a:r>
            <a:r>
              <a:rPr lang="ko-KR" altLang="en-US" b="1" dirty="0"/>
              <a:t> 신호의 </a:t>
            </a:r>
            <a:r>
              <a:rPr lang="ko-KR" altLang="en-US" b="1" dirty="0" err="1"/>
              <a:t>엣지변화</a:t>
            </a:r>
            <a:r>
              <a:rPr lang="ko-KR" altLang="en-US" b="1" dirty="0"/>
              <a:t> </a:t>
            </a:r>
            <a:r>
              <a:rPr lang="en-US" altLang="ko-KR" b="1" dirty="0"/>
              <a:t>(transition edge)</a:t>
            </a:r>
            <a:r>
              <a:rPr lang="ko-KR" altLang="en-US" b="1" dirty="0"/>
              <a:t>에서 동작</a:t>
            </a:r>
            <a:endParaRPr lang="en-US" altLang="ko-KR" b="1" dirty="0"/>
          </a:p>
          <a:p>
            <a:pPr lvl="1"/>
            <a:r>
              <a:rPr lang="ko-KR" altLang="en-US" sz="2000" dirty="0"/>
              <a:t>한 </a:t>
            </a:r>
            <a:r>
              <a:rPr lang="ko-KR" altLang="en-US" sz="2000" dirty="0" err="1"/>
              <a:t>클록</a:t>
            </a:r>
            <a:r>
              <a:rPr lang="ko-KR" altLang="en-US" sz="2000" dirty="0"/>
              <a:t> 주기 동안 정보를 저장함</a:t>
            </a:r>
            <a:endParaRPr lang="en-US" altLang="ko-KR" sz="2000" dirty="0"/>
          </a:p>
          <a:p>
            <a:pPr lvl="1"/>
            <a:r>
              <a:rPr lang="en-US" altLang="ko-KR" sz="2000" dirty="0"/>
              <a:t>positive edge-triggered(0 → 1), negative edge-triggered(1 → 0)</a:t>
            </a:r>
          </a:p>
          <a:p>
            <a:pPr lvl="1"/>
            <a:r>
              <a:rPr lang="en-US" altLang="ko-KR" sz="2000" dirty="0"/>
              <a:t>always </a:t>
            </a:r>
            <a:r>
              <a:rPr lang="ko-KR" altLang="en-US" sz="2000" dirty="0"/>
              <a:t>블록의 감지신호목록</a:t>
            </a:r>
            <a:r>
              <a:rPr lang="en-US" altLang="ko-KR" sz="2000" dirty="0"/>
              <a:t>(sensitivity list)</a:t>
            </a:r>
            <a:r>
              <a:rPr lang="ko-KR" altLang="en-US" sz="2000" dirty="0"/>
              <a:t>에 </a:t>
            </a:r>
            <a:r>
              <a:rPr lang="ko-KR" altLang="en-US" sz="2000" dirty="0" err="1"/>
              <a:t>클록</a:t>
            </a:r>
            <a:r>
              <a:rPr lang="ko-KR" altLang="en-US" sz="2000" dirty="0"/>
              <a:t> 신호만 포함</a:t>
            </a:r>
            <a:endParaRPr lang="en-US" altLang="ko-KR" sz="2000" dirty="0"/>
          </a:p>
          <a:p>
            <a:pPr lvl="1"/>
            <a:r>
              <a:rPr lang="ko-KR" altLang="en-US" sz="2000" dirty="0" err="1"/>
              <a:t>클록신호의</a:t>
            </a:r>
            <a:r>
              <a:rPr lang="ko-KR" altLang="en-US" sz="2000" dirty="0"/>
              <a:t> 특정 </a:t>
            </a:r>
            <a:r>
              <a:rPr lang="en-US" altLang="ko-KR" sz="2000" dirty="0"/>
              <a:t>edge</a:t>
            </a:r>
            <a:r>
              <a:rPr lang="ko-KR" altLang="en-US" sz="2000" dirty="0"/>
              <a:t>에서만 입력을 받아들이기 때문에 </a:t>
            </a:r>
            <a:r>
              <a:rPr lang="en-US" altLang="ko-KR" sz="2000" dirty="0"/>
              <a:t>glitch</a:t>
            </a:r>
            <a:r>
              <a:rPr lang="ko-KR" altLang="en-US" sz="2000" dirty="0"/>
              <a:t>에 강하고 안정적인 동작을 보장 </a:t>
            </a:r>
            <a:r>
              <a:rPr lang="en-US" altLang="ko-KR" sz="2000" dirty="0"/>
              <a:t>→ </a:t>
            </a:r>
            <a:r>
              <a:rPr lang="ko-KR" altLang="en-US" sz="2000" dirty="0"/>
              <a:t>시스템</a:t>
            </a:r>
            <a:r>
              <a:rPr lang="en-US" altLang="ko-KR" sz="2000" dirty="0"/>
              <a:t> </a:t>
            </a:r>
            <a:r>
              <a:rPr lang="ko-KR" altLang="en-US" sz="2000" dirty="0"/>
              <a:t>타이밍 예측 용이</a:t>
            </a:r>
            <a:r>
              <a:rPr lang="en-US" altLang="ko-KR" sz="2000" dirty="0"/>
              <a:t>, </a:t>
            </a:r>
            <a:r>
              <a:rPr lang="ko-KR" altLang="en-US" sz="2000" dirty="0"/>
              <a:t>회로 안정성</a:t>
            </a:r>
            <a:endParaRPr lang="en-US" altLang="ko-KR" sz="2000" dirty="0"/>
          </a:p>
          <a:p>
            <a:endParaRPr lang="en-CA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8C150A-6F7C-A9B8-2CD3-43210AB5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403" y="3501137"/>
            <a:ext cx="756285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6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1314A-1B72-EBAF-27F9-1D1823CDB65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0117" y="356736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Comparison</a:t>
            </a:r>
            <a:r>
              <a:rPr lang="ko-KR" altLang="en-US" sz="3200" dirty="0"/>
              <a:t> </a:t>
            </a:r>
            <a:r>
              <a:rPr lang="en-US" altLang="ko-KR" sz="3200" dirty="0"/>
              <a:t>btw</a:t>
            </a:r>
            <a:r>
              <a:rPr lang="ko-KR" altLang="en-US" sz="3200" dirty="0"/>
              <a:t> </a:t>
            </a:r>
            <a:r>
              <a:rPr lang="en-US" altLang="ko-KR" sz="3200" dirty="0"/>
              <a:t>Latch and FF</a:t>
            </a:r>
            <a:endParaRPr lang="en-CA" sz="3200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AA52B928-53B0-5EF7-FE99-3D91405F763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824011802"/>
              </p:ext>
            </p:extLst>
          </p:nvPr>
        </p:nvGraphicFramePr>
        <p:xfrm>
          <a:off x="827073" y="1185892"/>
          <a:ext cx="10355452" cy="4761904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839192">
                  <a:extLst>
                    <a:ext uri="{9D8B030D-6E8A-4147-A177-3AD203B41FA5}">
                      <a16:colId xmlns:a16="http://schemas.microsoft.com/office/drawing/2014/main" val="3878653595"/>
                    </a:ext>
                  </a:extLst>
                </a:gridCol>
                <a:gridCol w="3885537">
                  <a:extLst>
                    <a:ext uri="{9D8B030D-6E8A-4147-A177-3AD203B41FA5}">
                      <a16:colId xmlns:a16="http://schemas.microsoft.com/office/drawing/2014/main" val="1004845539"/>
                    </a:ext>
                  </a:extLst>
                </a:gridCol>
                <a:gridCol w="4630723">
                  <a:extLst>
                    <a:ext uri="{9D8B030D-6E8A-4147-A177-3AD203B41FA5}">
                      <a16:colId xmlns:a16="http://schemas.microsoft.com/office/drawing/2014/main" val="3566866997"/>
                    </a:ext>
                  </a:extLst>
                </a:gridCol>
              </a:tblGrid>
              <a:tr h="418832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b="1" u="none" strike="noStrike" dirty="0">
                          <a:effectLst/>
                        </a:rPr>
                        <a:t>특성</a:t>
                      </a:r>
                      <a:endParaRPr lang="ko-KR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b="1" u="none" strike="noStrike" dirty="0">
                          <a:effectLst/>
                        </a:rPr>
                        <a:t>래치</a:t>
                      </a:r>
                      <a:endParaRPr lang="ko-KR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2400" b="1" u="none" strike="noStrike" dirty="0" err="1">
                          <a:effectLst/>
                        </a:rPr>
                        <a:t>플립플롭</a:t>
                      </a:r>
                      <a:endParaRPr lang="ko-KR" alt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090085"/>
                  </a:ext>
                </a:extLst>
              </a:tr>
              <a:tr h="5122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 err="1">
                          <a:effectLst/>
                        </a:rPr>
                        <a:t>클록</a:t>
                      </a:r>
                      <a:r>
                        <a:rPr lang="ko-KR" altLang="en-US" sz="2000" u="none" strike="noStrike" dirty="0">
                          <a:effectLst/>
                        </a:rPr>
                        <a:t> </a:t>
                      </a:r>
                      <a:r>
                        <a:rPr lang="ko-KR" altLang="en-US" sz="2000" u="none" strike="noStrike" dirty="0" err="1">
                          <a:effectLst/>
                        </a:rPr>
                        <a:t>감응성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</a:rPr>
                        <a:t>레벨에 반응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</a:rPr>
                        <a:t>에지에 반응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69064393"/>
                  </a:ext>
                </a:extLst>
              </a:tr>
              <a:tr h="5122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데이터 변경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 err="1">
                          <a:effectLst/>
                        </a:rPr>
                        <a:t>클록</a:t>
                      </a:r>
                      <a:r>
                        <a:rPr lang="ko-KR" altLang="en-US" sz="2000" u="none" strike="noStrike" dirty="0">
                          <a:effectLst/>
                        </a:rPr>
                        <a:t> 활성 레벨 동안 지속적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</a:rPr>
                        <a:t>클록 에지에서만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65860184"/>
                  </a:ext>
                </a:extLst>
              </a:tr>
              <a:tr h="35021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안정성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 err="1">
                          <a:effectLst/>
                        </a:rPr>
                        <a:t>글리치에</a:t>
                      </a:r>
                      <a:r>
                        <a:rPr lang="ko-KR" altLang="en-US" sz="2000" u="none" strike="noStrike" dirty="0">
                          <a:effectLst/>
                        </a:rPr>
                        <a:t> 취약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</a:rPr>
                        <a:t>글리치에 강함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44962643"/>
                  </a:ext>
                </a:extLst>
              </a:tr>
              <a:tr h="51224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동기화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</a:rPr>
                        <a:t>비동기 동작 가능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>
                          <a:effectLst/>
                        </a:rPr>
                        <a:t>주로 동기식 시스템에서 사용</a:t>
                      </a:r>
                      <a:endParaRPr lang="ko-KR" altLang="en-US" sz="20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76295301"/>
                  </a:ext>
                </a:extLst>
              </a:tr>
              <a:tr h="6932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회로 복잡성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</a:rPr>
                        <a:t>상대적으로 단순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</a:rPr>
                        <a:t>더 복잡 </a:t>
                      </a:r>
                      <a:r>
                        <a:rPr lang="en-US" altLang="ko-KR" sz="2000" u="none" strike="noStrike" dirty="0">
                          <a:effectLst/>
                        </a:rPr>
                        <a:t>(</a:t>
                      </a:r>
                      <a:r>
                        <a:rPr lang="ko-KR" altLang="en-US" sz="2000" u="none" strike="noStrike" dirty="0">
                          <a:effectLst/>
                        </a:rPr>
                        <a:t>일반적으로 두 개의 </a:t>
                      </a:r>
                      <a:r>
                        <a:rPr lang="ko-KR" altLang="en-US" sz="2000" u="none" strike="noStrike" dirty="0" err="1">
                          <a:effectLst/>
                        </a:rPr>
                        <a:t>래치로</a:t>
                      </a:r>
                      <a:r>
                        <a:rPr lang="ko-KR" altLang="en-US" sz="2000" u="none" strike="noStrike" dirty="0">
                          <a:effectLst/>
                        </a:rPr>
                        <a:t> 구성</a:t>
                      </a:r>
                      <a:r>
                        <a:rPr lang="en-US" altLang="ko-KR" sz="2000" u="none" strike="noStrike" dirty="0">
                          <a:effectLst/>
                        </a:rPr>
                        <a:t>)</a:t>
                      </a:r>
                      <a:endParaRPr lang="en-US" altLang="ko-KR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91343729"/>
                  </a:ext>
                </a:extLst>
              </a:tr>
              <a:tr h="35021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전력 소비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</a:rPr>
                        <a:t>상대적으로 낮음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</a:rPr>
                        <a:t>상대적으로 높음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13816002"/>
                  </a:ext>
                </a:extLst>
              </a:tr>
              <a:tr h="69328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u="none" strike="noStrike" dirty="0">
                          <a:effectLst/>
                        </a:rPr>
                        <a:t>주요 응용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</a:rPr>
                        <a:t>간단한 저장</a:t>
                      </a:r>
                      <a:r>
                        <a:rPr lang="en-US" altLang="ko-KR" sz="2000" u="none" strike="noStrike" dirty="0">
                          <a:effectLst/>
                        </a:rPr>
                        <a:t>, </a:t>
                      </a:r>
                      <a:r>
                        <a:rPr lang="ko-KR" altLang="en-US" sz="2000" u="none" strike="noStrike" dirty="0">
                          <a:effectLst/>
                        </a:rPr>
                        <a:t>비동기 시스템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2000" u="none" strike="noStrike" dirty="0">
                          <a:effectLst/>
                        </a:rPr>
                        <a:t>동기식 디지털 시스템</a:t>
                      </a:r>
                      <a:r>
                        <a:rPr lang="en-US" altLang="ko-KR" sz="2000" u="none" strike="noStrike" dirty="0">
                          <a:effectLst/>
                        </a:rPr>
                        <a:t>, </a:t>
                      </a:r>
                      <a:r>
                        <a:rPr lang="ko-KR" altLang="en-US" sz="2000" u="none" strike="noStrike" dirty="0">
                          <a:effectLst/>
                        </a:rPr>
                        <a:t>레지스터</a:t>
                      </a:r>
                      <a:r>
                        <a:rPr lang="en-US" altLang="ko-KR" sz="2000" u="none" strike="noStrike" dirty="0">
                          <a:effectLst/>
                        </a:rPr>
                        <a:t>, </a:t>
                      </a:r>
                      <a:r>
                        <a:rPr lang="ko-KR" altLang="en-US" sz="2000" u="none" strike="noStrike" dirty="0">
                          <a:effectLst/>
                        </a:rPr>
                        <a:t>카운터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82689924"/>
                  </a:ext>
                </a:extLst>
              </a:tr>
              <a:tr h="719323">
                <a:tc>
                  <a:txBody>
                    <a:bodyPr/>
                    <a:lstStyle/>
                    <a:p>
                      <a:pPr algn="ctr" fontAlgn="ctr"/>
                      <a:r>
                        <a:rPr lang="en-CA" sz="2000" u="none" strike="noStrike" dirty="0">
                          <a:effectLst/>
                        </a:rPr>
                        <a:t>Verilog </a:t>
                      </a:r>
                      <a:r>
                        <a:rPr lang="ko-KR" altLang="en-US" sz="2000" u="none" strike="noStrike" dirty="0">
                          <a:effectLst/>
                        </a:rPr>
                        <a:t>모델링</a:t>
                      </a:r>
                      <a:endParaRPr lang="ko-KR" alt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2000" u="none" strike="noStrike" dirty="0">
                          <a:effectLst/>
                        </a:rPr>
                        <a:t>always @(*) </a:t>
                      </a:r>
                      <a:r>
                        <a:rPr lang="ko-KR" altLang="en-US" sz="2000" u="none" strike="noStrike" dirty="0">
                          <a:effectLst/>
                        </a:rPr>
                        <a:t>또는 </a:t>
                      </a:r>
                      <a:r>
                        <a:rPr lang="en-CA" sz="2000" u="none" strike="noStrike" dirty="0">
                          <a:effectLst/>
                        </a:rPr>
                        <a:t>always @(CLK)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CA" sz="2000" u="none" strike="noStrike" dirty="0">
                          <a:effectLst/>
                        </a:rPr>
                        <a:t>always @(posedge CLK) </a:t>
                      </a:r>
                      <a:r>
                        <a:rPr lang="ko-KR" altLang="en-US" sz="2000" u="none" strike="noStrike" dirty="0">
                          <a:effectLst/>
                        </a:rPr>
                        <a:t>또는 </a:t>
                      </a:r>
                      <a:r>
                        <a:rPr lang="en-CA" sz="2000" u="none" strike="noStrike" dirty="0">
                          <a:effectLst/>
                        </a:rPr>
                        <a:t>always @(negedge CLK)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7810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760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D-Latch Specification</a:t>
            </a:r>
            <a:endParaRPr lang="en-CA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50167-0218-4523-88DE-AE01ED506338}"/>
              </a:ext>
            </a:extLst>
          </p:cNvPr>
          <p:cNvSpPr txBox="1"/>
          <p:nvPr/>
        </p:nvSpPr>
        <p:spPr>
          <a:xfrm>
            <a:off x="5100506" y="3105833"/>
            <a:ext cx="151001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4-bit </a:t>
            </a:r>
          </a:p>
          <a:p>
            <a:r>
              <a:rPr lang="en-US" dirty="0"/>
              <a:t>Comparator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35F7DE-8AAA-4756-8705-7BF5BC17E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40" y="2326370"/>
            <a:ext cx="944880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28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 Flip Flop Specification</a:t>
            </a:r>
            <a:endParaRPr lang="en-CA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7B61A5-AEC7-4A74-B1BC-63D62F956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348" y="2576512"/>
            <a:ext cx="2800350" cy="1704975"/>
          </a:xfrm>
          <a:prstGeom prst="rect">
            <a:avLst/>
          </a:prstGeom>
        </p:spPr>
      </p:pic>
      <p:pic>
        <p:nvPicPr>
          <p:cNvPr id="1028" name="Picture 4" descr="D flip-flop timing diagram">
            <a:extLst>
              <a:ext uri="{FF2B5EF4-FFF2-40B4-BE49-F238E27FC236}">
                <a16:creationId xmlns:a16="http://schemas.microsoft.com/office/drawing/2014/main" id="{96EE0C86-AF53-4B55-8C01-BCEE1F906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772" y="1850822"/>
            <a:ext cx="47625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06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 Counter</a:t>
            </a:r>
          </a:p>
        </p:txBody>
      </p:sp>
    </p:spTree>
    <p:extLst>
      <p:ext uri="{BB962C8B-B14F-4D97-AF65-F5344CB8AC3E}">
        <p14:creationId xmlns:p14="http://schemas.microsoft.com/office/powerpoint/2010/main" val="734149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6600-F60E-E469-7F48-1BE790B92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AE9D1-6E29-65CF-650A-589376B598D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70680"/>
            <a:ext cx="10515600" cy="620713"/>
          </a:xfrm>
        </p:spPr>
        <p:txBody>
          <a:bodyPr>
            <a:normAutofit/>
          </a:bodyPr>
          <a:lstStyle/>
          <a:p>
            <a:r>
              <a:rPr lang="en-CA" sz="3200" dirty="0"/>
              <a:t>Counter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34F494-61F3-63BB-C350-1D21196C272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1120" y="1145942"/>
            <a:ext cx="10515600" cy="505618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30000"/>
              </a:lnSpc>
            </a:pPr>
            <a:r>
              <a:rPr lang="ko-KR" altLang="en-US" dirty="0"/>
              <a:t>계수기</a:t>
            </a:r>
            <a:r>
              <a:rPr lang="en-US" altLang="ko-KR" dirty="0"/>
              <a:t>(counter)</a:t>
            </a:r>
          </a:p>
          <a:p>
            <a:pPr lvl="1">
              <a:lnSpc>
                <a:spcPct val="130000"/>
              </a:lnSpc>
            </a:pPr>
            <a:r>
              <a:rPr lang="ko-KR" altLang="en-US" dirty="0" err="1"/>
              <a:t>클록</a:t>
            </a:r>
            <a:r>
              <a:rPr lang="ko-KR" altLang="en-US" dirty="0"/>
              <a:t> 펄스가 인가될 때마다 값이 증가 또는 감소되는 회로</a:t>
            </a:r>
          </a:p>
          <a:p>
            <a:pPr lvl="1">
              <a:lnSpc>
                <a:spcPct val="130000"/>
              </a:lnSpc>
            </a:pPr>
            <a:r>
              <a:rPr lang="ko-KR" altLang="en-US" dirty="0"/>
              <a:t>주파수 </a:t>
            </a:r>
            <a:r>
              <a:rPr lang="ko-KR" altLang="en-US" dirty="0" err="1"/>
              <a:t>분주기</a:t>
            </a:r>
            <a:r>
              <a:rPr lang="en-US" altLang="ko-KR" dirty="0"/>
              <a:t>, </a:t>
            </a:r>
            <a:r>
              <a:rPr lang="ko-KR" altLang="en-US" dirty="0"/>
              <a:t>타이밍 및 제어 신호 생성 등 디지털 회로 설계에 폭넓게 사용</a:t>
            </a:r>
            <a:endParaRPr lang="en-US" altLang="ko-KR" dirty="0"/>
          </a:p>
          <a:p>
            <a:pPr lvl="1">
              <a:lnSpc>
                <a:spcPct val="130000"/>
              </a:lnSpc>
            </a:pPr>
            <a:endParaRPr lang="ko-KR" altLang="en-US" sz="300" dirty="0"/>
          </a:p>
          <a:p>
            <a:pPr marL="342900" lvl="1" indent="0">
              <a:lnSpc>
                <a:spcPct val="130000"/>
              </a:lnSpc>
              <a:buNone/>
            </a:pPr>
            <a:r>
              <a:rPr kumimoji="1" lang="ko-KR" altLang="en-US" sz="1600" b="1" dirty="0">
                <a:gradFill>
                  <a:gsLst>
                    <a:gs pos="0">
                      <a:srgbClr val="0066CC"/>
                    </a:gs>
                    <a:gs pos="100000">
                      <a:srgbClr val="0066CC"/>
                    </a:gs>
                  </a:gsLst>
                  <a:lin ang="5400000" scaled="0"/>
                </a:gradFill>
              </a:rPr>
              <a:t>동기식 계수기</a:t>
            </a:r>
          </a:p>
          <a:p>
            <a:pPr lvl="2">
              <a:lnSpc>
                <a:spcPct val="130000"/>
              </a:lnSpc>
            </a:pPr>
            <a:r>
              <a:rPr lang="ko-KR" altLang="en-US" dirty="0"/>
              <a:t>모든 </a:t>
            </a:r>
            <a:r>
              <a:rPr lang="ko-KR" altLang="en-US" dirty="0" err="1"/>
              <a:t>플립플롭이</a:t>
            </a:r>
            <a:r>
              <a:rPr lang="ko-KR" altLang="en-US" dirty="0"/>
              <a:t> </a:t>
            </a:r>
            <a:r>
              <a:rPr lang="ko-KR" altLang="en-US" b="1" dirty="0"/>
              <a:t>하나의 공통 </a:t>
            </a:r>
            <a:r>
              <a:rPr lang="ko-KR" altLang="en-US" b="1" dirty="0" err="1"/>
              <a:t>클록신호</a:t>
            </a:r>
            <a:r>
              <a:rPr lang="ko-KR" altLang="en-US" dirty="0" err="1"/>
              <a:t>에</a:t>
            </a:r>
            <a:r>
              <a:rPr lang="ko-KR" altLang="en-US" dirty="0"/>
              <a:t> 의해 구동되며</a:t>
            </a:r>
            <a:r>
              <a:rPr lang="en-US" altLang="ko-KR" dirty="0"/>
              <a:t>, </a:t>
            </a:r>
            <a:r>
              <a:rPr lang="ko-KR" altLang="en-US" dirty="0"/>
              <a:t>모든 </a:t>
            </a:r>
            <a:r>
              <a:rPr lang="ko-KR" altLang="en-US" dirty="0" err="1"/>
              <a:t>플립플롭의</a:t>
            </a:r>
            <a:r>
              <a:rPr lang="ko-KR" altLang="en-US" dirty="0"/>
              <a:t> 상태변경이 동시에 </a:t>
            </a:r>
            <a:r>
              <a:rPr lang="ko-KR" altLang="en-US" dirty="0" err="1"/>
              <a:t>일어남</a:t>
            </a:r>
            <a:r>
              <a:rPr lang="ko-KR" altLang="en-US" dirty="0"/>
              <a:t> </a:t>
            </a:r>
          </a:p>
          <a:p>
            <a:pPr lvl="2">
              <a:lnSpc>
                <a:spcPct val="130000"/>
              </a:lnSpc>
            </a:pPr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설계와 검증이 용이하며</a:t>
            </a:r>
            <a:r>
              <a:rPr lang="en-US" altLang="ko-KR" dirty="0"/>
              <a:t>, </a:t>
            </a:r>
            <a:r>
              <a:rPr lang="ko-KR" altLang="en-US" dirty="0"/>
              <a:t>계수 속도가 빠름</a:t>
            </a:r>
          </a:p>
          <a:p>
            <a:pPr lvl="2">
              <a:lnSpc>
                <a:spcPct val="130000"/>
              </a:lnSpc>
            </a:pPr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비동기식 카운터에 비하여 회로가 복잡함</a:t>
            </a:r>
          </a:p>
          <a:p>
            <a:pPr marL="342900" lvl="1" indent="0">
              <a:lnSpc>
                <a:spcPct val="130000"/>
              </a:lnSpc>
              <a:buNone/>
            </a:pPr>
            <a:r>
              <a:rPr kumimoji="1" lang="ko-KR" altLang="en-US" sz="1600" b="1" dirty="0">
                <a:gradFill>
                  <a:gsLst>
                    <a:gs pos="0">
                      <a:srgbClr val="0066CC"/>
                    </a:gs>
                    <a:gs pos="100000">
                      <a:srgbClr val="0066CC"/>
                    </a:gs>
                  </a:gsLst>
                  <a:lin ang="5400000" scaled="0"/>
                </a:gradFill>
              </a:rPr>
              <a:t>비동기식 계수기</a:t>
            </a:r>
          </a:p>
          <a:p>
            <a:pPr lvl="2">
              <a:lnSpc>
                <a:spcPct val="130000"/>
              </a:lnSpc>
            </a:pPr>
            <a:r>
              <a:rPr lang="ko-KR" altLang="en-US" dirty="0" err="1"/>
              <a:t>첫단의</a:t>
            </a:r>
            <a:r>
              <a:rPr lang="ko-KR" altLang="en-US" dirty="0"/>
              <a:t> </a:t>
            </a:r>
            <a:r>
              <a:rPr lang="ko-KR" altLang="en-US" dirty="0" err="1"/>
              <a:t>플립플롭에</a:t>
            </a:r>
            <a:r>
              <a:rPr lang="ko-KR" altLang="en-US" dirty="0"/>
              <a:t> </a:t>
            </a:r>
            <a:r>
              <a:rPr lang="ko-KR" altLang="en-US" dirty="0" err="1"/>
              <a:t>클록신호가</a:t>
            </a:r>
            <a:r>
              <a:rPr lang="ko-KR" altLang="en-US" dirty="0"/>
              <a:t> 인가되면</a:t>
            </a:r>
            <a:r>
              <a:rPr lang="en-US" altLang="ko-KR" dirty="0"/>
              <a:t>, </a:t>
            </a:r>
            <a:r>
              <a:rPr lang="ko-KR" altLang="en-US" dirty="0" err="1"/>
              <a:t>플립플롭의</a:t>
            </a:r>
            <a:r>
              <a:rPr lang="ko-KR" altLang="en-US" dirty="0"/>
              <a:t> 출력이 다음 단의 </a:t>
            </a:r>
            <a:r>
              <a:rPr lang="ko-KR" altLang="en-US" dirty="0" err="1"/>
              <a:t>플립플롭을</a:t>
            </a:r>
            <a:r>
              <a:rPr lang="ko-KR" altLang="en-US" dirty="0"/>
              <a:t> 트리거시키는 방식으로 동작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리플 계수기</a:t>
            </a:r>
            <a:r>
              <a:rPr lang="en-US" altLang="ko-KR" dirty="0"/>
              <a:t>(ripple counter)</a:t>
            </a:r>
            <a:r>
              <a:rPr lang="ko-KR" altLang="en-US" dirty="0"/>
              <a:t>라고도 함</a:t>
            </a:r>
          </a:p>
          <a:p>
            <a:pPr lvl="2">
              <a:lnSpc>
                <a:spcPct val="130000"/>
              </a:lnSpc>
            </a:pPr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동기식 계수기에 비해 회로가 단순해짐</a:t>
            </a:r>
          </a:p>
          <a:p>
            <a:pPr lvl="2">
              <a:lnSpc>
                <a:spcPct val="130000"/>
              </a:lnSpc>
            </a:pPr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각 </a:t>
            </a:r>
            <a:r>
              <a:rPr lang="ko-KR" altLang="en-US" dirty="0" err="1"/>
              <a:t>플립플롭의</a:t>
            </a:r>
            <a:r>
              <a:rPr lang="ko-KR" altLang="en-US" dirty="0"/>
              <a:t> 전파 지연이 누적되어 최종단의 출력까지 전파되어 속도가 느림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89645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96DCF-2D2E-A208-F1C2-C287A84DA2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21468"/>
            <a:ext cx="10515600" cy="620713"/>
          </a:xfrm>
        </p:spPr>
        <p:txBody>
          <a:bodyPr>
            <a:normAutofit/>
          </a:bodyPr>
          <a:lstStyle/>
          <a:p>
            <a:r>
              <a:rPr lang="en-CA" sz="3200" dirty="0"/>
              <a:t>Counter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365AED-91B5-840C-C6DC-DE48E368121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9011" y="1380890"/>
            <a:ext cx="4960938" cy="5056187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+mn-ea"/>
              </a:rPr>
              <a:t>SoC </a:t>
            </a:r>
            <a:r>
              <a:rPr lang="ko-KR" altLang="en-US" sz="2000" dirty="0">
                <a:latin typeface="+mn-ea"/>
              </a:rPr>
              <a:t>주변장치에서의 활용</a:t>
            </a:r>
            <a:endParaRPr lang="en-CA" altLang="ko-KR" sz="2000" dirty="0">
              <a:latin typeface="+mn-ea"/>
            </a:endParaRPr>
          </a:p>
          <a:p>
            <a:pPr lvl="1">
              <a:buFont typeface="+mj-lt"/>
              <a:buAutoNum type="arabicPeriod"/>
            </a:pPr>
            <a:r>
              <a:rPr lang="ko-KR" altLang="en-US" sz="2000" b="0" i="0" dirty="0">
                <a:effectLst/>
                <a:latin typeface="+mn-ea"/>
              </a:rPr>
              <a:t>주파수 분주</a:t>
            </a:r>
            <a:r>
              <a:rPr lang="en-US" altLang="ko-KR" sz="2000" b="0" i="0" dirty="0">
                <a:effectLst/>
                <a:latin typeface="+mn-ea"/>
              </a:rPr>
              <a:t>: </a:t>
            </a:r>
            <a:r>
              <a:rPr lang="ko-KR" altLang="en-US" sz="2000" b="0" i="0" dirty="0">
                <a:effectLst/>
                <a:latin typeface="+mn-ea"/>
              </a:rPr>
              <a:t>높은 주파수의 </a:t>
            </a:r>
            <a:r>
              <a:rPr lang="ko-KR" altLang="en-US" sz="2000" b="0" i="0" dirty="0" err="1">
                <a:effectLst/>
                <a:latin typeface="+mn-ea"/>
              </a:rPr>
              <a:t>클록</a:t>
            </a:r>
            <a:r>
              <a:rPr lang="ko-KR" altLang="en-US" sz="2000" b="0" i="0" dirty="0">
                <a:effectLst/>
                <a:latin typeface="+mn-ea"/>
              </a:rPr>
              <a:t> 신호를 낮은 주파수로 나누는 데 사용</a:t>
            </a:r>
            <a:endParaRPr lang="en-US" altLang="ko-KR" sz="2000" b="0" i="0" dirty="0">
              <a:effectLst/>
              <a:latin typeface="+mn-ea"/>
            </a:endParaRPr>
          </a:p>
          <a:p>
            <a:pPr lvl="1">
              <a:buFont typeface="+mj-lt"/>
              <a:buAutoNum type="arabicPeriod"/>
            </a:pPr>
            <a:endParaRPr lang="en-US" altLang="ko-KR" sz="2000" b="0" i="0" dirty="0">
              <a:effectLst/>
              <a:latin typeface="+mn-ea"/>
            </a:endParaRPr>
          </a:p>
          <a:p>
            <a:pPr lvl="1">
              <a:buFont typeface="+mj-lt"/>
              <a:buAutoNum type="arabicPeriod"/>
            </a:pPr>
            <a:r>
              <a:rPr lang="ko-KR" altLang="en-US" sz="2000" b="0" i="0" dirty="0">
                <a:effectLst/>
                <a:latin typeface="+mn-ea"/>
              </a:rPr>
              <a:t>타이밍 생성</a:t>
            </a:r>
            <a:r>
              <a:rPr lang="en-US" altLang="ko-KR" sz="2000" b="0" i="0" dirty="0">
                <a:effectLst/>
                <a:latin typeface="+mn-ea"/>
              </a:rPr>
              <a:t>: </a:t>
            </a:r>
            <a:r>
              <a:rPr lang="ko-KR" altLang="en-US" sz="2000" b="0" i="0" dirty="0">
                <a:effectLst/>
                <a:latin typeface="+mn-ea"/>
              </a:rPr>
              <a:t>특정 시간 간격으로 이벤트를 </a:t>
            </a:r>
            <a:r>
              <a:rPr lang="ko-KR" altLang="en-US" sz="2000" b="0" i="0" dirty="0" err="1">
                <a:effectLst/>
                <a:latin typeface="+mn-ea"/>
              </a:rPr>
              <a:t>트리거하는</a:t>
            </a:r>
            <a:r>
              <a:rPr lang="ko-KR" altLang="en-US" sz="2000" b="0" i="0" dirty="0">
                <a:effectLst/>
                <a:latin typeface="+mn-ea"/>
              </a:rPr>
              <a:t> 데 사용</a:t>
            </a:r>
            <a:endParaRPr lang="en-US" altLang="ko-KR" sz="2000" b="0" i="0" dirty="0">
              <a:effectLst/>
              <a:latin typeface="+mn-ea"/>
            </a:endParaRPr>
          </a:p>
          <a:p>
            <a:pPr lvl="1">
              <a:buFont typeface="+mj-lt"/>
              <a:buAutoNum type="arabicPeriod"/>
            </a:pPr>
            <a:endParaRPr lang="en-US" altLang="ko-KR" sz="2000" b="0" i="0" dirty="0">
              <a:effectLst/>
              <a:latin typeface="+mn-ea"/>
            </a:endParaRPr>
          </a:p>
          <a:p>
            <a:pPr lvl="1">
              <a:buFont typeface="+mj-lt"/>
              <a:buAutoNum type="arabicPeriod"/>
            </a:pPr>
            <a:r>
              <a:rPr lang="ko-KR" altLang="en-US" sz="2000" b="0" i="0" dirty="0">
                <a:effectLst/>
                <a:latin typeface="+mn-ea"/>
              </a:rPr>
              <a:t>제어 신호 생성</a:t>
            </a:r>
            <a:r>
              <a:rPr lang="en-US" altLang="ko-KR" sz="2000" b="0" i="0" dirty="0">
                <a:effectLst/>
                <a:latin typeface="+mn-ea"/>
              </a:rPr>
              <a:t>: </a:t>
            </a:r>
            <a:r>
              <a:rPr lang="ko-KR" altLang="en-US" sz="2000" b="0" i="0" dirty="0">
                <a:effectLst/>
                <a:latin typeface="+mn-ea"/>
              </a:rPr>
              <a:t>다른 주변장치나 모듈을 제어하기 위한 신호를 생성</a:t>
            </a:r>
            <a:endParaRPr lang="en-US" altLang="ko-KR" sz="2000" b="0" i="0" dirty="0">
              <a:effectLst/>
              <a:latin typeface="+mn-ea"/>
            </a:endParaRPr>
          </a:p>
          <a:p>
            <a:pPr lvl="1">
              <a:buFont typeface="+mj-lt"/>
              <a:buAutoNum type="arabicPeriod"/>
            </a:pPr>
            <a:endParaRPr lang="en-US" altLang="ko-KR" sz="2000" b="0" i="0" dirty="0">
              <a:effectLst/>
              <a:latin typeface="+mn-ea"/>
            </a:endParaRPr>
          </a:p>
          <a:p>
            <a:pPr lvl="1">
              <a:buFont typeface="+mj-lt"/>
              <a:buAutoNum type="arabicPeriod"/>
            </a:pPr>
            <a:r>
              <a:rPr lang="ko-KR" altLang="en-US" sz="2000" b="0" i="0" dirty="0">
                <a:effectLst/>
                <a:latin typeface="+mn-ea"/>
              </a:rPr>
              <a:t>이벤트 </a:t>
            </a:r>
            <a:r>
              <a:rPr lang="ko-KR" altLang="en-US" sz="2000" b="0" i="0" dirty="0" err="1">
                <a:effectLst/>
                <a:latin typeface="+mn-ea"/>
              </a:rPr>
              <a:t>카운팅</a:t>
            </a:r>
            <a:r>
              <a:rPr lang="en-US" altLang="ko-KR" sz="2000" b="0" i="0" dirty="0">
                <a:effectLst/>
                <a:latin typeface="+mn-ea"/>
              </a:rPr>
              <a:t>: </a:t>
            </a:r>
            <a:r>
              <a:rPr lang="ko-KR" altLang="en-US" sz="2000" b="0" i="0" dirty="0">
                <a:effectLst/>
                <a:latin typeface="+mn-ea"/>
              </a:rPr>
              <a:t>특정 이벤트의 발생 횟수를 세는 데 사용</a:t>
            </a:r>
            <a:endParaRPr lang="en-US" altLang="ko-KR" sz="2000" b="0" i="0" dirty="0">
              <a:effectLst/>
              <a:latin typeface="+mn-ea"/>
            </a:endParaRPr>
          </a:p>
          <a:p>
            <a:endParaRPr lang="en-CA" sz="2000" dirty="0">
              <a:latin typeface="+mn-ea"/>
            </a:endParaRPr>
          </a:p>
        </p:txBody>
      </p:sp>
      <p:pic>
        <p:nvPicPr>
          <p:cNvPr id="3075" name="Picture 3" descr="Embed With Elliot: Shifting Gears With AVR Microcontrollers ...">
            <a:extLst>
              <a:ext uri="{FF2B5EF4-FFF2-40B4-BE49-F238E27FC236}">
                <a16:creationId xmlns:a16="http://schemas.microsoft.com/office/drawing/2014/main" id="{7FBCE8DE-F759-E1C0-F57E-17D9B58E1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399" y="1266726"/>
            <a:ext cx="6299058" cy="481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2E97E01B-9D9B-2D70-406E-FC1B5B3E1CF4}"/>
              </a:ext>
            </a:extLst>
          </p:cNvPr>
          <p:cNvSpPr/>
          <p:nvPr/>
        </p:nvSpPr>
        <p:spPr>
          <a:xfrm>
            <a:off x="7173241" y="4304383"/>
            <a:ext cx="508964" cy="46067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1</a:t>
            </a:r>
            <a:endParaRPr lang="en-CA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3B5860A-6E39-C2C9-43D1-F0AA482218B9}"/>
              </a:ext>
            </a:extLst>
          </p:cNvPr>
          <p:cNvSpPr/>
          <p:nvPr/>
        </p:nvSpPr>
        <p:spPr>
          <a:xfrm>
            <a:off x="7049283" y="3352298"/>
            <a:ext cx="508964" cy="46067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2</a:t>
            </a:r>
            <a:endParaRPr lang="en-CA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B02C6210-DD48-AEB8-432C-6376F2146383}"/>
              </a:ext>
            </a:extLst>
          </p:cNvPr>
          <p:cNvSpPr/>
          <p:nvPr/>
        </p:nvSpPr>
        <p:spPr>
          <a:xfrm>
            <a:off x="6436121" y="2657795"/>
            <a:ext cx="508964" cy="46067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3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3D6A2-3BB0-B092-BCE2-331C525FB381}"/>
              </a:ext>
            </a:extLst>
          </p:cNvPr>
          <p:cNvSpPr txBox="1"/>
          <p:nvPr/>
        </p:nvSpPr>
        <p:spPr>
          <a:xfrm>
            <a:off x="7173241" y="986118"/>
            <a:ext cx="2502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0" i="0" dirty="0">
                <a:effectLst/>
                <a:latin typeface="+mn-ea"/>
              </a:rPr>
              <a:t>주파수 </a:t>
            </a:r>
            <a:r>
              <a:rPr lang="ko-KR" altLang="en-US" sz="1800" b="0" i="0" dirty="0" err="1">
                <a:effectLst/>
                <a:latin typeface="+mn-ea"/>
              </a:rPr>
              <a:t>분주기</a:t>
            </a:r>
            <a:r>
              <a:rPr lang="en-CA" altLang="ko-KR" sz="1800" b="0" i="0" dirty="0">
                <a:effectLst/>
                <a:latin typeface="+mn-ea"/>
              </a:rPr>
              <a:t> </a:t>
            </a:r>
            <a:r>
              <a:rPr lang="ko-KR" altLang="en-US" sz="1800" b="0" i="0" dirty="0">
                <a:effectLst/>
                <a:latin typeface="+mn-ea"/>
              </a:rPr>
              <a:t>사용 예</a:t>
            </a:r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7921A-2D2F-4260-B3B7-5451D62010B1}"/>
              </a:ext>
            </a:extLst>
          </p:cNvPr>
          <p:cNvSpPr/>
          <p:nvPr/>
        </p:nvSpPr>
        <p:spPr>
          <a:xfrm>
            <a:off x="7348756" y="2894202"/>
            <a:ext cx="1772375" cy="156874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90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Counter Specification</a:t>
            </a:r>
            <a:endParaRPr lang="en-CA" sz="3200" dirty="0"/>
          </a:p>
        </p:txBody>
      </p:sp>
      <p:sp>
        <p:nvSpPr>
          <p:cNvPr id="5" name="내용 개체 틀 6">
            <a:extLst>
              <a:ext uri="{FF2B5EF4-FFF2-40B4-BE49-F238E27FC236}">
                <a16:creationId xmlns:a16="http://schemas.microsoft.com/office/drawing/2014/main" id="{5413BF0E-4FDA-463E-BCDF-D3553AA89B35}"/>
              </a:ext>
            </a:extLst>
          </p:cNvPr>
          <p:cNvSpPr txBox="1">
            <a:spLocks/>
          </p:cNvSpPr>
          <p:nvPr/>
        </p:nvSpPr>
        <p:spPr>
          <a:xfrm>
            <a:off x="838200" y="1120588"/>
            <a:ext cx="6398623" cy="50563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latin typeface="+mn-ea"/>
              </a:rPr>
              <a:t>frequency</a:t>
            </a:r>
            <a:r>
              <a:rPr lang="ko-KR" altLang="en-US" sz="2400" dirty="0">
                <a:latin typeface="+mn-ea"/>
              </a:rPr>
              <a:t> </a:t>
            </a:r>
            <a:r>
              <a:rPr lang="en-CA" altLang="ko-KR" sz="2400" dirty="0">
                <a:latin typeface="+mn-ea"/>
              </a:rPr>
              <a:t>1/10 </a:t>
            </a:r>
            <a:r>
              <a:rPr lang="en-US" altLang="ko-KR" sz="2400" dirty="0">
                <a:latin typeface="+mn-ea"/>
              </a:rPr>
              <a:t>pre-scaler</a:t>
            </a:r>
            <a:r>
              <a:rPr lang="ko-KR" altLang="en-US" sz="2400" dirty="0">
                <a:latin typeface="+mn-ea"/>
              </a:rPr>
              <a:t> </a:t>
            </a:r>
            <a:r>
              <a:rPr lang="en-CA" altLang="ko-KR" sz="2400" dirty="0">
                <a:latin typeface="+mn-ea"/>
              </a:rPr>
              <a:t>, duty 50%</a:t>
            </a:r>
            <a:endParaRPr lang="en-CA" sz="2400" dirty="0"/>
          </a:p>
          <a:p>
            <a:endParaRPr lang="en-CA" dirty="0"/>
          </a:p>
        </p:txBody>
      </p:sp>
      <p:pic>
        <p:nvPicPr>
          <p:cNvPr id="6" name="Picture 2" descr="2.4 PWM (Pulse Width Modulation) : 네이버 블로그">
            <a:extLst>
              <a:ext uri="{FF2B5EF4-FFF2-40B4-BE49-F238E27FC236}">
                <a16:creationId xmlns:a16="http://schemas.microsoft.com/office/drawing/2014/main" id="{3EA79E9F-F684-450D-8B90-D59DE5DFB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6055" y="1678382"/>
            <a:ext cx="4000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11">
            <a:extLst>
              <a:ext uri="{FF2B5EF4-FFF2-40B4-BE49-F238E27FC236}">
                <a16:creationId xmlns:a16="http://schemas.microsoft.com/office/drawing/2014/main" id="{1F562FAC-C225-470B-BB40-5D8AB8ECD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166" y="3688531"/>
            <a:ext cx="6786625" cy="1216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F5BBFF-36D2-40FB-953B-8019EF54D5D5}"/>
              </a:ext>
            </a:extLst>
          </p:cNvPr>
          <p:cNvSpPr txBox="1"/>
          <p:nvPr/>
        </p:nvSpPr>
        <p:spPr>
          <a:xfrm>
            <a:off x="4941116" y="5263818"/>
            <a:ext cx="2466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주파수 </a:t>
            </a:r>
            <a:r>
              <a:rPr lang="ko-KR" altLang="en-US" sz="1200" dirty="0" err="1"/>
              <a:t>분주기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0996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3. Shift Register</a:t>
            </a:r>
          </a:p>
        </p:txBody>
      </p:sp>
    </p:spTree>
    <p:extLst>
      <p:ext uri="{BB962C8B-B14F-4D97-AF65-F5344CB8AC3E}">
        <p14:creationId xmlns:p14="http://schemas.microsoft.com/office/powerpoint/2010/main" val="273344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EE9B-96EB-41A1-1A7F-09CBFBDF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976BA-A643-1DB1-00F5-4E2393E4D4E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6286" y="306402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Shift Register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CF9AE0-EB96-772E-CE20-C8C2893A974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9174" y="1213054"/>
            <a:ext cx="10515600" cy="5056188"/>
          </a:xfrm>
        </p:spPr>
        <p:txBody>
          <a:bodyPr/>
          <a:lstStyle/>
          <a:p>
            <a:r>
              <a:rPr lang="en-US" altLang="ko-KR" dirty="0"/>
              <a:t>Shift</a:t>
            </a:r>
            <a:r>
              <a:rPr lang="ko-KR" altLang="en-US" dirty="0"/>
              <a:t> </a:t>
            </a:r>
            <a:r>
              <a:rPr lang="en-US" altLang="ko-KR" dirty="0"/>
              <a:t>Register</a:t>
            </a:r>
            <a:endParaRPr lang="ko-KR" altLang="en-US" dirty="0"/>
          </a:p>
          <a:p>
            <a:pPr lvl="1" indent="-306388"/>
            <a:r>
              <a:rPr lang="ko-KR" altLang="en-US" sz="2000" dirty="0" err="1">
                <a:solidFill>
                  <a:srgbClr val="000000"/>
                </a:solidFill>
              </a:rPr>
              <a:t>클록신호가</a:t>
            </a:r>
            <a:r>
              <a:rPr lang="ko-KR" altLang="en-US" sz="2000" dirty="0">
                <a:solidFill>
                  <a:srgbClr val="000000"/>
                </a:solidFill>
              </a:rPr>
              <a:t> 인가될 때마다 저장된 </a:t>
            </a:r>
            <a:r>
              <a:rPr lang="ko-KR" altLang="en-US" sz="2000" dirty="0" err="1">
                <a:solidFill>
                  <a:srgbClr val="000000"/>
                </a:solidFill>
              </a:rPr>
              <a:t>플립플롭에</a:t>
            </a:r>
            <a:r>
              <a:rPr lang="ko-KR" altLang="en-US" sz="2000" dirty="0">
                <a:solidFill>
                  <a:srgbClr val="000000"/>
                </a:solidFill>
              </a:rPr>
              <a:t> 저장된 데이터가 왼쪽 또는 오른쪽으로 이동되는 회로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 indent="-306388"/>
            <a:endParaRPr lang="ko-KR" altLang="en-US" sz="2000" dirty="0">
              <a:solidFill>
                <a:srgbClr val="000000"/>
              </a:solidFill>
            </a:endParaRPr>
          </a:p>
          <a:p>
            <a:pPr lvl="1" indent="-306388"/>
            <a:r>
              <a:rPr lang="ko-KR" altLang="en-US" sz="2000" dirty="0">
                <a:solidFill>
                  <a:srgbClr val="000000"/>
                </a:solidFill>
              </a:rPr>
              <a:t>여러 개의 </a:t>
            </a:r>
            <a:r>
              <a:rPr lang="ko-KR" altLang="en-US" sz="2000" dirty="0" err="1">
                <a:solidFill>
                  <a:srgbClr val="000000"/>
                </a:solidFill>
              </a:rPr>
              <a:t>플립플롭이</a:t>
            </a:r>
            <a:r>
              <a:rPr lang="ko-KR" altLang="en-US" sz="2000" dirty="0">
                <a:solidFill>
                  <a:srgbClr val="000000"/>
                </a:solidFill>
              </a:rPr>
              <a:t> 직렬로 연결된 구조</a:t>
            </a:r>
            <a:endParaRPr lang="en-US" altLang="ko-KR" sz="2000" dirty="0">
              <a:solidFill>
                <a:srgbClr val="000000"/>
              </a:solidFill>
            </a:endParaRPr>
          </a:p>
          <a:p>
            <a:pPr lvl="1" indent="-306388"/>
            <a:endParaRPr lang="ko-KR" altLang="en-US" sz="2000" dirty="0">
              <a:solidFill>
                <a:srgbClr val="000000"/>
              </a:solidFill>
            </a:endParaRPr>
          </a:p>
          <a:p>
            <a:pPr lvl="1" indent="-306388"/>
            <a:r>
              <a:rPr lang="ko-KR" altLang="en-US" sz="2000" dirty="0">
                <a:solidFill>
                  <a:srgbClr val="000000"/>
                </a:solidFill>
              </a:rPr>
              <a:t>형태</a:t>
            </a:r>
          </a:p>
          <a:p>
            <a:pPr lvl="2"/>
            <a:r>
              <a:rPr lang="ko-KR" altLang="en-US" dirty="0" err="1"/>
              <a:t>직렬입력－직렬출력</a:t>
            </a:r>
            <a:r>
              <a:rPr lang="ko-KR" altLang="en-US" dirty="0"/>
              <a:t> </a:t>
            </a:r>
            <a:r>
              <a:rPr lang="en-US" altLang="ko-KR" dirty="0"/>
              <a:t>(Serial-In, Serial-Out)</a:t>
            </a:r>
          </a:p>
          <a:p>
            <a:pPr lvl="2"/>
            <a:r>
              <a:rPr lang="ko-KR" altLang="en-US" dirty="0" err="1"/>
              <a:t>직렬입력－병렬출력</a:t>
            </a:r>
            <a:r>
              <a:rPr lang="ko-KR" altLang="en-US" dirty="0"/>
              <a:t> </a:t>
            </a:r>
            <a:r>
              <a:rPr lang="en-US" altLang="ko-KR" dirty="0"/>
              <a:t>(Serial-In, Parallel-Out)</a:t>
            </a:r>
          </a:p>
          <a:p>
            <a:pPr lvl="2"/>
            <a:r>
              <a:rPr lang="ko-KR" altLang="en-US" dirty="0" err="1"/>
              <a:t>병렬입력－직렬출력</a:t>
            </a:r>
            <a:r>
              <a:rPr lang="ko-KR" altLang="en-US" dirty="0"/>
              <a:t> </a:t>
            </a:r>
            <a:r>
              <a:rPr lang="en-US" altLang="ko-KR" dirty="0"/>
              <a:t>(Parallel-In, Serial-Out)</a:t>
            </a:r>
          </a:p>
          <a:p>
            <a:pPr lvl="2"/>
            <a:r>
              <a:rPr lang="ko-KR" altLang="en-US" dirty="0" err="1"/>
              <a:t>병렬입력－병렬출력</a:t>
            </a:r>
            <a:r>
              <a:rPr lang="ko-KR" altLang="en-US" dirty="0"/>
              <a:t> </a:t>
            </a:r>
            <a:r>
              <a:rPr lang="en-US" altLang="ko-KR" dirty="0"/>
              <a:t>(Parallel-In, Parallel-Out) </a:t>
            </a:r>
          </a:p>
          <a:p>
            <a:pPr lvl="2"/>
            <a:r>
              <a:rPr lang="ko-KR" altLang="en-US" dirty="0"/>
              <a:t>왼쪽 시프트</a:t>
            </a:r>
            <a:r>
              <a:rPr lang="en-US" altLang="ko-KR" dirty="0"/>
              <a:t>, </a:t>
            </a:r>
            <a:r>
              <a:rPr lang="ko-KR" altLang="en-US" dirty="0"/>
              <a:t>오른쪽 시프트</a:t>
            </a:r>
            <a:r>
              <a:rPr lang="en-US" altLang="ko-KR" dirty="0"/>
              <a:t>, </a:t>
            </a:r>
            <a:r>
              <a:rPr lang="ko-KR" altLang="en-US" dirty="0"/>
              <a:t>양방향 시프트</a:t>
            </a:r>
            <a:endParaRPr lang="en-US" altLang="ko-KR" dirty="0"/>
          </a:p>
          <a:p>
            <a:pPr lvl="2"/>
            <a:endParaRPr lang="ko-KR" altLang="en-US" dirty="0"/>
          </a:p>
          <a:p>
            <a:pPr lvl="1" indent="-306388"/>
            <a:r>
              <a:rPr lang="ko-KR" altLang="en-US" sz="2000" dirty="0">
                <a:solidFill>
                  <a:srgbClr val="000000"/>
                </a:solidFill>
              </a:rPr>
              <a:t> </a:t>
            </a:r>
            <a:r>
              <a:rPr lang="en-US" altLang="ko-KR" sz="2000" dirty="0">
                <a:solidFill>
                  <a:srgbClr val="000000"/>
                </a:solidFill>
              </a:rPr>
              <a:t>nonblocking </a:t>
            </a:r>
            <a:r>
              <a:rPr lang="ko-KR" altLang="en-US" sz="2000" dirty="0" err="1">
                <a:solidFill>
                  <a:srgbClr val="000000"/>
                </a:solidFill>
              </a:rPr>
              <a:t>할당문</a:t>
            </a:r>
            <a:r>
              <a:rPr lang="en-US" altLang="ko-KR" sz="2000" dirty="0">
                <a:solidFill>
                  <a:srgbClr val="000000"/>
                </a:solidFill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</a:rPr>
              <a:t>시프트 연산자</a:t>
            </a:r>
            <a:r>
              <a:rPr lang="en-US" altLang="ko-KR" sz="2000" dirty="0">
                <a:solidFill>
                  <a:srgbClr val="000000"/>
                </a:solidFill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</a:rPr>
              <a:t>결합 연산자</a:t>
            </a:r>
            <a:r>
              <a:rPr lang="en-US" altLang="ko-KR" sz="2000" dirty="0">
                <a:solidFill>
                  <a:srgbClr val="000000"/>
                </a:solidFill>
              </a:rPr>
              <a:t>, </a:t>
            </a:r>
            <a:r>
              <a:rPr lang="ko-KR" altLang="en-US" sz="2000" dirty="0" err="1">
                <a:solidFill>
                  <a:srgbClr val="000000"/>
                </a:solidFill>
              </a:rPr>
              <a:t>반복문</a:t>
            </a:r>
            <a:r>
              <a:rPr lang="ko-KR" altLang="en-US" sz="2000" dirty="0">
                <a:solidFill>
                  <a:srgbClr val="000000"/>
                </a:solidFill>
              </a:rPr>
              <a:t> 등으로 모델링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4005769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B71929-2ED0-2EC4-A166-A1B5F1BF8B9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639536"/>
            <a:ext cx="11233150" cy="654050"/>
          </a:xfrm>
        </p:spPr>
        <p:txBody>
          <a:bodyPr>
            <a:noAutofit/>
          </a:bodyPr>
          <a:lstStyle/>
          <a:p>
            <a:r>
              <a:rPr lang="en-US" sz="3200" dirty="0"/>
              <a:t>Shift</a:t>
            </a:r>
            <a:r>
              <a:rPr lang="ko-KR" altLang="en-US" sz="3200" dirty="0"/>
              <a:t> </a:t>
            </a:r>
            <a:r>
              <a:rPr lang="en-US" altLang="ko-KR" sz="3200" dirty="0"/>
              <a:t>Register</a:t>
            </a:r>
            <a:endParaRPr lang="en-CA" sz="3200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F25F06B-E189-7224-BBE2-1E5678308D0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5345420"/>
              </p:ext>
            </p:extLst>
          </p:nvPr>
        </p:nvGraphicFramePr>
        <p:xfrm>
          <a:off x="685800" y="1808389"/>
          <a:ext cx="10928349" cy="3432713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137881">
                  <a:extLst>
                    <a:ext uri="{9D8B030D-6E8A-4147-A177-3AD203B41FA5}">
                      <a16:colId xmlns:a16="http://schemas.microsoft.com/office/drawing/2014/main" val="3036663565"/>
                    </a:ext>
                  </a:extLst>
                </a:gridCol>
                <a:gridCol w="4450702">
                  <a:extLst>
                    <a:ext uri="{9D8B030D-6E8A-4147-A177-3AD203B41FA5}">
                      <a16:colId xmlns:a16="http://schemas.microsoft.com/office/drawing/2014/main" val="3025337975"/>
                    </a:ext>
                  </a:extLst>
                </a:gridCol>
                <a:gridCol w="5339766">
                  <a:extLst>
                    <a:ext uri="{9D8B030D-6E8A-4147-A177-3AD203B41FA5}">
                      <a16:colId xmlns:a16="http://schemas.microsoft.com/office/drawing/2014/main" val="2488404346"/>
                    </a:ext>
                  </a:extLst>
                </a:gridCol>
              </a:tblGrid>
              <a:tr h="400435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400" b="1" dirty="0">
                          <a:effectLst/>
                        </a:rPr>
                        <a:t>기능</a:t>
                      </a:r>
                      <a:endParaRPr lang="ko-KR" altLang="en-US" sz="2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400" b="1" dirty="0">
                          <a:effectLst/>
                        </a:rPr>
                        <a:t>설명</a:t>
                      </a:r>
                      <a:endParaRPr lang="ko-KR" altLang="en-US" sz="2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400" b="1" dirty="0">
                          <a:effectLst/>
                        </a:rPr>
                        <a:t>활용 예시</a:t>
                      </a:r>
                      <a:endParaRPr lang="ko-KR" altLang="en-US" sz="2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/>
                </a:tc>
                <a:extLst>
                  <a:ext uri="{0D108BD9-81ED-4DB2-BD59-A6C34878D82A}">
                    <a16:rowId xmlns:a16="http://schemas.microsoft.com/office/drawing/2014/main" val="345612314"/>
                  </a:ext>
                </a:extLst>
              </a:tr>
              <a:tr h="135121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2400" dirty="0">
                          <a:effectLst/>
                        </a:rPr>
                        <a:t>SIPO</a:t>
                      </a:r>
                      <a:endParaRPr lang="en-CA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400" dirty="0">
                          <a:effectLst/>
                        </a:rPr>
                        <a:t>외부에서 직렬로 들어오는 데이터를 병렬로 변환하여 </a:t>
                      </a:r>
                      <a:r>
                        <a:rPr lang="en-US" altLang="ko-KR" sz="2400" dirty="0">
                          <a:effectLst/>
                        </a:rPr>
                        <a:t>GPIO </a:t>
                      </a:r>
                      <a:r>
                        <a:rPr lang="ko-KR" altLang="en-US" sz="2400" dirty="0">
                          <a:effectLst/>
                        </a:rPr>
                        <a:t>출력으로 제공</a:t>
                      </a:r>
                      <a:endParaRPr lang="ko-KR" alt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2400" dirty="0">
                          <a:effectLst/>
                        </a:rPr>
                        <a:t>SPI/I²C </a:t>
                      </a:r>
                      <a:r>
                        <a:rPr lang="ko-KR" altLang="en-US" sz="2400" dirty="0">
                          <a:effectLst/>
                        </a:rPr>
                        <a:t>등 직렬 인터페이스를 통해 데이터를 받아 </a:t>
                      </a:r>
                      <a:r>
                        <a:rPr lang="en-US" altLang="ko-KR" sz="2400" dirty="0">
                          <a:effectLst/>
                        </a:rPr>
                        <a:t>GPIO </a:t>
                      </a:r>
                      <a:r>
                        <a:rPr lang="ko-KR" altLang="en-US" sz="2400" dirty="0">
                          <a:effectLst/>
                        </a:rPr>
                        <a:t>포트 확장</a:t>
                      </a:r>
                      <a:endParaRPr lang="ko-KR" alt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 anchor="ctr"/>
                </a:tc>
                <a:extLst>
                  <a:ext uri="{0D108BD9-81ED-4DB2-BD59-A6C34878D82A}">
                    <a16:rowId xmlns:a16="http://schemas.microsoft.com/office/drawing/2014/main" val="579932088"/>
                  </a:ext>
                </a:extLst>
              </a:tr>
              <a:tr h="164076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2400" dirty="0">
                          <a:effectLst/>
                        </a:rPr>
                        <a:t>PISO</a:t>
                      </a:r>
                      <a:endParaRPr lang="en-CA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400">
                          <a:effectLst/>
                        </a:rPr>
                        <a:t>내부의 병렬 데이터를 직렬 형태로 변환하여 외부에 전송</a:t>
                      </a:r>
                      <a:endParaRPr lang="ko-KR" altLang="en-US" sz="240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400" dirty="0">
                          <a:effectLst/>
                        </a:rPr>
                        <a:t>여러 개의 스위치나 센서 등으로부터 읽은 </a:t>
                      </a:r>
                      <a:r>
                        <a:rPr lang="en-US" altLang="ko-KR" sz="2400" dirty="0">
                          <a:effectLst/>
                        </a:rPr>
                        <a:t>GPIO </a:t>
                      </a:r>
                      <a:r>
                        <a:rPr lang="ko-KR" altLang="en-US" sz="2400" dirty="0">
                          <a:effectLst/>
                        </a:rPr>
                        <a:t>상태를 직렬 인터페이스를 통해 프로세서나 다른 장치로 전송</a:t>
                      </a:r>
                      <a:endParaRPr lang="ko-KR" altLang="en-US" sz="24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4973" marR="74973" marT="37487" marB="37487" anchor="ctr"/>
                </a:tc>
                <a:extLst>
                  <a:ext uri="{0D108BD9-81ED-4DB2-BD59-A6C34878D82A}">
                    <a16:rowId xmlns:a16="http://schemas.microsoft.com/office/drawing/2014/main" val="2976923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205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F1BFC-D80B-D355-A37F-6426B958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CC752-ED1C-7479-5350-AC6E8AA1E8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4007" y="37068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 : SIPO(Serial</a:t>
            </a:r>
            <a:r>
              <a:rPr lang="ko-KR" altLang="en-US" sz="3200" dirty="0"/>
              <a:t> </a:t>
            </a:r>
            <a:r>
              <a:rPr lang="en-US" altLang="ko-KR" sz="3200" dirty="0"/>
              <a:t>In</a:t>
            </a:r>
            <a:r>
              <a:rPr lang="ko-KR" altLang="en-US" sz="3200" dirty="0"/>
              <a:t> </a:t>
            </a:r>
            <a:r>
              <a:rPr lang="en-US" altLang="ko-KR" sz="3200" dirty="0"/>
              <a:t>Parallel</a:t>
            </a:r>
            <a:r>
              <a:rPr lang="ko-KR" altLang="en-US" sz="3200" dirty="0"/>
              <a:t> </a:t>
            </a:r>
            <a:r>
              <a:rPr lang="en-US" altLang="ko-KR" sz="3200" dirty="0"/>
              <a:t>Out)</a:t>
            </a:r>
            <a:r>
              <a:rPr lang="ko-KR" altLang="en-US" sz="3200" dirty="0"/>
              <a:t> </a:t>
            </a:r>
            <a:r>
              <a:rPr lang="en-US" altLang="ko-KR" sz="3200" dirty="0"/>
              <a:t>Shift Register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0F337-F8E2-E4E3-3990-C2B256D9CC4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57013" y="1145836"/>
            <a:ext cx="10515600" cy="5056188"/>
          </a:xfrm>
        </p:spPr>
        <p:txBody>
          <a:bodyPr/>
          <a:lstStyle/>
          <a:p>
            <a:r>
              <a:rPr lang="en-US" altLang="ko-KR" dirty="0"/>
              <a:t>8-bit</a:t>
            </a:r>
            <a:r>
              <a:rPr lang="ko-KR" altLang="en-US" dirty="0"/>
              <a:t> </a:t>
            </a:r>
            <a:r>
              <a:rPr lang="en-US" altLang="ko-KR" dirty="0"/>
              <a:t>SIPO Shift Register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1575A2B-AFDB-6172-CCFB-2119F1D91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9"/>
          <a:stretch/>
        </p:blipFill>
        <p:spPr>
          <a:xfrm>
            <a:off x="2258161" y="1629524"/>
            <a:ext cx="7356894" cy="20444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D7DE0F3-2E58-1ADD-9386-3BE5FD3F6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3291" y="3886472"/>
            <a:ext cx="6406633" cy="268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784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4. Register Map &amp; Memory</a:t>
            </a:r>
          </a:p>
        </p:txBody>
      </p:sp>
    </p:spTree>
    <p:extLst>
      <p:ext uri="{BB962C8B-B14F-4D97-AF65-F5344CB8AC3E}">
        <p14:creationId xmlns:p14="http://schemas.microsoft.com/office/powerpoint/2010/main" val="2764889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0448F-6079-0C45-4B87-A83AC037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2C651-CF64-7119-E709-F37FB87E58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198" y="292064"/>
            <a:ext cx="10515600" cy="620713"/>
          </a:xfrm>
        </p:spPr>
        <p:txBody>
          <a:bodyPr>
            <a:normAutofit/>
          </a:bodyPr>
          <a:lstStyle/>
          <a:p>
            <a:r>
              <a:rPr lang="en-CA" sz="3200" dirty="0"/>
              <a:t>Register Map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5439FDF-EE93-AE1B-97DE-5CFDC9987FB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30954308"/>
              </p:ext>
            </p:extLst>
          </p:nvPr>
        </p:nvGraphicFramePr>
        <p:xfrm>
          <a:off x="2565721" y="4577444"/>
          <a:ext cx="6690439" cy="182880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306616">
                  <a:extLst>
                    <a:ext uri="{9D8B030D-6E8A-4147-A177-3AD203B41FA5}">
                      <a16:colId xmlns:a16="http://schemas.microsoft.com/office/drawing/2014/main" val="1049033429"/>
                    </a:ext>
                  </a:extLst>
                </a:gridCol>
                <a:gridCol w="1925515">
                  <a:extLst>
                    <a:ext uri="{9D8B030D-6E8A-4147-A177-3AD203B41FA5}">
                      <a16:colId xmlns:a16="http://schemas.microsoft.com/office/drawing/2014/main" val="3546661978"/>
                    </a:ext>
                  </a:extLst>
                </a:gridCol>
                <a:gridCol w="1723293">
                  <a:extLst>
                    <a:ext uri="{9D8B030D-6E8A-4147-A177-3AD203B41FA5}">
                      <a16:colId xmlns:a16="http://schemas.microsoft.com/office/drawing/2014/main" val="160897538"/>
                    </a:ext>
                  </a:extLst>
                </a:gridCol>
                <a:gridCol w="1735015">
                  <a:extLst>
                    <a:ext uri="{9D8B030D-6E8A-4147-A177-3AD203B41FA5}">
                      <a16:colId xmlns:a16="http://schemas.microsoft.com/office/drawing/2014/main" val="1669808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b="0">
                          <a:effectLst/>
                        </a:rPr>
                        <a:t>주소 </a:t>
                      </a:r>
                      <a:r>
                        <a:rPr lang="en-US" altLang="ko-KR" b="0">
                          <a:effectLst/>
                        </a:rPr>
                        <a:t>(</a:t>
                      </a:r>
                      <a:r>
                        <a:rPr lang="en-CA" b="0">
                          <a:effectLst/>
                        </a:rPr>
                        <a:t>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b="0">
                          <a:effectLst/>
                        </a:rP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b="0">
                          <a:effectLst/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b="0" dirty="0">
                          <a:effectLst/>
                        </a:rPr>
                        <a:t>읽기</a:t>
                      </a:r>
                      <a:r>
                        <a:rPr lang="en-US" altLang="ko-KR" b="0" dirty="0">
                          <a:effectLst/>
                        </a:rPr>
                        <a:t>/</a:t>
                      </a:r>
                      <a:r>
                        <a:rPr lang="ko-KR" altLang="en-US" b="0" dirty="0">
                          <a:effectLst/>
                        </a:rPr>
                        <a:t>쓰기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54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0x00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하드웨어 제어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76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하드웨어 상태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7621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DATA_IN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입력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431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0x0C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DATA_OUT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출력 데이터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dirty="0">
                          <a:effectLst/>
                        </a:rPr>
                        <a:t>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04050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072082-2D19-EFA5-8E5F-34C1E1A90A41}"/>
              </a:ext>
            </a:extLst>
          </p:cNvPr>
          <p:cNvSpPr txBox="1"/>
          <p:nvPr/>
        </p:nvSpPr>
        <p:spPr>
          <a:xfrm>
            <a:off x="3953554" y="4180002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레지스터 맵</a:t>
            </a:r>
            <a:r>
              <a:rPr lang="en-US" altLang="ko-KR" dirty="0"/>
              <a:t>(</a:t>
            </a:r>
            <a:r>
              <a:rPr lang="en-CA" altLang="ko-KR" dirty="0"/>
              <a:t>Register Map) </a:t>
            </a:r>
            <a:r>
              <a:rPr lang="ko-KR" altLang="en-US" dirty="0"/>
              <a:t>예시</a:t>
            </a:r>
            <a:endParaRPr lang="en-CA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1640B3EA-474B-5407-6F5B-24C43AEF6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129" y="1189077"/>
            <a:ext cx="8429625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67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7BF2CB-4575-FE13-5006-73B6EB933F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0486" y="306692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Memory Map</a:t>
            </a:r>
            <a:endParaRPr lang="en-CA" sz="3200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616C7070-845D-BF5D-32D0-E30D0076AB2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0486" y="985295"/>
            <a:ext cx="1051560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+mn-ea"/>
              </a:rPr>
              <a:t>메모리 맵</a:t>
            </a:r>
            <a:r>
              <a:rPr lang="en-US" altLang="ko-KR" sz="2000" dirty="0">
                <a:latin typeface="+mn-ea"/>
              </a:rPr>
              <a:t>(</a:t>
            </a:r>
            <a:r>
              <a:rPr lang="en-CA" sz="2000" dirty="0">
                <a:latin typeface="+mn-ea"/>
              </a:rPr>
              <a:t>Memory Map)</a:t>
            </a:r>
          </a:p>
          <a:p>
            <a:pPr lvl="1"/>
            <a:r>
              <a:rPr lang="ko-KR" altLang="en-US" sz="1800" dirty="0">
                <a:latin typeface="+mn-ea"/>
              </a:rPr>
              <a:t>메모리 </a:t>
            </a:r>
            <a:r>
              <a:rPr lang="ko-KR" altLang="en-US" sz="1800" dirty="0" err="1">
                <a:latin typeface="+mn-ea"/>
              </a:rPr>
              <a:t>맵은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SoC</a:t>
            </a:r>
            <a:r>
              <a:rPr lang="ko-KR" altLang="en-US" sz="1800" dirty="0">
                <a:latin typeface="+mn-ea"/>
              </a:rPr>
              <a:t>에서 사용 가능한 메모리 공간을 정의한 것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2"/>
            <a:r>
              <a:rPr lang="en-US" altLang="ko-KR" sz="1600" dirty="0">
                <a:latin typeface="+mn-ea"/>
              </a:rPr>
              <a:t>CPU</a:t>
            </a:r>
            <a:r>
              <a:rPr lang="ko-KR" altLang="en-US" sz="1600" dirty="0">
                <a:latin typeface="+mn-ea"/>
              </a:rPr>
              <a:t>가 접근할 수 있는 모든 메모리 영역을 포함하며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각 영역은 특정 용도로 구분</a:t>
            </a:r>
            <a:endParaRPr lang="en-US" altLang="ko-KR" sz="1600" dirty="0">
              <a:latin typeface="+mn-ea"/>
            </a:endParaRPr>
          </a:p>
          <a:p>
            <a:pPr lvl="1"/>
            <a:r>
              <a:rPr lang="ko-KR" altLang="en-US" sz="1800" dirty="0">
                <a:latin typeface="+mn-ea"/>
              </a:rPr>
              <a:t>특징</a:t>
            </a:r>
          </a:p>
          <a:p>
            <a:pPr lvl="2"/>
            <a:r>
              <a:rPr lang="ko-KR" altLang="en-US" sz="1600" dirty="0">
                <a:latin typeface="+mn-ea"/>
              </a:rPr>
              <a:t>주소 공간 분할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메모리는 코드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데이터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스택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외부 장치 등으로 분할</a:t>
            </a:r>
            <a:endParaRPr lang="en-US" altLang="ko-KR" sz="1600" dirty="0">
              <a:latin typeface="+mn-ea"/>
            </a:endParaRPr>
          </a:p>
          <a:p>
            <a:pPr lvl="1"/>
            <a:r>
              <a:rPr lang="ko-KR" altLang="en-US" sz="1800" dirty="0">
                <a:latin typeface="+mn-ea"/>
              </a:rPr>
              <a:t>장치 매핑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 lvl="2"/>
            <a:r>
              <a:rPr lang="ko-KR" altLang="en-US" sz="1600" dirty="0">
                <a:latin typeface="+mn-ea"/>
              </a:rPr>
              <a:t>외부 장치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UART, SPI </a:t>
            </a:r>
            <a:r>
              <a:rPr lang="ko-KR" altLang="en-US" sz="1600" dirty="0">
                <a:latin typeface="+mn-ea"/>
              </a:rPr>
              <a:t>등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는 메모리 주소에 </a:t>
            </a:r>
            <a:r>
              <a:rPr lang="ko-KR" altLang="en-US" sz="1600" dirty="0" err="1">
                <a:latin typeface="+mn-ea"/>
              </a:rPr>
              <a:t>매핑되어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CPU</a:t>
            </a:r>
            <a:r>
              <a:rPr lang="ko-KR" altLang="en-US" sz="1600" dirty="0">
                <a:latin typeface="+mn-ea"/>
              </a:rPr>
              <a:t>가 이를 제어</a:t>
            </a:r>
            <a:endParaRPr lang="en-US" altLang="ko-KR" sz="1600" dirty="0">
              <a:latin typeface="+mn-ea"/>
            </a:endParaRPr>
          </a:p>
          <a:p>
            <a:pPr lvl="1"/>
            <a:r>
              <a:rPr lang="ko-KR" altLang="en-US" sz="1800" dirty="0">
                <a:latin typeface="+mn-ea"/>
              </a:rPr>
              <a:t>효율적 설계</a:t>
            </a:r>
            <a:endParaRPr lang="en-US" altLang="ko-KR" sz="2000" dirty="0">
              <a:latin typeface="+mn-ea"/>
            </a:endParaRPr>
          </a:p>
          <a:p>
            <a:pPr lvl="2"/>
            <a:r>
              <a:rPr lang="ko-KR" altLang="en-US" sz="1600" dirty="0">
                <a:latin typeface="+mn-ea"/>
              </a:rPr>
              <a:t>메모리 </a:t>
            </a:r>
            <a:r>
              <a:rPr lang="ko-KR" altLang="en-US" sz="1600" dirty="0" err="1">
                <a:latin typeface="+mn-ea"/>
              </a:rPr>
              <a:t>맵을</a:t>
            </a:r>
            <a:r>
              <a:rPr lang="ko-KR" altLang="en-US" sz="1600" dirty="0">
                <a:latin typeface="+mn-ea"/>
              </a:rPr>
              <a:t> 통해 데이터와 장치 간의 효율적인 접근이 가능</a:t>
            </a:r>
            <a:endParaRPr lang="en-CA" sz="1600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E5E6A06-78EB-B661-680F-792FB2BD2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312527"/>
              </p:ext>
            </p:extLst>
          </p:nvPr>
        </p:nvGraphicFramePr>
        <p:xfrm>
          <a:off x="1054359" y="4404374"/>
          <a:ext cx="9016482" cy="182880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3005494">
                  <a:extLst>
                    <a:ext uri="{9D8B030D-6E8A-4147-A177-3AD203B41FA5}">
                      <a16:colId xmlns:a16="http://schemas.microsoft.com/office/drawing/2014/main" val="3463101013"/>
                    </a:ext>
                  </a:extLst>
                </a:gridCol>
                <a:gridCol w="3005494">
                  <a:extLst>
                    <a:ext uri="{9D8B030D-6E8A-4147-A177-3AD203B41FA5}">
                      <a16:colId xmlns:a16="http://schemas.microsoft.com/office/drawing/2014/main" val="1019023692"/>
                    </a:ext>
                  </a:extLst>
                </a:gridCol>
                <a:gridCol w="3005494">
                  <a:extLst>
                    <a:ext uri="{9D8B030D-6E8A-4147-A177-3AD203B41FA5}">
                      <a16:colId xmlns:a16="http://schemas.microsoft.com/office/drawing/2014/main" val="3327135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b="0" dirty="0">
                          <a:effectLst/>
                        </a:rPr>
                        <a:t>주소 범위 </a:t>
                      </a:r>
                      <a:r>
                        <a:rPr lang="en-US" altLang="ko-KR" b="0" dirty="0">
                          <a:effectLst/>
                        </a:rPr>
                        <a:t>(</a:t>
                      </a:r>
                      <a:r>
                        <a:rPr lang="en-CA" b="0" dirty="0">
                          <a:effectLst/>
                        </a:rPr>
                        <a:t>Hex)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b="0">
                          <a:effectLst/>
                        </a:rPr>
                        <a:t>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b="0" dirty="0">
                          <a:effectLst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122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0x00000000~0x0000FFFF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부트 코드 저장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791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0x00010000~0x0001FFFF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>
                          <a:effectLst/>
                        </a:rPr>
                        <a:t>실행 중인 프로그램 데이터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736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0x80000000~0x80000FFF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UART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>
                          <a:effectLst/>
                        </a:rPr>
                        <a:t>UART </a:t>
                      </a:r>
                      <a:r>
                        <a:rPr lang="ko-KR" altLang="en-US">
                          <a:effectLst/>
                        </a:rPr>
                        <a:t>제어 및 데이터 전송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407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0x90000000~0x90000FFF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CA">
                          <a:effectLst/>
                        </a:rPr>
                        <a:t>GPIO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dirty="0">
                          <a:effectLst/>
                        </a:rPr>
                        <a:t>GPIO </a:t>
                      </a:r>
                      <a:r>
                        <a:rPr lang="ko-KR" altLang="en-US" dirty="0">
                          <a:effectLst/>
                        </a:rPr>
                        <a:t>핀 설정 및 상태 확인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049269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1A5DC3-4FC0-B0DD-D25D-1569142B7391}"/>
              </a:ext>
            </a:extLst>
          </p:cNvPr>
          <p:cNvSpPr txBox="1"/>
          <p:nvPr/>
        </p:nvSpPr>
        <p:spPr>
          <a:xfrm>
            <a:off x="962080" y="3864470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예시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66464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F40AD-5C5A-63B2-1D53-1947CAA364C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4543" y="370680"/>
            <a:ext cx="10515600" cy="620713"/>
          </a:xfrm>
        </p:spPr>
        <p:txBody>
          <a:bodyPr>
            <a:normAutofit/>
          </a:bodyPr>
          <a:lstStyle/>
          <a:p>
            <a:r>
              <a:rPr lang="en-CA" sz="3200" dirty="0"/>
              <a:t>Memory Management with Register Map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55CFD3-3BBB-79B4-743B-9D9C16D0DC4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4950" y="1095608"/>
            <a:ext cx="10515600" cy="505618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+mn-ea"/>
              </a:rPr>
              <a:t>레지스터 맵</a:t>
            </a:r>
            <a:r>
              <a:rPr lang="en-US" altLang="ko-KR" sz="2000" dirty="0">
                <a:latin typeface="+mn-ea"/>
              </a:rPr>
              <a:t>(Register Map)</a:t>
            </a:r>
            <a:r>
              <a:rPr lang="ko-KR" altLang="en-US" sz="2000" dirty="0">
                <a:latin typeface="+mn-ea"/>
              </a:rPr>
              <a:t>은 하드웨어 모듈의 제어 및 상태 정보를 특정 메모리 주소에 매핑하여 소프트웨어가 이를 효율적으로 관리</a:t>
            </a:r>
            <a:endParaRPr lang="en-CA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하드웨어와 소프트웨어 간의 상호작용이 체계적으로 이루어지며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메모리 관리가 간소화</a:t>
            </a:r>
            <a:endParaRPr lang="en-CA" altLang="ko-KR" sz="2000" dirty="0">
              <a:latin typeface="+mn-ea"/>
            </a:endParaRPr>
          </a:p>
          <a:p>
            <a:r>
              <a:rPr lang="ko-KR" altLang="en-US" sz="2000" dirty="0">
                <a:latin typeface="+mn-ea"/>
              </a:rPr>
              <a:t>레지스터 </a:t>
            </a:r>
            <a:r>
              <a:rPr lang="ko-KR" altLang="en-US" sz="2000" dirty="0" err="1">
                <a:latin typeface="+mn-ea"/>
              </a:rPr>
              <a:t>맵을</a:t>
            </a:r>
            <a:r>
              <a:rPr lang="ko-KR" altLang="en-US" sz="2000" dirty="0">
                <a:latin typeface="+mn-ea"/>
              </a:rPr>
              <a:t> 통한 메모리 관리의 주요 원칙</a:t>
            </a:r>
            <a:endParaRPr lang="en-CA" sz="1600" dirty="0">
              <a:latin typeface="+mn-ea"/>
            </a:endParaRPr>
          </a:p>
        </p:txBody>
      </p:sp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8C4CC892-BE18-4DB6-F0AC-06C440B663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4594644"/>
              </p:ext>
            </p:extLst>
          </p:nvPr>
        </p:nvGraphicFramePr>
        <p:xfrm>
          <a:off x="689688" y="2811644"/>
          <a:ext cx="10812623" cy="2701592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856271">
                  <a:extLst>
                    <a:ext uri="{9D8B030D-6E8A-4147-A177-3AD203B41FA5}">
                      <a16:colId xmlns:a16="http://schemas.microsoft.com/office/drawing/2014/main" val="1203412437"/>
                    </a:ext>
                  </a:extLst>
                </a:gridCol>
                <a:gridCol w="8956352">
                  <a:extLst>
                    <a:ext uri="{9D8B030D-6E8A-4147-A177-3AD203B41FA5}">
                      <a16:colId xmlns:a16="http://schemas.microsoft.com/office/drawing/2014/main" val="2714847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800" b="0" dirty="0">
                          <a:effectLst/>
                        </a:rPr>
                        <a:t>원칙</a:t>
                      </a:r>
                    </a:p>
                  </a:txBody>
                  <a:tcPr marL="51073" marR="51073" marT="25536" marB="25536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800" b="0" dirty="0">
                          <a:effectLst/>
                        </a:rPr>
                        <a:t>설명</a:t>
                      </a:r>
                    </a:p>
                  </a:txBody>
                  <a:tcPr marL="51073" marR="51073" marT="25536" marB="25536"/>
                </a:tc>
                <a:extLst>
                  <a:ext uri="{0D108BD9-81ED-4DB2-BD59-A6C34878D82A}">
                    <a16:rowId xmlns:a16="http://schemas.microsoft.com/office/drawing/2014/main" val="3295573009"/>
                  </a:ext>
                </a:extLst>
              </a:tr>
              <a:tr h="322647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주소 공간 분할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각 레지스터에 고유한 메모리 주소를 할당하여 하드웨어 모듈 간 충돌을 방지하고 체계적으로 관리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2988209288"/>
                  </a:ext>
                </a:extLst>
              </a:tr>
              <a:tr h="322647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효율적인 접근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>
                          <a:effectLst/>
                        </a:rPr>
                        <a:t>CPU</a:t>
                      </a:r>
                      <a:r>
                        <a:rPr lang="ko-KR" altLang="en-US" sz="1600">
                          <a:effectLst/>
                        </a:rPr>
                        <a:t>가 특정 주소를 통해 하드웨어를 제어하거나 상태를 읽음으로써 빠르고 간단한 데이터 처리 가능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2199691454"/>
                  </a:ext>
                </a:extLst>
              </a:tr>
              <a:tr h="322647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읽기</a:t>
                      </a:r>
                      <a:r>
                        <a:rPr lang="en-US" altLang="ko-KR" sz="1800" b="0" dirty="0">
                          <a:effectLst/>
                        </a:rPr>
                        <a:t>/</a:t>
                      </a:r>
                      <a:r>
                        <a:rPr lang="ko-KR" altLang="en-US" sz="1800" b="0" dirty="0">
                          <a:effectLst/>
                        </a:rPr>
                        <a:t>쓰기 권한 설정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레지스터마다 읽기</a:t>
                      </a:r>
                      <a:r>
                        <a:rPr lang="en-US" altLang="ko-KR" sz="1600">
                          <a:effectLst/>
                        </a:rPr>
                        <a:t>(Read), </a:t>
                      </a:r>
                      <a:r>
                        <a:rPr lang="ko-KR" altLang="en-US" sz="1600">
                          <a:effectLst/>
                        </a:rPr>
                        <a:t>쓰기</a:t>
                      </a:r>
                      <a:r>
                        <a:rPr lang="en-US" altLang="ko-KR" sz="1600">
                          <a:effectLst/>
                        </a:rPr>
                        <a:t>(Write), </a:t>
                      </a:r>
                      <a:r>
                        <a:rPr lang="ko-KR" altLang="en-US" sz="1600">
                          <a:effectLst/>
                        </a:rPr>
                        <a:t>읽기</a:t>
                      </a:r>
                      <a:r>
                        <a:rPr lang="en-US" altLang="ko-KR" sz="1600">
                          <a:effectLst/>
                        </a:rPr>
                        <a:t>-</a:t>
                      </a:r>
                      <a:r>
                        <a:rPr lang="ko-KR" altLang="en-US" sz="1600">
                          <a:effectLst/>
                        </a:rPr>
                        <a:t>쓰기</a:t>
                      </a:r>
                      <a:r>
                        <a:rPr lang="en-US" altLang="ko-KR" sz="1600">
                          <a:effectLst/>
                        </a:rPr>
                        <a:t>(Read-Write) </a:t>
                      </a:r>
                      <a:r>
                        <a:rPr lang="ko-KR" altLang="en-US" sz="1600">
                          <a:effectLst/>
                        </a:rPr>
                        <a:t>권한을 설정하여 잘못된 접근 방지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3846187725"/>
                  </a:ext>
                </a:extLst>
              </a:tr>
              <a:tr h="271703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확장성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새로운 하드웨어 모듈 추가 시 기존 메모리 구조에 쉽게 통합 가능 </a:t>
                      </a:r>
                      <a:r>
                        <a:rPr lang="en-US" altLang="ko-KR" sz="1600">
                          <a:effectLst/>
                        </a:rPr>
                        <a:t>(</a:t>
                      </a:r>
                      <a:r>
                        <a:rPr lang="ko-KR" altLang="en-US" sz="1600">
                          <a:effectLst/>
                        </a:rPr>
                        <a:t>새로운 주소 공간만 추가</a:t>
                      </a:r>
                      <a:r>
                        <a:rPr lang="en-US" altLang="ko-KR" sz="1600">
                          <a:effectLst/>
                        </a:rPr>
                        <a:t>).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2263428565"/>
                  </a:ext>
                </a:extLst>
              </a:tr>
              <a:tr h="373592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b="0" dirty="0">
                          <a:effectLst/>
                        </a:rPr>
                        <a:t>메모리 보호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51073" marR="51073" marT="25536" marB="2553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권한 설정 및 주소 분리를 통해 소프트웨어가 불필요하거나 잘못된 영역에 접근하지 않도록 보호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51073" marR="51073" marT="25536" marB="25536" anchor="ctr"/>
                </a:tc>
                <a:extLst>
                  <a:ext uri="{0D108BD9-81ED-4DB2-BD59-A6C34878D82A}">
                    <a16:rowId xmlns:a16="http://schemas.microsoft.com/office/drawing/2014/main" val="3137318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365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116DF-8FB6-9A30-8B0D-F58C1A65E6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92798" y="538398"/>
            <a:ext cx="10515600" cy="620713"/>
          </a:xfrm>
        </p:spPr>
        <p:txBody>
          <a:bodyPr>
            <a:normAutofit/>
          </a:bodyPr>
          <a:lstStyle/>
          <a:p>
            <a:r>
              <a:rPr lang="en-CA" sz="3200" dirty="0"/>
              <a:t>Memory Management with Register Map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9CC8642-77ED-75DE-33F9-24CEA41EA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003901"/>
              </p:ext>
            </p:extLst>
          </p:nvPr>
        </p:nvGraphicFramePr>
        <p:xfrm>
          <a:off x="692798" y="1699874"/>
          <a:ext cx="10806404" cy="2915472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2181031">
                  <a:extLst>
                    <a:ext uri="{9D8B030D-6E8A-4147-A177-3AD203B41FA5}">
                      <a16:colId xmlns:a16="http://schemas.microsoft.com/office/drawing/2014/main" val="1119075278"/>
                    </a:ext>
                  </a:extLst>
                </a:gridCol>
                <a:gridCol w="8625373">
                  <a:extLst>
                    <a:ext uri="{9D8B030D-6E8A-4147-A177-3AD203B41FA5}">
                      <a16:colId xmlns:a16="http://schemas.microsoft.com/office/drawing/2014/main" val="32961717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0" dirty="0">
                          <a:effectLst/>
                        </a:rPr>
                        <a:t>항목</a:t>
                      </a:r>
                    </a:p>
                  </a:txBody>
                  <a:tcPr marL="43953" marR="43953" marT="21976" marB="21976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0" dirty="0">
                          <a:effectLst/>
                        </a:rPr>
                        <a:t>설명</a:t>
                      </a:r>
                    </a:p>
                  </a:txBody>
                  <a:tcPr marL="43953" marR="43953" marT="21976" marB="21976"/>
                </a:tc>
                <a:extLst>
                  <a:ext uri="{0D108BD9-81ED-4DB2-BD59-A6C34878D82A}">
                    <a16:rowId xmlns:a16="http://schemas.microsoft.com/office/drawing/2014/main" val="1251590008"/>
                  </a:ext>
                </a:extLst>
              </a:tr>
              <a:tr h="319571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효율적인 자원 분배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각 하드웨어 모듈에 고유한 메모리 공간을 할당하여 충돌을 방지하고</a:t>
                      </a:r>
                      <a:r>
                        <a:rPr lang="en-US" altLang="ko-KR" sz="1600" dirty="0">
                          <a:effectLst/>
                        </a:rPr>
                        <a:t>, CPU</a:t>
                      </a:r>
                      <a:r>
                        <a:rPr lang="ko-KR" altLang="en-US" sz="1600" dirty="0">
                          <a:effectLst/>
                        </a:rPr>
                        <a:t>가 효율적으로 접근 가능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735505280"/>
                  </a:ext>
                </a:extLst>
              </a:tr>
              <a:tr h="319571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소프트웨어와 하드웨어 통합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소프트웨어가 특정 메모리 주소를 통해 하드웨어를 제어하거나 상태를 읽음으로써 간단한 통합 가능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344086955"/>
                  </a:ext>
                </a:extLst>
              </a:tr>
              <a:tr h="26911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확장성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새로운 하드웨어 모듈 추가 시 기존 구조에 쉽게 통합 가능 </a:t>
                      </a:r>
                      <a:r>
                        <a:rPr lang="en-US" altLang="ko-KR" sz="1600">
                          <a:effectLst/>
                        </a:rPr>
                        <a:t>(</a:t>
                      </a:r>
                      <a:r>
                        <a:rPr lang="ko-KR" altLang="en-US" sz="1600">
                          <a:effectLst/>
                        </a:rPr>
                        <a:t>새로운 주소 공간만 추가</a:t>
                      </a:r>
                      <a:r>
                        <a:rPr lang="en-US" altLang="ko-KR" sz="1600">
                          <a:effectLst/>
                        </a:rPr>
                        <a:t>).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3853500111"/>
                  </a:ext>
                </a:extLst>
              </a:tr>
              <a:tr h="319571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읽기</a:t>
                      </a:r>
                      <a:r>
                        <a:rPr lang="en-US" altLang="ko-KR" sz="1800" b="0" dirty="0">
                          <a:effectLst/>
                        </a:rPr>
                        <a:t>/</a:t>
                      </a:r>
                      <a:r>
                        <a:rPr lang="ko-KR" altLang="en-US" sz="1800" b="0" dirty="0">
                          <a:effectLst/>
                        </a:rPr>
                        <a:t>쓰기 권한 설정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>
                          <a:effectLst/>
                        </a:rPr>
                        <a:t>레지스터마다 읽기</a:t>
                      </a:r>
                      <a:r>
                        <a:rPr lang="en-US" altLang="ko-KR" sz="1600">
                          <a:effectLst/>
                        </a:rPr>
                        <a:t>(Read), </a:t>
                      </a:r>
                      <a:r>
                        <a:rPr lang="ko-KR" altLang="en-US" sz="1600">
                          <a:effectLst/>
                        </a:rPr>
                        <a:t>쓰기</a:t>
                      </a:r>
                      <a:r>
                        <a:rPr lang="en-US" altLang="ko-KR" sz="1600">
                          <a:effectLst/>
                        </a:rPr>
                        <a:t>(Write), </a:t>
                      </a:r>
                      <a:r>
                        <a:rPr lang="ko-KR" altLang="en-US" sz="1600">
                          <a:effectLst/>
                        </a:rPr>
                        <a:t>읽기</a:t>
                      </a:r>
                      <a:r>
                        <a:rPr lang="en-US" altLang="ko-KR" sz="1600">
                          <a:effectLst/>
                        </a:rPr>
                        <a:t>-</a:t>
                      </a:r>
                      <a:r>
                        <a:rPr lang="ko-KR" altLang="en-US" sz="1600">
                          <a:effectLst/>
                        </a:rPr>
                        <a:t>쓰기</a:t>
                      </a:r>
                      <a:r>
                        <a:rPr lang="en-US" altLang="ko-KR" sz="1600">
                          <a:effectLst/>
                        </a:rPr>
                        <a:t>(Read-Write) </a:t>
                      </a:r>
                      <a:r>
                        <a:rPr lang="ko-KR" altLang="en-US" sz="1600">
                          <a:effectLst/>
                        </a:rPr>
                        <a:t>권한을 설정하여 메모리 보호 가능</a:t>
                      </a:r>
                      <a:r>
                        <a:rPr lang="en-US" altLang="ko-KR" sz="1600">
                          <a:effectLst/>
                        </a:rPr>
                        <a:t>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1388290990"/>
                  </a:ext>
                </a:extLst>
              </a:tr>
              <a:tr h="37003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800" b="0" dirty="0">
                          <a:effectLst/>
                        </a:rPr>
                        <a:t>디버깅 및 유지보수 용이성</a:t>
                      </a:r>
                      <a:endParaRPr lang="ko-KR" altLang="en-US" sz="1800" dirty="0">
                        <a:effectLst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명확히 정의된 레지스터 맵 덕분에 소프트웨어와 하드웨어 간의 인터페이스가 직관적이고 문제 해결이 용이</a:t>
                      </a:r>
                      <a:r>
                        <a:rPr lang="en-US" altLang="ko-KR" sz="1600" dirty="0">
                          <a:effectLst/>
                        </a:rPr>
                        <a:t>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3119104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730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Simple Control Register</a:t>
            </a:r>
            <a:endParaRPr lang="en-CA" sz="3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F741F7-67AC-4B9A-AECF-CADBA4D9220D}"/>
              </a:ext>
            </a:extLst>
          </p:cNvPr>
          <p:cNvSpPr/>
          <p:nvPr/>
        </p:nvSpPr>
        <p:spPr>
          <a:xfrm>
            <a:off x="3380764" y="1845578"/>
            <a:ext cx="4915948" cy="2835479"/>
          </a:xfrm>
          <a:prstGeom prst="rect">
            <a:avLst/>
          </a:prstGeom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E22A256-41DF-490D-932C-27FB3C7C394D}"/>
              </a:ext>
            </a:extLst>
          </p:cNvPr>
          <p:cNvCxnSpPr>
            <a:cxnSpLocks/>
          </p:cNvCxnSpPr>
          <p:nvPr/>
        </p:nvCxnSpPr>
        <p:spPr>
          <a:xfrm>
            <a:off x="2353111" y="2810312"/>
            <a:ext cx="10318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234410D-C8E4-4027-B2CC-F16D2EBEBE37}"/>
              </a:ext>
            </a:extLst>
          </p:cNvPr>
          <p:cNvSpPr/>
          <p:nvPr/>
        </p:nvSpPr>
        <p:spPr>
          <a:xfrm>
            <a:off x="4942515" y="2718731"/>
            <a:ext cx="1659621" cy="108917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3729814-75C5-4D4B-88AC-B05D8E342A3D}"/>
              </a:ext>
            </a:extLst>
          </p:cNvPr>
          <p:cNvCxnSpPr>
            <a:cxnSpLocks/>
          </p:cNvCxnSpPr>
          <p:nvPr/>
        </p:nvCxnSpPr>
        <p:spPr>
          <a:xfrm flipV="1">
            <a:off x="5865303" y="4681057"/>
            <a:ext cx="0" cy="872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867366E-2AE4-4720-BD76-972FC8461092}"/>
              </a:ext>
            </a:extLst>
          </p:cNvPr>
          <p:cNvCxnSpPr>
            <a:cxnSpLocks/>
          </p:cNvCxnSpPr>
          <p:nvPr/>
        </p:nvCxnSpPr>
        <p:spPr>
          <a:xfrm>
            <a:off x="5838738" y="835928"/>
            <a:ext cx="0" cy="1009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2683EC8-EF17-464F-B555-96964EB4E919}"/>
              </a:ext>
            </a:extLst>
          </p:cNvPr>
          <p:cNvCxnSpPr/>
          <p:nvPr/>
        </p:nvCxnSpPr>
        <p:spPr>
          <a:xfrm>
            <a:off x="8296712" y="3263316"/>
            <a:ext cx="10318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B3EA0ABB-075B-4BFB-BE78-65ADBAC22838}"/>
              </a:ext>
            </a:extLst>
          </p:cNvPr>
          <p:cNvSpPr/>
          <p:nvPr/>
        </p:nvSpPr>
        <p:spPr>
          <a:xfrm rot="5400000">
            <a:off x="4919096" y="3582275"/>
            <a:ext cx="225103" cy="178266"/>
          </a:xfrm>
          <a:prstGeom prst="triangle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476F7D3-E8C9-4C02-993D-3E02DD76B648}"/>
              </a:ext>
            </a:extLst>
          </p:cNvPr>
          <p:cNvCxnSpPr>
            <a:cxnSpLocks/>
          </p:cNvCxnSpPr>
          <p:nvPr/>
        </p:nvCxnSpPr>
        <p:spPr>
          <a:xfrm>
            <a:off x="2353110" y="3671407"/>
            <a:ext cx="103184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5EC746E-0BD1-46F3-81E7-99E0DAA151B6}"/>
              </a:ext>
            </a:extLst>
          </p:cNvPr>
          <p:cNvCxnSpPr/>
          <p:nvPr/>
        </p:nvCxnSpPr>
        <p:spPr>
          <a:xfrm>
            <a:off x="3380764" y="3671407"/>
            <a:ext cx="156175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ECC3AA2-3F6E-4A1D-924B-ADD7C1C060C9}"/>
              </a:ext>
            </a:extLst>
          </p:cNvPr>
          <p:cNvCxnSpPr/>
          <p:nvPr/>
        </p:nvCxnSpPr>
        <p:spPr>
          <a:xfrm>
            <a:off x="3366084" y="2810312"/>
            <a:ext cx="156175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EF6891E-04AD-4FC8-972C-A990BC68E593}"/>
              </a:ext>
            </a:extLst>
          </p:cNvPr>
          <p:cNvCxnSpPr>
            <a:cxnSpLocks/>
          </p:cNvCxnSpPr>
          <p:nvPr/>
        </p:nvCxnSpPr>
        <p:spPr>
          <a:xfrm flipV="1">
            <a:off x="5865303" y="3807902"/>
            <a:ext cx="0" cy="8572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CF58C52-0F3B-41D5-B170-04F8EDBC366E}"/>
              </a:ext>
            </a:extLst>
          </p:cNvPr>
          <p:cNvCxnSpPr>
            <a:cxnSpLocks/>
          </p:cNvCxnSpPr>
          <p:nvPr/>
        </p:nvCxnSpPr>
        <p:spPr>
          <a:xfrm flipV="1">
            <a:off x="5838738" y="1861481"/>
            <a:ext cx="0" cy="85725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743CBE6-79BF-4E41-A2DA-D2DACD09ADB3}"/>
              </a:ext>
            </a:extLst>
          </p:cNvPr>
          <p:cNvCxnSpPr/>
          <p:nvPr/>
        </p:nvCxnSpPr>
        <p:spPr>
          <a:xfrm flipH="1">
            <a:off x="2869033" y="2718731"/>
            <a:ext cx="176171" cy="217416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5413A36-C5B8-4915-AC26-5780C7E22557}"/>
              </a:ext>
            </a:extLst>
          </p:cNvPr>
          <p:cNvSpPr txBox="1"/>
          <p:nvPr/>
        </p:nvSpPr>
        <p:spPr>
          <a:xfrm>
            <a:off x="2785143" y="2561367"/>
            <a:ext cx="343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8C59F3-6406-4314-9344-09791A45076B}"/>
              </a:ext>
            </a:extLst>
          </p:cNvPr>
          <p:cNvSpPr txBox="1"/>
          <p:nvPr/>
        </p:nvSpPr>
        <p:spPr>
          <a:xfrm>
            <a:off x="2139193" y="2777195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i_wdata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B0361D-874E-41A0-88B9-FC235A1E4C40}"/>
              </a:ext>
            </a:extLst>
          </p:cNvPr>
          <p:cNvSpPr txBox="1"/>
          <p:nvPr/>
        </p:nvSpPr>
        <p:spPr>
          <a:xfrm>
            <a:off x="8405769" y="2939785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o_rdata</a:t>
            </a:r>
            <a:endParaRPr 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AB61E3-D848-4ACA-9234-5CB6B4EE4C42}"/>
              </a:ext>
            </a:extLst>
          </p:cNvPr>
          <p:cNvSpPr txBox="1"/>
          <p:nvPr/>
        </p:nvSpPr>
        <p:spPr>
          <a:xfrm>
            <a:off x="2164360" y="3671407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clk</a:t>
            </a:r>
            <a:endParaRPr 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11C797-0EED-4130-A4E5-81E70465D94A}"/>
              </a:ext>
            </a:extLst>
          </p:cNvPr>
          <p:cNvSpPr txBox="1"/>
          <p:nvPr/>
        </p:nvSpPr>
        <p:spPr>
          <a:xfrm>
            <a:off x="5838738" y="4945315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D8B9FF-E16A-4855-80A6-7706E1E75A21}"/>
              </a:ext>
            </a:extLst>
          </p:cNvPr>
          <p:cNvSpPr txBox="1"/>
          <p:nvPr/>
        </p:nvSpPr>
        <p:spPr>
          <a:xfrm>
            <a:off x="5865303" y="1497186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rst_n</a:t>
            </a:r>
            <a:endParaRPr 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D6B41F-C7D2-4F3E-81A0-08F625B43F79}"/>
              </a:ext>
            </a:extLst>
          </p:cNvPr>
          <p:cNvSpPr txBox="1"/>
          <p:nvPr/>
        </p:nvSpPr>
        <p:spPr>
          <a:xfrm>
            <a:off x="5704515" y="3152001"/>
            <a:ext cx="914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r_reg8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515CDF9-DCE7-44FC-BA39-E9E6D54F3D01}"/>
              </a:ext>
            </a:extLst>
          </p:cNvPr>
          <p:cNvCxnSpPr>
            <a:cxnSpLocks/>
          </p:cNvCxnSpPr>
          <p:nvPr/>
        </p:nvCxnSpPr>
        <p:spPr>
          <a:xfrm>
            <a:off x="6627304" y="3254727"/>
            <a:ext cx="1677797" cy="6993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4580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11055</TotalTime>
  <Words>1172</Words>
  <Application>Microsoft Office PowerPoint</Application>
  <PresentationFormat>와이드스크린</PresentationFormat>
  <Paragraphs>230</Paragraphs>
  <Slides>23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0" baseType="lpstr">
      <vt:lpstr>맑은 고딕</vt:lpstr>
      <vt:lpstr>나눔스퀘어 네오 Regular</vt:lpstr>
      <vt:lpstr>Arial</vt:lpstr>
      <vt:lpstr>Courier New</vt:lpstr>
      <vt:lpstr>Segoe UI</vt:lpstr>
      <vt:lpstr>Wingdings</vt:lpstr>
      <vt:lpstr>Office 테마</vt:lpstr>
      <vt:lpstr>SoC 102: Design</vt:lpstr>
      <vt:lpstr>PowerPoint 프레젠테이션</vt:lpstr>
      <vt:lpstr>PowerPoint 프레젠테이션</vt:lpstr>
      <vt:lpstr>Sequential Logic</vt:lpstr>
      <vt:lpstr>D-Latch</vt:lpstr>
      <vt:lpstr>D Flip-Flop</vt:lpstr>
      <vt:lpstr>Comparison btw Latch and FF</vt:lpstr>
      <vt:lpstr>LAB1 : D-Latch Specification</vt:lpstr>
      <vt:lpstr>LAB2 : D Flip Flop Specification</vt:lpstr>
      <vt:lpstr>PowerPoint 프레젠테이션</vt:lpstr>
      <vt:lpstr>Counter</vt:lpstr>
      <vt:lpstr>Counter</vt:lpstr>
      <vt:lpstr>LAB : Counter Specification</vt:lpstr>
      <vt:lpstr>PowerPoint 프레젠테이션</vt:lpstr>
      <vt:lpstr>Shift Register</vt:lpstr>
      <vt:lpstr>Shift Register</vt:lpstr>
      <vt:lpstr>LAB : SIPO(Serial In Parallel Out) Shift Register</vt:lpstr>
      <vt:lpstr>PowerPoint 프레젠테이션</vt:lpstr>
      <vt:lpstr>Register Map</vt:lpstr>
      <vt:lpstr>Memory Map</vt:lpstr>
      <vt:lpstr>Memory Management with Register Map</vt:lpstr>
      <vt:lpstr>Memory Management with Register Map</vt:lpstr>
      <vt:lpstr>LAB : Simple Control Register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 우승안</cp:lastModifiedBy>
  <cp:revision>616</cp:revision>
  <dcterms:created xsi:type="dcterms:W3CDTF">2024-09-20T05:42:48Z</dcterms:created>
  <dcterms:modified xsi:type="dcterms:W3CDTF">2026-07-05T11:37:44Z</dcterms:modified>
</cp:coreProperties>
</file>