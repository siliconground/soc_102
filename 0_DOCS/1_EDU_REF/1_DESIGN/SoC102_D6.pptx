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70" r:id="rId2"/>
    <p:sldId id="658" r:id="rId3"/>
    <p:sldId id="659" r:id="rId4"/>
    <p:sldId id="464" r:id="rId5"/>
    <p:sldId id="528" r:id="rId6"/>
    <p:sldId id="530" r:id="rId7"/>
    <p:sldId id="649" r:id="rId8"/>
    <p:sldId id="683" r:id="rId9"/>
    <p:sldId id="687" r:id="rId10"/>
    <p:sldId id="682" r:id="rId11"/>
    <p:sldId id="640" r:id="rId12"/>
    <p:sldId id="655" r:id="rId13"/>
    <p:sldId id="691" r:id="rId14"/>
    <p:sldId id="695" r:id="rId15"/>
    <p:sldId id="641" r:id="rId16"/>
    <p:sldId id="661" r:id="rId17"/>
    <p:sldId id="642" r:id="rId18"/>
    <p:sldId id="696" r:id="rId19"/>
    <p:sldId id="652" r:id="rId20"/>
    <p:sldId id="703" r:id="rId21"/>
    <p:sldId id="704" r:id="rId22"/>
    <p:sldId id="705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4D09D44-E933-426A-8F7A-A670F4423266}">
          <p14:sldIdLst>
            <p14:sldId id="270"/>
            <p14:sldId id="658"/>
            <p14:sldId id="659"/>
            <p14:sldId id="464"/>
            <p14:sldId id="528"/>
            <p14:sldId id="530"/>
            <p14:sldId id="649"/>
            <p14:sldId id="683"/>
            <p14:sldId id="687"/>
            <p14:sldId id="682"/>
            <p14:sldId id="640"/>
            <p14:sldId id="655"/>
            <p14:sldId id="691"/>
            <p14:sldId id="695"/>
            <p14:sldId id="641"/>
            <p14:sldId id="661"/>
            <p14:sldId id="642"/>
            <p14:sldId id="696"/>
            <p14:sldId id="652"/>
            <p14:sldId id="703"/>
            <p14:sldId id="704"/>
            <p14:sldId id="7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4" userDrawn="1">
          <p15:clr>
            <a:srgbClr val="A4A3A4"/>
          </p15:clr>
        </p15:guide>
        <p15:guide id="2" pos="257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orient="horz" pos="411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BE9"/>
    <a:srgbClr val="1DCAD3"/>
    <a:srgbClr val="147ED1"/>
    <a:srgbClr val="147BD1"/>
    <a:srgbClr val="93DA49"/>
    <a:srgbClr val="FFB71B"/>
    <a:srgbClr val="EA0029"/>
    <a:srgbClr val="00A376"/>
    <a:srgbClr val="D50057"/>
    <a:srgbClr val="FF8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75172" autoAdjust="0"/>
  </p:normalViewPr>
  <p:slideViewPr>
    <p:cSldViewPr snapToGrid="0" showGuides="1">
      <p:cViewPr varScale="1">
        <p:scale>
          <a:sx n="114" d="100"/>
          <a:sy n="114" d="100"/>
        </p:scale>
        <p:origin x="132" y="174"/>
      </p:cViewPr>
      <p:guideLst>
        <p:guide orient="horz" pos="164"/>
        <p:guide pos="257"/>
        <p:guide pos="7401"/>
        <p:guide orient="horz" pos="41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23" d="100"/>
          <a:sy n="123" d="100"/>
        </p:scale>
        <p:origin x="244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FA37033-ED58-7468-B3A7-D86EC993E40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50E057-5885-7CF0-A566-F1509F15EC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8A9B2-778C-433C-8A06-393197C1381D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110CC0-26F9-7A19-1D7F-586CF7E94F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30F5FF-528F-49FD-EB3A-E1235211DB5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A8D64-9144-4D65-95FF-539FB0414D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73662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1B2C73-F33F-494A-BC1B-E1D751896FFE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DF360B-A3AE-4175-B4D3-5B0EB60874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53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610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30962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74393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212273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76868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79305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656812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129382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787741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42042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153747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41241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36002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932280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367557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56163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5316-03D6-4A48-ADC0-9E5838A4A632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7668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0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15.gif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2">
            <a:extLst>
              <a:ext uri="{FF2B5EF4-FFF2-40B4-BE49-F238E27FC236}">
                <a16:creationId xmlns:a16="http://schemas.microsoft.com/office/drawing/2014/main" id="{0A2B689D-8977-AD6A-3C69-6D92240020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7667" y="2898545"/>
            <a:ext cx="282262" cy="75270"/>
          </a:xfrm>
          <a:prstGeom prst="rect">
            <a:avLst/>
          </a:prstGeom>
        </p:spPr>
      </p:pic>
      <p:sp>
        <p:nvSpPr>
          <p:cNvPr id="17" name="Title 32">
            <a:extLst>
              <a:ext uri="{FF2B5EF4-FFF2-40B4-BE49-F238E27FC236}">
                <a16:creationId xmlns:a16="http://schemas.microsoft.com/office/drawing/2014/main" id="{15344361-8496-51B6-866B-094BE72A15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6157" y="3207777"/>
            <a:ext cx="7689344" cy="44244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000" b="1" spc="-15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marL="0" lvl="0" indent="-228600">
              <a:buFont typeface="Arial" panose="020B0604020202020204" pitchFamily="34" charset="0"/>
            </a:pPr>
            <a:r>
              <a:rPr lang="en-US" dirty="0"/>
              <a:t>PRESENTATION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F993181B-10D9-9297-61FD-4CCD2845F2C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56155" y="5363127"/>
            <a:ext cx="1346965" cy="38481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1600" b="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소속기관명</a:t>
            </a:r>
            <a:endParaRPr lang="en-US" dirty="0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45613ED5-364D-70A2-FBDC-67AB945B8EF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56156" y="3959455"/>
            <a:ext cx="7689344" cy="4389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부제목을 입력해 주세요</a:t>
            </a:r>
            <a:endParaRPr lang="en-US" dirty="0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4CD1575-1C7B-CFAB-E034-1CB5FDC6F6D9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2128520" y="5359223"/>
            <a:ext cx="2896815" cy="38481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1600" b="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성함 직함</a:t>
            </a:r>
            <a:endParaRPr lang="en-US" altLang="ko-KR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1864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AC6ED3B-B028-3C6A-603A-7FEC1CF2A0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5669026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C47035B-5EFB-CC4F-96A0-93ECD02EFE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8600" y="1644673"/>
            <a:ext cx="3325603" cy="367852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F42CB39-D109-24BB-F6D0-0D47894AC977}"/>
              </a:ext>
            </a:extLst>
          </p:cNvPr>
          <p:cNvSpPr/>
          <p:nvPr userDrawn="1"/>
        </p:nvSpPr>
        <p:spPr>
          <a:xfrm>
            <a:off x="1838848" y="813916"/>
            <a:ext cx="3737345" cy="432080"/>
          </a:xfrm>
          <a:prstGeom prst="rect">
            <a:avLst/>
          </a:prstGeom>
          <a:gradFill flip="none" rotWithShape="1">
            <a:gsLst>
              <a:gs pos="75000">
                <a:srgbClr val="FFFFFF"/>
              </a:gs>
              <a:gs pos="44100">
                <a:srgbClr val="FFFFFF"/>
              </a:gs>
              <a:gs pos="100000">
                <a:schemeClr val="bg1">
                  <a:alpha val="41000"/>
                </a:schemeClr>
              </a:gs>
              <a:gs pos="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EC3ED8-DCB6-B804-2AC4-6D3105DE41D9}"/>
              </a:ext>
            </a:extLst>
          </p:cNvPr>
          <p:cNvSpPr txBox="1"/>
          <p:nvPr userDrawn="1"/>
        </p:nvSpPr>
        <p:spPr>
          <a:xfrm>
            <a:off x="574525" y="575156"/>
            <a:ext cx="2804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147B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CONTENTS</a:t>
            </a:r>
            <a:endParaRPr lang="ko-KR" altLang="en-US" sz="2800" b="1" dirty="0">
              <a:solidFill>
                <a:srgbClr val="147BD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부제목 13">
            <a:extLst>
              <a:ext uri="{FF2B5EF4-FFF2-40B4-BE49-F238E27FC236}">
                <a16:creationId xmlns:a16="http://schemas.microsoft.com/office/drawing/2014/main" id="{9D79CC19-00AF-C47A-B5DC-A4C39937A145}"/>
              </a:ext>
            </a:extLst>
          </p:cNvPr>
          <p:cNvSpPr txBox="1">
            <a:spLocks/>
          </p:cNvSpPr>
          <p:nvPr userDrawn="1"/>
        </p:nvSpPr>
        <p:spPr>
          <a:xfrm>
            <a:off x="645645" y="387656"/>
            <a:ext cx="2643655" cy="43895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200" dirty="0">
                <a:solidFill>
                  <a:srgbClr val="D4D4D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  I  N  E  P  L  U  S  I  T</a:t>
            </a:r>
            <a:endParaRPr lang="ko-KR" altLang="en-US" sz="1200" dirty="0">
              <a:solidFill>
                <a:srgbClr val="D4D4D2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A57AF3A-A4EB-0B0A-9D18-3723383EF2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36A8999-FDD4-0AD3-598F-C2CAE37EC2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E266866-8E2B-E06F-867C-AA402CB3245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891" r="52827"/>
          <a:stretch/>
        </p:blipFill>
        <p:spPr>
          <a:xfrm rot="10800000">
            <a:off x="0" y="4991407"/>
            <a:ext cx="2225400" cy="1876097"/>
          </a:xfrm>
          <a:prstGeom prst="rect">
            <a:avLst/>
          </a:prstGeom>
        </p:spPr>
      </p:pic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C6627FCA-972B-4BB6-55FD-CE8B4728242C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4840E2-5E13-B055-1443-080C8EACE103}"/>
              </a:ext>
            </a:extLst>
          </p:cNvPr>
          <p:cNvSpPr/>
          <p:nvPr userDrawn="1"/>
        </p:nvSpPr>
        <p:spPr>
          <a:xfrm>
            <a:off x="3378685" y="10583"/>
            <a:ext cx="2290341" cy="432080"/>
          </a:xfrm>
          <a:prstGeom prst="rect">
            <a:avLst/>
          </a:prstGeom>
          <a:gradFill flip="none" rotWithShape="1">
            <a:gsLst>
              <a:gs pos="75000">
                <a:srgbClr val="FFFFFF"/>
              </a:gs>
              <a:gs pos="44100">
                <a:srgbClr val="FFFFFF"/>
              </a:gs>
              <a:gs pos="100000">
                <a:schemeClr val="bg1">
                  <a:alpha val="41000"/>
                </a:schemeClr>
              </a:gs>
              <a:gs pos="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175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7C6BF1BD-65AB-9F9F-BBF8-02D82CB2EF4F}"/>
              </a:ext>
            </a:extLst>
          </p:cNvPr>
          <p:cNvGrpSpPr/>
          <p:nvPr userDrawn="1"/>
        </p:nvGrpSpPr>
        <p:grpSpPr>
          <a:xfrm>
            <a:off x="0" y="20686"/>
            <a:ext cx="12192000" cy="2801257"/>
            <a:chOff x="0" y="20686"/>
            <a:chExt cx="12192000" cy="2801257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9AC185F2-217E-FC8A-F79E-6207FBCF9F9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4341"/>
            <a:stretch/>
          </p:blipFill>
          <p:spPr>
            <a:xfrm>
              <a:off x="0" y="20686"/>
              <a:ext cx="12192000" cy="2694338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8EB42C5-A44E-941C-BD61-D4F388159019}"/>
                </a:ext>
              </a:extLst>
            </p:cNvPr>
            <p:cNvSpPr/>
            <p:nvPr userDrawn="1"/>
          </p:nvSpPr>
          <p:spPr>
            <a:xfrm>
              <a:off x="4749800" y="1357618"/>
              <a:ext cx="3086100" cy="14643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24E42BE8-63C9-AD43-B49A-36AB11AB458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99" r="37743" b="78275"/>
          <a:stretch/>
        </p:blipFill>
        <p:spPr>
          <a:xfrm rot="5400000">
            <a:off x="10192809" y="4800676"/>
            <a:ext cx="3057033" cy="92778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33D89CB-B719-EA94-FA05-4B1D5B5E9E4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87315" y="237245"/>
            <a:ext cx="887350" cy="370320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C218C5B9-E411-1190-D487-C7629F66580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ABACC5D-C8EA-42F1-CA99-243C0146CA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373" y="3493142"/>
            <a:ext cx="10744200" cy="1188720"/>
          </a:xfrm>
        </p:spPr>
        <p:txBody>
          <a:bodyPr anchor="t" anchorCtr="0">
            <a:noAutofit/>
          </a:bodyPr>
          <a:lstStyle>
            <a:lvl1pPr>
              <a:lnSpc>
                <a:spcPct val="130000"/>
              </a:lnSpc>
              <a:defRPr sz="2800" b="1" spc="-15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간지 내용을 입력해 주세요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366482A-6BF8-FFC6-47C6-24B31596039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56744" y="4004065"/>
            <a:ext cx="10827604" cy="677797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>
              <a:lnSpc>
                <a:spcPct val="130000"/>
              </a:lnSpc>
              <a:buNone/>
              <a:defRPr sz="2000" spc="-15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내용을 입력해 주세요</a:t>
            </a:r>
            <a:endParaRPr 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97B5B7B-C0AC-3577-38A0-8DDD0EE0191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5654" r="57737" b="59319"/>
          <a:stretch/>
        </p:blipFill>
        <p:spPr>
          <a:xfrm>
            <a:off x="379186" y="2976683"/>
            <a:ext cx="2131786" cy="361720"/>
          </a:xfrm>
          <a:prstGeom prst="rect">
            <a:avLst/>
          </a:prstGeom>
        </p:spPr>
      </p:pic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C0B63F71-8B17-75BA-431B-EC8B15CED286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98885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레이아웃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>
            <a:extLst>
              <a:ext uri="{FF2B5EF4-FFF2-40B4-BE49-F238E27FC236}">
                <a16:creationId xmlns:a16="http://schemas.microsoft.com/office/drawing/2014/main" id="{F5FF8531-6602-6B50-A085-CDB91C415011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9DB3ED-6F85-3EFA-BBD1-BABB6B9C68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C01F753-9E37-C8DC-95FF-DF93DF3393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2" name="슬라이드 번호 개체 틀 4">
            <a:extLst>
              <a:ext uri="{FF2B5EF4-FFF2-40B4-BE49-F238E27FC236}">
                <a16:creationId xmlns:a16="http://schemas.microsoft.com/office/drawing/2014/main" id="{6A11B6C2-6061-3E55-077D-166C78B0ED7E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1699753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3B83660C-63E0-0CAA-517A-56CE5094A9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19" name="내용 개체 틀 4">
            <a:extLst>
              <a:ext uri="{FF2B5EF4-FFF2-40B4-BE49-F238E27FC236}">
                <a16:creationId xmlns:a16="http://schemas.microsoft.com/office/drawing/2014/main" id="{58830C0C-E56C-3ECA-C9CA-D786D27DA36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84708" y="1722863"/>
            <a:ext cx="7688263" cy="1662693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본문 내용을 입력해 주세요</a:t>
            </a:r>
          </a:p>
        </p:txBody>
      </p:sp>
      <p:sp>
        <p:nvSpPr>
          <p:cNvPr id="20" name="내용 개체 틀 4">
            <a:extLst>
              <a:ext uri="{FF2B5EF4-FFF2-40B4-BE49-F238E27FC236}">
                <a16:creationId xmlns:a16="http://schemas.microsoft.com/office/drawing/2014/main" id="{DA2D460F-401E-946C-4819-5CAF1DEE37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8437" y="1265135"/>
            <a:ext cx="7688263" cy="384780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spc="-15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064D8154-20AE-1DD0-D610-B24CF84C8A9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87224E7-8403-7591-6B1C-C031BE82A3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E5410BEA-4881-88D1-E737-C10291E66D4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A10D5E0-0C61-CEB0-1EA0-431E53BBA66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7F29AE4C-4C6B-01FA-DB71-26C9389E4690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86381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3516CDB-E9B6-C141-6F62-385284C8A5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22" name="Rectangle 6">
            <a:extLst>
              <a:ext uri="{FF2B5EF4-FFF2-40B4-BE49-F238E27FC236}">
                <a16:creationId xmlns:a16="http://schemas.microsoft.com/office/drawing/2014/main" id="{CE4883FB-2488-2AEA-9DBF-6062CF83A16C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93A3342-6080-B045-1993-4AED439136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7B1C25-666F-3850-741D-F8453E0AD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8438" y="1447286"/>
            <a:ext cx="5276562" cy="4862073"/>
          </a:xfrm>
          <a:prstGeom prst="rect">
            <a:avLst/>
          </a:prstGeom>
        </p:spPr>
        <p:txBody>
          <a:bodyPr rIns="182880"/>
          <a:lstStyle>
            <a:lvl1pPr marL="280988" indent="-280988">
              <a:lnSpc>
                <a:spcPct val="130000"/>
              </a:lnSpc>
              <a:buClr>
                <a:srgbClr val="E31837"/>
              </a:buClr>
              <a:defRPr sz="1800" spc="-150"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633413" indent="-295275">
              <a:lnSpc>
                <a:spcPct val="130000"/>
              </a:lnSpc>
              <a:buFont typeface="Arial" panose="020B0604020202020204" pitchFamily="34" charset="0"/>
              <a:buChar char="–"/>
              <a:tabLst>
                <a:tab pos="801688" algn="l"/>
              </a:tabLst>
              <a:defRPr sz="16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2pPr>
            <a:lvl3pPr marL="858838" indent="-225425">
              <a:lnSpc>
                <a:spcPct val="130000"/>
              </a:lnSpc>
              <a:buFont typeface="Arial" panose="020B0604020202020204" pitchFamily="34" charset="0"/>
              <a:buChar char="–"/>
              <a:defRPr sz="12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86742E4-6FBD-24DE-B85E-52C7A29DCB4E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6477000" y="1446772"/>
            <a:ext cx="5276562" cy="4862073"/>
          </a:xfrm>
          <a:prstGeom prst="rect">
            <a:avLst/>
          </a:prstGeom>
        </p:spPr>
        <p:txBody>
          <a:bodyPr rIns="182880"/>
          <a:lstStyle>
            <a:lvl1pPr marL="280988" indent="-280988">
              <a:lnSpc>
                <a:spcPct val="130000"/>
              </a:lnSpc>
              <a:buClr>
                <a:srgbClr val="E31837"/>
              </a:buClr>
              <a:defRPr sz="1800" spc="-150"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633413" indent="-295275">
              <a:lnSpc>
                <a:spcPct val="130000"/>
              </a:lnSpc>
              <a:buFont typeface="Arial" panose="020B0604020202020204" pitchFamily="34" charset="0"/>
              <a:buChar char="–"/>
              <a:tabLst>
                <a:tab pos="801688" algn="l"/>
              </a:tabLst>
              <a:defRPr sz="16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2pPr>
            <a:lvl3pPr marL="858838" indent="-225425">
              <a:lnSpc>
                <a:spcPct val="130000"/>
              </a:lnSpc>
              <a:buFont typeface="Arial" panose="020B0604020202020204" pitchFamily="34" charset="0"/>
              <a:buChar char="–"/>
              <a:defRPr sz="12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6165312-91BD-A6B4-3DB8-FCCC95EBC28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내용 개체 틀 4">
            <a:extLst>
              <a:ext uri="{FF2B5EF4-FFF2-40B4-BE49-F238E27FC236}">
                <a16:creationId xmlns:a16="http://schemas.microsoft.com/office/drawing/2014/main" id="{443307DC-A9A4-0AF1-431B-CE8D866C6F0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EACB026E-116D-A154-5B23-D99661FC4A7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151408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 구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9581B5-AD61-C855-0268-F70136A9FC8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707089-CB6C-150C-BF3E-38E3E399EA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33D89CB-B719-EA94-FA05-4B1D5B5E9E4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87316" y="237245"/>
            <a:ext cx="887348" cy="370320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C218C5B9-E411-1190-D487-C7629F66580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cdtText Placeholder 12 Id13">
            <a:extLst>
              <a:ext uri="{FF2B5EF4-FFF2-40B4-BE49-F238E27FC236}">
                <a16:creationId xmlns:a16="http://schemas.microsoft.com/office/drawing/2014/main" id="{AAF3BF8F-EA23-F148-B484-C055AFAA6127}"/>
              </a:ext>
            </a:extLst>
          </p:cNvPr>
          <p:cNvSpPr>
            <a:spLocks noGrp="1"/>
          </p:cNvSpPr>
          <p:nvPr>
            <p:ph type="body" sz="quarter" idx="14" hasCustomPrompt="1"/>
            <p:custDataLst>
              <p:tags r:id="rId1"/>
            </p:custDataLst>
          </p:nvPr>
        </p:nvSpPr>
        <p:spPr bwMode="auto">
          <a:xfrm>
            <a:off x="4864100" y="1663814"/>
            <a:ext cx="7327900" cy="392272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21" name="Bildplatzhalter 7">
            <a:extLst>
              <a:ext uri="{FF2B5EF4-FFF2-40B4-BE49-F238E27FC236}">
                <a16:creationId xmlns:a16="http://schemas.microsoft.com/office/drawing/2014/main" id="{8E616DC4-24DA-D652-DA34-FA51D618129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7400" y="1663814"/>
            <a:ext cx="3724650" cy="3922726"/>
          </a:xfrm>
        </p:spPr>
        <p:txBody>
          <a:bodyPr tIns="1800000">
            <a:normAutofit/>
          </a:bodyPr>
          <a:lstStyle>
            <a:lvl1pPr marL="0" indent="0" algn="ctr">
              <a:buNone/>
              <a:defRPr lang="en-US" sz="1800" noProof="0" dirty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 dirty="0"/>
              <a:t>이미지를 추가해 주세요</a:t>
            </a:r>
            <a:endParaRPr lang="en-US" noProof="0" dirty="0"/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C9CFBB3B-8459-B072-CE35-DD44739A71F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4" name="내용 개체 틀 4">
            <a:extLst>
              <a:ext uri="{FF2B5EF4-FFF2-40B4-BE49-F238E27FC236}">
                <a16:creationId xmlns:a16="http://schemas.microsoft.com/office/drawing/2014/main" id="{43239AF0-F814-1FD7-257B-DDBBDB114EBC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6B8DCC5C-A8F6-8B61-A136-3FE8CE48A16C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537133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 구역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3516CDB-E9B6-C141-6F62-385284C8A5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22" name="Rectangle 6">
            <a:extLst>
              <a:ext uri="{FF2B5EF4-FFF2-40B4-BE49-F238E27FC236}">
                <a16:creationId xmlns:a16="http://schemas.microsoft.com/office/drawing/2014/main" id="{CE4883FB-2488-2AEA-9DBF-6062CF83A16C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93A3342-6080-B045-1993-4AED439136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5" name="Bildplatzhalter 7">
            <a:extLst>
              <a:ext uri="{FF2B5EF4-FFF2-40B4-BE49-F238E27FC236}">
                <a16:creationId xmlns:a16="http://schemas.microsoft.com/office/drawing/2014/main" id="{D85258F4-62CE-F16F-9645-FF41CDB1D15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7400" y="1676514"/>
            <a:ext cx="3724650" cy="3910026"/>
          </a:xfrm>
        </p:spPr>
        <p:txBody>
          <a:bodyPr tIns="1800000" anchor="t">
            <a:normAutofit/>
          </a:bodyPr>
          <a:lstStyle>
            <a:lvl1pPr marL="0" indent="0" algn="ctr">
              <a:buNone/>
              <a:defRPr lang="en-US" sz="1800" noProof="0" dirty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 dirty="0"/>
              <a:t>이미지를 추가해 주세요</a:t>
            </a:r>
            <a:endParaRPr lang="en-US" noProof="0" dirty="0"/>
          </a:p>
        </p:txBody>
      </p:sp>
      <p:sp>
        <p:nvSpPr>
          <p:cNvPr id="6" name="내용 개체 틀 4">
            <a:extLst>
              <a:ext uri="{FF2B5EF4-FFF2-40B4-BE49-F238E27FC236}">
                <a16:creationId xmlns:a16="http://schemas.microsoft.com/office/drawing/2014/main" id="{BCDC8753-1F35-1528-64B1-335591BD4AA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98D4D303-C8FF-C353-4FA5-2C610350C5A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cdtText Placeholder 12 Id13">
            <a:extLst>
              <a:ext uri="{FF2B5EF4-FFF2-40B4-BE49-F238E27FC236}">
                <a16:creationId xmlns:a16="http://schemas.microsoft.com/office/drawing/2014/main" id="{05432AFD-A799-FEA4-2069-2B09A5AC6813}"/>
              </a:ext>
            </a:extLst>
          </p:cNvPr>
          <p:cNvSpPr>
            <a:spLocks noGrp="1"/>
          </p:cNvSpPr>
          <p:nvPr>
            <p:ph type="body" sz="quarter" idx="21" hasCustomPrompt="1"/>
            <p:custDataLst>
              <p:tags r:id="rId1"/>
            </p:custDataLst>
          </p:nvPr>
        </p:nvSpPr>
        <p:spPr bwMode="auto">
          <a:xfrm>
            <a:off x="5032972" y="3821354"/>
            <a:ext cx="6244627" cy="176518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9" name="cdtText Placeholder 12 Id13">
            <a:extLst>
              <a:ext uri="{FF2B5EF4-FFF2-40B4-BE49-F238E27FC236}">
                <a16:creationId xmlns:a16="http://schemas.microsoft.com/office/drawing/2014/main" id="{44EF8955-81F0-73C3-DF88-D85D87ED57DE}"/>
              </a:ext>
            </a:extLst>
          </p:cNvPr>
          <p:cNvSpPr>
            <a:spLocks noGrp="1"/>
          </p:cNvSpPr>
          <p:nvPr>
            <p:ph type="body" sz="quarter" idx="22" hasCustomPrompt="1"/>
            <p:custDataLst>
              <p:tags r:id="rId2"/>
            </p:custDataLst>
          </p:nvPr>
        </p:nvSpPr>
        <p:spPr bwMode="auto">
          <a:xfrm>
            <a:off x="5032973" y="1663814"/>
            <a:ext cx="6244627" cy="176518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4" name="슬라이드 번호 개체 틀 4">
            <a:extLst>
              <a:ext uri="{FF2B5EF4-FFF2-40B4-BE49-F238E27FC236}">
                <a16:creationId xmlns:a16="http://schemas.microsoft.com/office/drawing/2014/main" id="{4A7882DE-8F0D-5B26-23EB-0FCFD6159BE5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5633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">
    <p:bg>
      <p:bgPr>
        <a:gradFill>
          <a:gsLst>
            <a:gs pos="0">
              <a:srgbClr val="147BD1"/>
            </a:gs>
            <a:gs pos="100000">
              <a:srgbClr val="1DCAD3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D64FA5-CDB1-F994-65BE-0BE3473A03F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808505" y="3704117"/>
            <a:ext cx="2383495" cy="3153883"/>
          </a:xfrm>
          <a:prstGeom prst="rect">
            <a:avLst/>
          </a:prstGeom>
        </p:spPr>
      </p:pic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46002F36-FFAD-B4D5-4A66-5C0A43DC4642}"/>
              </a:ext>
            </a:extLst>
          </p:cNvPr>
          <p:cNvSpPr txBox="1">
            <a:spLocks/>
          </p:cNvSpPr>
          <p:nvPr userDrawn="1"/>
        </p:nvSpPr>
        <p:spPr>
          <a:xfrm>
            <a:off x="93154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953AF5-74C5-EA32-15A6-A2A81C8D990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9" t="27780"/>
          <a:stretch/>
        </p:blipFill>
        <p:spPr>
          <a:xfrm>
            <a:off x="0" y="0"/>
            <a:ext cx="4379984" cy="2614021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C7CAAF6-0D81-0DCB-296D-A9E665D79F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ED072FD4-8691-B58C-84BF-7070B55A96C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B47B13F2-BD53-D01C-9069-5413AEC44D5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835760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강조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4538ECC-A452-5DE0-2C54-865A434A94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6" r="493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47BD1"/>
              </a:gs>
              <a:gs pos="100000">
                <a:srgbClr val="1DCAD3"/>
              </a:gs>
            </a:gsLst>
            <a:lin ang="0" scaled="0"/>
          </a:gradFill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B7B3518-26CB-355D-7DB5-1B211E753BC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7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내용 개체 틀 4">
            <a:extLst>
              <a:ext uri="{FF2B5EF4-FFF2-40B4-BE49-F238E27FC236}">
                <a16:creationId xmlns:a16="http://schemas.microsoft.com/office/drawing/2014/main" id="{A4E287ED-A70F-A637-2193-59961888DC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12" name="내용 개체 틀 4">
            <a:extLst>
              <a:ext uri="{FF2B5EF4-FFF2-40B4-BE49-F238E27FC236}">
                <a16:creationId xmlns:a16="http://schemas.microsoft.com/office/drawing/2014/main" id="{64C8EF82-2A0B-E9D3-036C-2352D68DEE6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94BC1758-BCD0-EFDE-D40D-3328166423D0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524256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강조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4538ECC-A452-5DE0-2C54-865A434A94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0" r="5270"/>
          <a:stretch/>
        </p:blipFill>
        <p:spPr>
          <a:xfrm>
            <a:off x="11860" y="0"/>
            <a:ext cx="12168280" cy="6858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B7B3518-26CB-355D-7DB5-1B211E753BC1}"/>
              </a:ext>
            </a:extLst>
          </p:cNvPr>
          <p:cNvSpPr/>
          <p:nvPr userDrawn="1"/>
        </p:nvSpPr>
        <p:spPr>
          <a:xfrm>
            <a:off x="-11860" y="0"/>
            <a:ext cx="12192000" cy="6858000"/>
          </a:xfrm>
          <a:prstGeom prst="rect">
            <a:avLst/>
          </a:prstGeom>
          <a:solidFill>
            <a:schemeClr val="dk1">
              <a:alpha val="7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46002F36-FFAD-B4D5-4A66-5C0A43DC4642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  <p:sp>
        <p:nvSpPr>
          <p:cNvPr id="11" name="내용 개체 틀 4">
            <a:extLst>
              <a:ext uri="{FF2B5EF4-FFF2-40B4-BE49-F238E27FC236}">
                <a16:creationId xmlns:a16="http://schemas.microsoft.com/office/drawing/2014/main" id="{A4E287ED-A70F-A637-2193-59961888DC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12" name="내용 개체 틀 4">
            <a:extLst>
              <a:ext uri="{FF2B5EF4-FFF2-40B4-BE49-F238E27FC236}">
                <a16:creationId xmlns:a16="http://schemas.microsoft.com/office/drawing/2014/main" id="{64C8EF82-2A0B-E9D3-036C-2352D68DEE6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</p:spTree>
    <p:extLst>
      <p:ext uri="{BB962C8B-B14F-4D97-AF65-F5344CB8AC3E}">
        <p14:creationId xmlns:p14="http://schemas.microsoft.com/office/powerpoint/2010/main" val="1331130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FC620FB5-B821-DD9F-5C14-6B031E01698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051" b="68742"/>
          <a:stretch/>
        </p:blipFill>
        <p:spPr>
          <a:xfrm rot="5400000">
            <a:off x="-347201" y="272317"/>
            <a:ext cx="1831557" cy="1185564"/>
          </a:xfrm>
          <a:prstGeom prst="rect">
            <a:avLst/>
          </a:prstGeom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4F2F3662-5803-F093-0DD0-028CD7271654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C84D7C-145C-4AF9-76D0-7B1431CD2603}"/>
              </a:ext>
            </a:extLst>
          </p:cNvPr>
          <p:cNvSpPr txBox="1"/>
          <p:nvPr userDrawn="1"/>
        </p:nvSpPr>
        <p:spPr>
          <a:xfrm>
            <a:off x="5275256" y="6511765"/>
            <a:ext cx="404019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solidFill>
                  <a:schemeClr val="bg2">
                    <a:lumMod val="90000"/>
                  </a:schemeClr>
                </a:solidFill>
              </a:rPr>
              <a:t>www.npit.co.kr | www.cadence.com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AEF28D-8886-7A1A-E40A-67F610580BDE}"/>
              </a:ext>
            </a:extLst>
          </p:cNvPr>
          <p:cNvSpPr txBox="1"/>
          <p:nvPr userDrawn="1"/>
        </p:nvSpPr>
        <p:spPr>
          <a:xfrm>
            <a:off x="779685" y="2899820"/>
            <a:ext cx="16144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spc="-1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Thank you.</a:t>
            </a:r>
            <a:endParaRPr lang="ko-KR" altLang="en-US" sz="2400" b="1" spc="-15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BC1CFEA-8870-7DAA-E9D9-0153330F927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109" y="196937"/>
            <a:ext cx="1185562" cy="224451"/>
          </a:xfrm>
          <a:prstGeom prst="rect">
            <a:avLst/>
          </a:prstGeom>
        </p:spPr>
      </p:pic>
      <p:pic>
        <p:nvPicPr>
          <p:cNvPr id="6" name="Graphic 12">
            <a:extLst>
              <a:ext uri="{FF2B5EF4-FFF2-40B4-BE49-F238E27FC236}">
                <a16:creationId xmlns:a16="http://schemas.microsoft.com/office/drawing/2014/main" id="{ABF6BE7C-7BEB-9089-D842-E1FB93808AF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9618" y="2663329"/>
            <a:ext cx="282262" cy="7527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062AFAA-FF6C-78BB-9FC5-DFD9466E0DA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0083" y="1514526"/>
            <a:ext cx="2965031" cy="327968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D4D2F14-B0D6-8A92-0A8F-64B1949F8C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739" t="12615"/>
          <a:stretch/>
        </p:blipFill>
        <p:spPr>
          <a:xfrm rot="10800000">
            <a:off x="10342616" y="3480709"/>
            <a:ext cx="1802600" cy="3333749"/>
          </a:xfrm>
          <a:prstGeom prst="rect">
            <a:avLst/>
          </a:prstGeom>
        </p:spPr>
      </p:pic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5C4E2205-6958-43AE-E6B8-60D61D53E91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8400669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A601D2-EC58-C9D9-66C5-E3C750788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Autofit/>
          </a:bodyPr>
          <a:lstStyle>
            <a:lvl1pPr>
              <a:defRPr sz="3600" b="1"/>
            </a:lvl1pPr>
          </a:lstStyle>
          <a:p>
            <a:r>
              <a:rPr lang="ko-KR" altLang="en-US" dirty="0"/>
              <a:t>마스터 제목 스타일 편집</a:t>
            </a:r>
            <a:endParaRPr lang="en-CA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5F62F2-10CB-21B8-E968-6E1F717F3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0588"/>
            <a:ext cx="10515600" cy="50563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CA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975F2A-690B-8E35-55A5-09EC8C987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1FD73-F43C-4CEC-A4BC-4F63297EBA95}" type="datetimeFigureOut">
              <a:rPr lang="en-CA" smtClean="0"/>
              <a:t>2026-07-05</a:t>
            </a:fld>
            <a:endParaRPr lang="en-CA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20777A-56DA-4165-A342-6D1957147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23C9D3-AB74-5CC7-9BFB-48CE3DFE4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13B5-75D4-45EF-8263-FECEAD7B518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6510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1233150" cy="654760"/>
          </a:xfrm>
        </p:spPr>
        <p:txBody>
          <a:bodyPr anchor="t"/>
          <a:lstStyle>
            <a:lvl1pPr>
              <a:defRPr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171111"/>
            <a:ext cx="11233150" cy="4948335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chemeClr val="tx2"/>
                </a:solidFill>
              </a:defRPr>
            </a:lvl1pPr>
            <a:lvl2pPr marL="672783">
              <a:lnSpc>
                <a:spcPct val="100000"/>
              </a:lnSpc>
              <a:spcAft>
                <a:spcPts val="0"/>
              </a:spcAft>
              <a:defRPr sz="2000">
                <a:solidFill>
                  <a:schemeClr val="tx2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3pPr>
            <a:lvl4pPr marL="1293178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noProof="0" dirty="0"/>
              <a:t>Click to edit Master text styles with Top Level Bullet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68068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217EF33-D600-989E-8A91-749A5D900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441B4B-84BC-1AF8-3E52-17240F744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EB88D-BBE7-6387-84B5-6EE90D94E1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BEC200-83C1-4365-A99F-86FD10E76130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6A1E2B-77FA-7B7E-80BF-AD04C6721F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93BC41-64C4-A681-82AC-FD8DCB42FA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36D7E8-4E64-4D6D-BDDF-219C8CEEFBA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153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1" r:id="rId2"/>
    <p:sldLayoutId id="2147483661" r:id="rId3"/>
    <p:sldLayoutId id="2147483670" r:id="rId4"/>
    <p:sldLayoutId id="2147483650" r:id="rId5"/>
    <p:sldLayoutId id="2147483669" r:id="rId6"/>
    <p:sldLayoutId id="2147483668" r:id="rId7"/>
    <p:sldLayoutId id="2147483666" r:id="rId8"/>
    <p:sldLayoutId id="2147483663" r:id="rId9"/>
    <p:sldLayoutId id="2147483662" r:id="rId10"/>
    <p:sldLayoutId id="2147483671" r:id="rId11"/>
    <p:sldLayoutId id="2147483659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89591-F99B-E9A0-5755-41D660F30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155" y="3207776"/>
            <a:ext cx="7689344" cy="743737"/>
          </a:xfrm>
        </p:spPr>
        <p:txBody>
          <a:bodyPr/>
          <a:lstStyle/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SoC 102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: Design</a:t>
            </a:r>
            <a:endParaRPr lang="ko-KR" altLang="en-US" b="1" dirty="0">
              <a:latin typeface="+mj-lt"/>
            </a:endParaRPr>
          </a:p>
        </p:txBody>
      </p:sp>
      <p:sp>
        <p:nvSpPr>
          <p:cNvPr id="4" name="부제목 3">
            <a:extLst>
              <a:ext uri="{FF2B5EF4-FFF2-40B4-BE49-F238E27FC236}">
                <a16:creationId xmlns:a16="http://schemas.microsoft.com/office/drawing/2014/main" id="{A04821A0-9121-CBE3-449D-14D5A206E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6155" y="4037851"/>
            <a:ext cx="7689344" cy="438950"/>
          </a:xfrm>
        </p:spPr>
        <p:txBody>
          <a:bodyPr/>
          <a:lstStyle/>
          <a:p>
            <a:r>
              <a:rPr lang="en-US" altLang="ko-KR" b="1" dirty="0"/>
              <a:t>Session6</a:t>
            </a:r>
            <a:r>
              <a:rPr lang="en-US" altLang="ko-KR" dirty="0"/>
              <a:t> : </a:t>
            </a:r>
            <a:r>
              <a:rPr lang="en-US" altLang="ko-KR" b="1" dirty="0"/>
              <a:t>S</a:t>
            </a:r>
            <a:r>
              <a:rPr lang="en-US" altLang="ko-KR" dirty="0"/>
              <a:t>equential </a:t>
            </a:r>
            <a:r>
              <a:rPr lang="en-US" altLang="ko-KR" b="1" dirty="0"/>
              <a:t>L</a:t>
            </a:r>
            <a:r>
              <a:rPr lang="en-US" altLang="ko-KR" dirty="0"/>
              <a:t>ogic </a:t>
            </a:r>
            <a:r>
              <a:rPr lang="en-US" altLang="ko-KR" b="1" dirty="0"/>
              <a:t>B</a:t>
            </a:r>
            <a:r>
              <a:rPr lang="en-US" altLang="ko-KR" dirty="0"/>
              <a:t>locks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0463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D66995-EC8F-4241-838D-FB8A84AF17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40000" lnSpcReduction="2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573363-4663-4A83-B5B9-7302893C9A0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2E3330-E42F-45C6-9FDA-74753CBBADAF}"/>
              </a:ext>
            </a:extLst>
          </p:cNvPr>
          <p:cNvSpPr txBox="1"/>
          <p:nvPr/>
        </p:nvSpPr>
        <p:spPr>
          <a:xfrm>
            <a:off x="570451" y="1325461"/>
            <a:ext cx="8296712" cy="3362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chemeClr val="bg1"/>
                </a:solidFill>
              </a:rPr>
              <a:t>Basic Sequential Blocks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chemeClr val="bg1"/>
                </a:solidFill>
              </a:rPr>
              <a:t>Latch &amp; Flip-Flop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chemeClr val="bg1"/>
                </a:solidFill>
              </a:rPr>
              <a:t>D-Latch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chemeClr val="bg1"/>
                </a:solidFill>
              </a:rPr>
              <a:t>D-Flip Lop</a:t>
            </a:r>
            <a:endParaRPr lang="ko-KR" altLang="en-US" dirty="0">
              <a:solidFill>
                <a:schemeClr val="bg1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chemeClr val="bg1"/>
                </a:solidFill>
              </a:rPr>
              <a:t>Counter and Shift Register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chemeClr val="bg1"/>
                </a:solidFill>
              </a:rPr>
              <a:t>Shift Register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chemeClr val="bg1"/>
                </a:solidFill>
              </a:rPr>
              <a:t>Register Map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chemeClr val="bg1"/>
                </a:solidFill>
              </a:rPr>
              <a:t>LABS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1155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3D2A5D-7D2F-4C4F-BAD8-7DE349F6A6F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40000" lnSpcReduction="2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974EA-E266-46E5-B93E-1A12E099C41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10000" y="4961780"/>
            <a:ext cx="7688263" cy="500352"/>
          </a:xfrm>
        </p:spPr>
        <p:txBody>
          <a:bodyPr/>
          <a:lstStyle/>
          <a:p>
            <a:r>
              <a:rPr lang="en-US" dirty="0"/>
              <a:t>1. Latch and Flip Flop</a:t>
            </a:r>
          </a:p>
        </p:txBody>
      </p:sp>
    </p:spTree>
    <p:extLst>
      <p:ext uri="{BB962C8B-B14F-4D97-AF65-F5344CB8AC3E}">
        <p14:creationId xmlns:p14="http://schemas.microsoft.com/office/powerpoint/2010/main" val="3788496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491E-7D98-A5A2-F889-3F2C1DE2C46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35559" y="370680"/>
            <a:ext cx="10515600" cy="620713"/>
          </a:xfrm>
        </p:spPr>
        <p:txBody>
          <a:bodyPr>
            <a:normAutofit fontScale="90000"/>
          </a:bodyPr>
          <a:lstStyle/>
          <a:p>
            <a:r>
              <a:rPr lang="en-CA" dirty="0"/>
              <a:t>Sequential Logic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A09469-85A5-43AF-8AC9-4EC1FC8BFF94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87229" y="1154331"/>
            <a:ext cx="10515600" cy="505618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40000"/>
              </a:lnSpc>
            </a:pPr>
            <a:r>
              <a:rPr lang="ko-KR" altLang="en-US" sz="1800" dirty="0"/>
              <a:t>순차회로</a:t>
            </a:r>
          </a:p>
          <a:p>
            <a:pPr lvl="1">
              <a:lnSpc>
                <a:spcPct val="140000"/>
              </a:lnSpc>
            </a:pPr>
            <a:r>
              <a:rPr lang="ko-KR" altLang="en-US" sz="1600" dirty="0"/>
              <a:t>현재의 입력</a:t>
            </a:r>
            <a:r>
              <a:rPr lang="en-US" altLang="ko-KR" sz="1600" dirty="0"/>
              <a:t>, </a:t>
            </a:r>
            <a:r>
              <a:rPr lang="ko-KR" altLang="en-US" sz="1600" dirty="0"/>
              <a:t>과거의 입력</a:t>
            </a:r>
            <a:r>
              <a:rPr lang="en-US" altLang="ko-KR" sz="1600" dirty="0"/>
              <a:t>, </a:t>
            </a:r>
            <a:r>
              <a:rPr lang="ko-KR" altLang="en-US" sz="1600" dirty="0"/>
              <a:t>회로에 기억된 </a:t>
            </a:r>
            <a:r>
              <a:rPr lang="ko-KR" altLang="en-US" sz="1600" dirty="0" err="1"/>
              <a:t>상태값에</a:t>
            </a:r>
            <a:r>
              <a:rPr lang="ko-KR" altLang="en-US" sz="1600" dirty="0"/>
              <a:t> 의해 출력이 결정</a:t>
            </a:r>
          </a:p>
          <a:p>
            <a:pPr lvl="1">
              <a:lnSpc>
                <a:spcPct val="140000"/>
              </a:lnSpc>
            </a:pPr>
            <a:r>
              <a:rPr lang="ko-KR" altLang="en-US" sz="1600" dirty="0"/>
              <a:t>과거의 입력</a:t>
            </a:r>
            <a:r>
              <a:rPr lang="en-US" altLang="ko-KR" sz="1600" dirty="0"/>
              <a:t>, </a:t>
            </a:r>
            <a:r>
              <a:rPr lang="ko-KR" altLang="en-US" sz="1600" dirty="0"/>
              <a:t>현재의 </a:t>
            </a:r>
            <a:r>
              <a:rPr lang="ko-KR" altLang="en-US" sz="1600" dirty="0" err="1"/>
              <a:t>상태값을</a:t>
            </a:r>
            <a:r>
              <a:rPr lang="ko-KR" altLang="en-US" sz="1600" dirty="0"/>
              <a:t> 저장하는 저장소자</a:t>
            </a:r>
            <a:r>
              <a:rPr lang="en-US" altLang="ko-KR" sz="1600" dirty="0"/>
              <a:t>(</a:t>
            </a:r>
            <a:r>
              <a:rPr lang="ko-KR" altLang="en-US" sz="1600" dirty="0"/>
              <a:t>래치</a:t>
            </a:r>
            <a:r>
              <a:rPr lang="en-US" altLang="ko-KR" sz="1600" dirty="0"/>
              <a:t>,</a:t>
            </a:r>
            <a:r>
              <a:rPr lang="ko-KR" altLang="en-US" sz="1600" dirty="0"/>
              <a:t> 플립플롭</a:t>
            </a:r>
            <a:r>
              <a:rPr lang="en-US" altLang="ko-KR" sz="1600" dirty="0"/>
              <a:t>)</a:t>
            </a:r>
            <a:r>
              <a:rPr lang="ko-KR" altLang="en-US" sz="1600" dirty="0"/>
              <a:t>와 조합논리회로로 구성</a:t>
            </a:r>
          </a:p>
          <a:p>
            <a:pPr lvl="1">
              <a:lnSpc>
                <a:spcPct val="140000"/>
              </a:lnSpc>
            </a:pPr>
            <a:r>
              <a:rPr lang="ko-KR" altLang="en-US" sz="1600" dirty="0"/>
              <a:t>데이터 레지스터</a:t>
            </a:r>
            <a:r>
              <a:rPr lang="en-US" altLang="ko-KR" sz="1600" dirty="0"/>
              <a:t>, </a:t>
            </a:r>
            <a:r>
              <a:rPr lang="ko-KR" altLang="en-US" sz="1600" dirty="0"/>
              <a:t>시프트 레지스터</a:t>
            </a:r>
            <a:r>
              <a:rPr lang="en-US" altLang="ko-KR" sz="1600" dirty="0"/>
              <a:t>, </a:t>
            </a:r>
            <a:r>
              <a:rPr lang="ko-KR" altLang="en-US" sz="1600" dirty="0"/>
              <a:t>계수기</a:t>
            </a:r>
            <a:r>
              <a:rPr lang="en-US" altLang="ko-KR" sz="1600" dirty="0"/>
              <a:t>(counter), </a:t>
            </a:r>
            <a:r>
              <a:rPr lang="ko-KR" altLang="en-US" sz="1600" dirty="0"/>
              <a:t>직렬</a:t>
            </a:r>
            <a:r>
              <a:rPr lang="en-US" altLang="ko-KR" sz="1600" dirty="0"/>
              <a:t>/</a:t>
            </a:r>
            <a:r>
              <a:rPr lang="ko-KR" altLang="en-US" sz="1600" dirty="0"/>
              <a:t>병렬 변환기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유한상태머신</a:t>
            </a:r>
            <a:r>
              <a:rPr lang="en-US" altLang="ko-KR" sz="1600" dirty="0"/>
              <a:t>(Finite State Machine; FSM), </a:t>
            </a:r>
            <a:r>
              <a:rPr lang="ko-KR" altLang="en-US" sz="1600" dirty="0"/>
              <a:t>주파수 </a:t>
            </a:r>
            <a:r>
              <a:rPr lang="ko-KR" altLang="en-US" sz="1600" dirty="0" err="1"/>
              <a:t>분주기</a:t>
            </a:r>
            <a:r>
              <a:rPr lang="en-US" altLang="ko-KR" sz="1600" dirty="0"/>
              <a:t>, </a:t>
            </a:r>
            <a:r>
              <a:rPr lang="ko-KR" altLang="en-US" sz="1600" dirty="0"/>
              <a:t>펄스 발생기 등</a:t>
            </a:r>
          </a:p>
          <a:p>
            <a:pPr>
              <a:lnSpc>
                <a:spcPct val="140000"/>
              </a:lnSpc>
            </a:pPr>
            <a:r>
              <a:rPr lang="ko-KR" altLang="en-US" sz="1800" dirty="0" err="1"/>
              <a:t>래치와</a:t>
            </a:r>
            <a:r>
              <a:rPr lang="ko-KR" altLang="en-US" sz="1800" dirty="0"/>
              <a:t> 플립플롭</a:t>
            </a:r>
          </a:p>
          <a:p>
            <a:pPr lvl="1">
              <a:lnSpc>
                <a:spcPct val="140000"/>
              </a:lnSpc>
            </a:pPr>
            <a:r>
              <a:rPr lang="ko-KR" altLang="en-US" sz="1600" dirty="0"/>
              <a:t>래치 </a:t>
            </a:r>
            <a:r>
              <a:rPr lang="en-US" altLang="ko-KR" sz="1600" dirty="0"/>
              <a:t>(latch)</a:t>
            </a:r>
            <a:r>
              <a:rPr lang="ko-KR" altLang="en-US" sz="1600" dirty="0"/>
              <a:t> 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클록신호의</a:t>
            </a:r>
            <a:r>
              <a:rPr lang="ko-KR" altLang="en-US" sz="1600" dirty="0"/>
              <a:t> </a:t>
            </a:r>
            <a:r>
              <a:rPr lang="ko-KR" altLang="en-US" sz="1600" b="1" dirty="0"/>
              <a:t>레벨</a:t>
            </a:r>
            <a:r>
              <a:rPr lang="en-US" altLang="ko-KR" sz="1600" dirty="0"/>
              <a:t>(</a:t>
            </a:r>
            <a:r>
              <a:rPr lang="ko-KR" altLang="en-US" sz="1600" dirty="0"/>
              <a:t>즉</a:t>
            </a:r>
            <a:r>
              <a:rPr lang="en-US" altLang="ko-KR" sz="1600" dirty="0"/>
              <a:t>, 0 </a:t>
            </a:r>
            <a:r>
              <a:rPr lang="ko-KR" altLang="en-US" sz="1600" dirty="0"/>
              <a:t>또는 </a:t>
            </a:r>
            <a:r>
              <a:rPr lang="en-US" altLang="ko-KR" sz="1600" dirty="0"/>
              <a:t>1)</a:t>
            </a:r>
            <a:r>
              <a:rPr lang="ko-KR" altLang="en-US" sz="1600" dirty="0"/>
              <a:t>에 따라 동작하는 저장소자</a:t>
            </a:r>
          </a:p>
          <a:p>
            <a:pPr lvl="1">
              <a:lnSpc>
                <a:spcPct val="140000"/>
              </a:lnSpc>
            </a:pPr>
            <a:r>
              <a:rPr lang="ko-KR" altLang="en-US" sz="1600" dirty="0"/>
              <a:t>플립플롭 </a:t>
            </a:r>
            <a:r>
              <a:rPr lang="en-US" altLang="ko-KR" sz="1600" dirty="0"/>
              <a:t>(Flop-flop)</a:t>
            </a:r>
            <a:r>
              <a:rPr lang="ko-KR" altLang="en-US" sz="1600" dirty="0"/>
              <a:t> 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클록신호의</a:t>
            </a:r>
            <a:r>
              <a:rPr lang="ko-KR" altLang="en-US" sz="1600" dirty="0"/>
              <a:t> </a:t>
            </a:r>
            <a:r>
              <a:rPr lang="ko-KR" altLang="en-US" sz="1600" b="1" dirty="0"/>
              <a:t>상승 또는 </a:t>
            </a:r>
            <a:r>
              <a:rPr lang="ko-KR" altLang="en-US" sz="1600" b="1" dirty="0" err="1"/>
              <a:t>하강에지</a:t>
            </a:r>
            <a:r>
              <a:rPr lang="ko-KR" altLang="en-US" sz="1600" dirty="0" err="1"/>
              <a:t>에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동기되어</a:t>
            </a:r>
            <a:r>
              <a:rPr lang="ko-KR" altLang="en-US" sz="1600" dirty="0"/>
              <a:t> 동작하는 저장소자</a:t>
            </a:r>
          </a:p>
          <a:p>
            <a:pPr lvl="1">
              <a:lnSpc>
                <a:spcPct val="140000"/>
              </a:lnSpc>
            </a:pPr>
            <a:r>
              <a:rPr lang="en-US" altLang="ko-KR" sz="1600" dirty="0"/>
              <a:t>always </a:t>
            </a:r>
            <a:r>
              <a:rPr lang="ko-KR" altLang="en-US" sz="1600" dirty="0"/>
              <a:t>구문 내부에 </a:t>
            </a:r>
            <a:r>
              <a:rPr lang="en-US" altLang="ko-KR" sz="1600" dirty="0"/>
              <a:t>if </a:t>
            </a:r>
            <a:r>
              <a:rPr lang="ko-KR" altLang="en-US" sz="1600" dirty="0"/>
              <a:t>조건문을 이용하여 모델링</a:t>
            </a:r>
          </a:p>
          <a:p>
            <a:pPr>
              <a:lnSpc>
                <a:spcPct val="140000"/>
              </a:lnSpc>
            </a:pPr>
            <a:r>
              <a:rPr lang="ko-KR" altLang="en-US" sz="1800" dirty="0"/>
              <a:t>순차회로의 모델링</a:t>
            </a:r>
          </a:p>
          <a:p>
            <a:pPr lvl="1">
              <a:lnSpc>
                <a:spcPct val="140000"/>
              </a:lnSpc>
            </a:pPr>
            <a:r>
              <a:rPr lang="en-US" altLang="ko-KR" sz="1600" dirty="0"/>
              <a:t>always </a:t>
            </a:r>
            <a:r>
              <a:rPr lang="ko-KR" altLang="en-US" sz="1600" dirty="0"/>
              <a:t>블록을 이용한 행위수준 모델링</a:t>
            </a:r>
            <a:r>
              <a:rPr lang="en-US" altLang="ko-KR" sz="1600" dirty="0"/>
              <a:t>, </a:t>
            </a:r>
            <a:r>
              <a:rPr lang="ko-KR" altLang="en-US" sz="1600" dirty="0"/>
              <a:t>게이트 </a:t>
            </a:r>
            <a:r>
              <a:rPr lang="ko-KR" altLang="en-US" sz="1600" dirty="0" err="1"/>
              <a:t>프리미티브</a:t>
            </a:r>
            <a:r>
              <a:rPr lang="ko-KR" altLang="en-US" sz="1600" dirty="0"/>
              <a:t> 및 </a:t>
            </a:r>
            <a:r>
              <a:rPr lang="ko-KR" altLang="en-US" sz="1600" dirty="0" err="1"/>
              <a:t>하위모듈</a:t>
            </a:r>
            <a:r>
              <a:rPr lang="ko-KR" altLang="en-US" sz="1600" dirty="0"/>
              <a:t> 인스턴스</a:t>
            </a:r>
            <a:r>
              <a:rPr lang="en-US" altLang="ko-KR" sz="1600" dirty="0"/>
              <a:t>, </a:t>
            </a:r>
          </a:p>
          <a:p>
            <a:pPr marL="342900" lvl="1" indent="0">
              <a:lnSpc>
                <a:spcPct val="140000"/>
              </a:lnSpc>
              <a:buNone/>
            </a:pPr>
            <a:r>
              <a:rPr lang="en-US" altLang="ko-KR" sz="1600" dirty="0"/>
              <a:t>     </a:t>
            </a:r>
            <a:r>
              <a:rPr lang="ko-KR" altLang="en-US" sz="1600" dirty="0"/>
              <a:t>연속 </a:t>
            </a:r>
            <a:r>
              <a:rPr lang="ko-KR" altLang="en-US" sz="1600" dirty="0" err="1"/>
              <a:t>할당문</a:t>
            </a:r>
            <a:r>
              <a:rPr lang="ko-KR" altLang="en-US" sz="1600" dirty="0"/>
              <a:t> 등 다양한 </a:t>
            </a:r>
            <a:r>
              <a:rPr lang="en-US" altLang="ko-KR" sz="1600" dirty="0"/>
              <a:t>Verilog HDL </a:t>
            </a:r>
            <a:r>
              <a:rPr lang="ko-KR" altLang="en-US" sz="1600" dirty="0"/>
              <a:t>구문들이  사용됨</a:t>
            </a:r>
          </a:p>
          <a:p>
            <a:pPr lvl="1">
              <a:lnSpc>
                <a:spcPct val="140000"/>
              </a:lnSpc>
            </a:pPr>
            <a:r>
              <a:rPr lang="ko-KR" altLang="en-US" sz="1600" dirty="0"/>
              <a:t>할당문의 형태 </a:t>
            </a:r>
            <a:r>
              <a:rPr lang="en-US" altLang="ko-KR" sz="1600" dirty="0"/>
              <a:t>(nonblocking </a:t>
            </a:r>
            <a:r>
              <a:rPr lang="ko-KR" altLang="en-US" sz="1600" dirty="0"/>
              <a:t>또는 </a:t>
            </a:r>
            <a:r>
              <a:rPr lang="en-US" altLang="ko-KR" sz="1600" dirty="0"/>
              <a:t>blocking)</a:t>
            </a:r>
            <a:r>
              <a:rPr lang="ko-KR" altLang="en-US" sz="1600" dirty="0"/>
              <a:t>에 따라 회로의 동작과 구조가 달라짐</a:t>
            </a: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1276220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7D4461-2A9C-502A-8C5A-497121AE784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44617" y="281235"/>
            <a:ext cx="10515600" cy="620713"/>
          </a:xfrm>
        </p:spPr>
        <p:txBody>
          <a:bodyPr>
            <a:normAutofit fontScale="90000"/>
          </a:bodyPr>
          <a:lstStyle/>
          <a:p>
            <a:r>
              <a:rPr lang="en-CA" dirty="0"/>
              <a:t>D-Latch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4C5DDD-6B6B-C894-C791-1AC037B071D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37563" y="1095608"/>
            <a:ext cx="10515600" cy="5056188"/>
          </a:xfrm>
        </p:spPr>
        <p:txBody>
          <a:bodyPr/>
          <a:lstStyle/>
          <a:p>
            <a:r>
              <a:rPr lang="ko-KR" altLang="en-US" b="1" dirty="0" err="1"/>
              <a:t>클록</a:t>
            </a:r>
            <a:r>
              <a:rPr lang="ko-KR" altLang="en-US" b="1" dirty="0"/>
              <a:t> 신호의 레벨 </a:t>
            </a:r>
            <a:r>
              <a:rPr lang="en-US" altLang="ko-KR" b="1" dirty="0"/>
              <a:t>(0 </a:t>
            </a:r>
            <a:r>
              <a:rPr lang="ko-KR" altLang="en-US" b="1" dirty="0"/>
              <a:t>또는 </a:t>
            </a:r>
            <a:r>
              <a:rPr lang="en-US" altLang="ko-KR" b="1" dirty="0"/>
              <a:t>1)</a:t>
            </a:r>
            <a:r>
              <a:rPr lang="ko-KR" altLang="en-US" b="1" dirty="0"/>
              <a:t>에 따라 통과모드</a:t>
            </a:r>
            <a:r>
              <a:rPr lang="en-US" altLang="ko-KR" b="1" dirty="0"/>
              <a:t> </a:t>
            </a:r>
            <a:r>
              <a:rPr lang="ko-KR" altLang="en-US" b="1" dirty="0"/>
              <a:t>또는</a:t>
            </a:r>
            <a:r>
              <a:rPr lang="en-US" altLang="ko-KR" b="1" dirty="0"/>
              <a:t> </a:t>
            </a:r>
            <a:r>
              <a:rPr lang="ko-KR" altLang="en-US" b="1" dirty="0"/>
              <a:t>유지모드로</a:t>
            </a:r>
            <a:r>
              <a:rPr lang="en-US" altLang="ko-KR" b="1" dirty="0"/>
              <a:t> </a:t>
            </a:r>
            <a:r>
              <a:rPr lang="ko-KR" altLang="en-US" b="1" dirty="0"/>
              <a:t>동작</a:t>
            </a:r>
            <a:endParaRPr lang="en-US" altLang="ko-KR" b="1" dirty="0"/>
          </a:p>
          <a:p>
            <a:pPr lvl="1"/>
            <a:r>
              <a:rPr lang="ko-KR" altLang="en-US" sz="2000" dirty="0"/>
              <a:t>통과 </a:t>
            </a:r>
            <a:r>
              <a:rPr lang="en-US" altLang="ko-KR" sz="2000" dirty="0"/>
              <a:t>(transparent) </a:t>
            </a:r>
            <a:r>
              <a:rPr lang="ko-KR" altLang="en-US" sz="2000" dirty="0"/>
              <a:t>모드 </a:t>
            </a:r>
            <a:r>
              <a:rPr lang="en-US" altLang="ko-KR" sz="2000" dirty="0"/>
              <a:t>: </a:t>
            </a:r>
            <a:r>
              <a:rPr lang="ko-KR" altLang="en-US" sz="2000" dirty="0"/>
              <a:t>입력 </a:t>
            </a:r>
            <a:r>
              <a:rPr lang="en-US" altLang="ko-KR" sz="2000" dirty="0"/>
              <a:t>D</a:t>
            </a:r>
            <a:r>
              <a:rPr lang="ko-KR" altLang="en-US" sz="2000" dirty="0"/>
              <a:t>가 출력 </a:t>
            </a:r>
            <a:r>
              <a:rPr lang="en-US" altLang="ko-KR" sz="2000" dirty="0"/>
              <a:t>Q</a:t>
            </a:r>
            <a:r>
              <a:rPr lang="ko-KR" altLang="en-US" sz="2000" dirty="0"/>
              <a:t>로 통과됨</a:t>
            </a:r>
            <a:r>
              <a:rPr lang="en-US" altLang="ko-KR" sz="2000" dirty="0"/>
              <a:t>(Latch</a:t>
            </a:r>
            <a:r>
              <a:rPr lang="ko-KR" altLang="en-US" sz="2000" dirty="0"/>
              <a:t>가 </a:t>
            </a:r>
            <a:r>
              <a:rPr lang="ko-KR" altLang="en-US" sz="2000" dirty="0" err="1"/>
              <a:t>열려있음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2000" dirty="0"/>
              <a:t>유지 </a:t>
            </a:r>
            <a:r>
              <a:rPr lang="en-US" altLang="ko-KR" sz="2000" dirty="0"/>
              <a:t>(hold) </a:t>
            </a:r>
            <a:r>
              <a:rPr lang="ko-KR" altLang="en-US" sz="2000" dirty="0"/>
              <a:t>모드 </a:t>
            </a:r>
            <a:r>
              <a:rPr lang="en-US" altLang="ko-KR" sz="2000" dirty="0"/>
              <a:t>: </a:t>
            </a:r>
            <a:r>
              <a:rPr lang="ko-KR" altLang="en-US" sz="2000" dirty="0"/>
              <a:t>출력 </a:t>
            </a:r>
            <a:r>
              <a:rPr lang="en-US" altLang="ko-KR" sz="2000" dirty="0"/>
              <a:t>Q</a:t>
            </a:r>
            <a:r>
              <a:rPr lang="ko-KR" altLang="en-US" sz="2000" dirty="0"/>
              <a:t>의 값이 유지됨</a:t>
            </a:r>
            <a:r>
              <a:rPr lang="en-US" altLang="ko-KR" sz="2000" dirty="0"/>
              <a:t>(Latch</a:t>
            </a:r>
            <a:r>
              <a:rPr lang="ko-KR" altLang="en-US" sz="2000" dirty="0"/>
              <a:t>가 </a:t>
            </a:r>
            <a:r>
              <a:rPr lang="ko-KR" altLang="en-US" sz="2000" dirty="0" err="1"/>
              <a:t>닫혀있음</a:t>
            </a:r>
            <a:r>
              <a:rPr lang="en-US" altLang="ko-KR" sz="2000" dirty="0"/>
              <a:t>)</a:t>
            </a:r>
          </a:p>
          <a:p>
            <a:pPr lvl="1"/>
            <a:r>
              <a:rPr lang="en-US" altLang="ko-KR" sz="2000" dirty="0"/>
              <a:t>positive (level-sensitive) latch, negative (level-sensitive) latch</a:t>
            </a:r>
          </a:p>
          <a:p>
            <a:pPr lvl="1"/>
            <a:r>
              <a:rPr lang="en-US" altLang="ko-KR" sz="2000" dirty="0"/>
              <a:t>Latch</a:t>
            </a:r>
            <a:r>
              <a:rPr lang="ko-KR" altLang="en-US" sz="2000" dirty="0"/>
              <a:t>의 </a:t>
            </a:r>
            <a:r>
              <a:rPr lang="en-US" altLang="ko-KR" sz="2000" dirty="0"/>
              <a:t>Timing </a:t>
            </a:r>
            <a:r>
              <a:rPr lang="ko-KR" altLang="en-US" sz="2000" dirty="0"/>
              <a:t>문제 </a:t>
            </a:r>
            <a:r>
              <a:rPr lang="en-US" altLang="ko-KR" sz="2000" dirty="0"/>
              <a:t>: </a:t>
            </a:r>
            <a:r>
              <a:rPr lang="ko-KR" altLang="en-US" sz="2000" dirty="0"/>
              <a:t>통과모드에서 입력이 빠르게 변할 경우 출력이 불안정해 질 수 있음</a:t>
            </a:r>
            <a:endParaRPr lang="en-US" altLang="ko-KR" sz="2000" dirty="0"/>
          </a:p>
          <a:p>
            <a:endParaRPr lang="en-CA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D7B49EE-382F-47E8-8DCA-C863D044DC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8041" y="3945430"/>
            <a:ext cx="6768752" cy="240002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F297222-4112-4ED1-8D2A-CBE7B8F540FC}"/>
              </a:ext>
            </a:extLst>
          </p:cNvPr>
          <p:cNvSpPr/>
          <p:nvPr/>
        </p:nvSpPr>
        <p:spPr>
          <a:xfrm>
            <a:off x="5587068" y="3945429"/>
            <a:ext cx="508932" cy="1549359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AC11C3-CB8B-45CB-B56B-94BDC26FBDA4}"/>
              </a:ext>
            </a:extLst>
          </p:cNvPr>
          <p:cNvSpPr/>
          <p:nvPr/>
        </p:nvSpPr>
        <p:spPr>
          <a:xfrm>
            <a:off x="6365787" y="3945428"/>
            <a:ext cx="508932" cy="1549359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B31E69-159F-49EA-A768-7B4CBB471A8B}"/>
              </a:ext>
            </a:extLst>
          </p:cNvPr>
          <p:cNvSpPr/>
          <p:nvPr/>
        </p:nvSpPr>
        <p:spPr>
          <a:xfrm>
            <a:off x="7336930" y="3945428"/>
            <a:ext cx="508932" cy="1549359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90FF03-767E-4252-8B56-46D5CD9F745A}"/>
              </a:ext>
            </a:extLst>
          </p:cNvPr>
          <p:cNvSpPr/>
          <p:nvPr/>
        </p:nvSpPr>
        <p:spPr>
          <a:xfrm>
            <a:off x="8308073" y="3945428"/>
            <a:ext cx="508932" cy="1549359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758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6C62E-2FCB-AF4C-1A63-B7AED9D04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FD7F76-568D-B063-7CD7-3FA4196891C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289624"/>
            <a:ext cx="10515600" cy="620713"/>
          </a:xfrm>
        </p:spPr>
        <p:txBody>
          <a:bodyPr>
            <a:normAutofit fontScale="90000"/>
          </a:bodyPr>
          <a:lstStyle/>
          <a:p>
            <a:r>
              <a:rPr lang="en-CA" dirty="0"/>
              <a:t>D Flip-Flop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005B49-11DE-54ED-19E4-20231E2048E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1045274"/>
            <a:ext cx="10515600" cy="5056188"/>
          </a:xfrm>
        </p:spPr>
        <p:txBody>
          <a:bodyPr/>
          <a:lstStyle/>
          <a:p>
            <a:r>
              <a:rPr lang="ko-KR" altLang="en-US" b="1" dirty="0" err="1"/>
              <a:t>클록</a:t>
            </a:r>
            <a:r>
              <a:rPr lang="ko-KR" altLang="en-US" b="1" dirty="0"/>
              <a:t> 신호의 </a:t>
            </a:r>
            <a:r>
              <a:rPr lang="ko-KR" altLang="en-US" b="1" dirty="0" err="1"/>
              <a:t>엣지변화</a:t>
            </a:r>
            <a:r>
              <a:rPr lang="ko-KR" altLang="en-US" b="1" dirty="0"/>
              <a:t> </a:t>
            </a:r>
            <a:r>
              <a:rPr lang="en-US" altLang="ko-KR" b="1" dirty="0"/>
              <a:t>(transition edge)</a:t>
            </a:r>
            <a:r>
              <a:rPr lang="ko-KR" altLang="en-US" b="1" dirty="0"/>
              <a:t>에서 동작</a:t>
            </a:r>
            <a:endParaRPr lang="en-US" altLang="ko-KR" b="1" dirty="0"/>
          </a:p>
          <a:p>
            <a:pPr lvl="1"/>
            <a:r>
              <a:rPr lang="ko-KR" altLang="en-US" sz="2000" dirty="0"/>
              <a:t>한 </a:t>
            </a:r>
            <a:r>
              <a:rPr lang="ko-KR" altLang="en-US" sz="2000" dirty="0" err="1"/>
              <a:t>클록</a:t>
            </a:r>
            <a:r>
              <a:rPr lang="ko-KR" altLang="en-US" sz="2000" dirty="0"/>
              <a:t> 주기 동안 정보를 저장함</a:t>
            </a:r>
            <a:endParaRPr lang="en-US" altLang="ko-KR" sz="2000" dirty="0"/>
          </a:p>
          <a:p>
            <a:pPr lvl="1"/>
            <a:r>
              <a:rPr lang="en-US" altLang="ko-KR" sz="2000" dirty="0"/>
              <a:t>positive edge-triggered(0 → 1), negative edge-triggered(1 → 0)</a:t>
            </a:r>
          </a:p>
          <a:p>
            <a:pPr lvl="1"/>
            <a:r>
              <a:rPr lang="en-US" altLang="ko-KR" sz="2000" dirty="0"/>
              <a:t>always </a:t>
            </a:r>
            <a:r>
              <a:rPr lang="ko-KR" altLang="en-US" sz="2000" dirty="0"/>
              <a:t>블록의 감지신호목록</a:t>
            </a:r>
            <a:r>
              <a:rPr lang="en-US" altLang="ko-KR" sz="2000" dirty="0"/>
              <a:t>(sensitivity list)</a:t>
            </a:r>
            <a:r>
              <a:rPr lang="ko-KR" altLang="en-US" sz="2000" dirty="0"/>
              <a:t>에 </a:t>
            </a:r>
            <a:r>
              <a:rPr lang="ko-KR" altLang="en-US" sz="2000" dirty="0" err="1"/>
              <a:t>클록</a:t>
            </a:r>
            <a:r>
              <a:rPr lang="ko-KR" altLang="en-US" sz="2000" dirty="0"/>
              <a:t> 신호만 포함</a:t>
            </a:r>
            <a:endParaRPr lang="en-US" altLang="ko-KR" sz="2000" dirty="0"/>
          </a:p>
          <a:p>
            <a:pPr lvl="1"/>
            <a:r>
              <a:rPr lang="ko-KR" altLang="en-US" sz="2000" dirty="0" err="1"/>
              <a:t>클록신호의</a:t>
            </a:r>
            <a:r>
              <a:rPr lang="ko-KR" altLang="en-US" sz="2000" dirty="0"/>
              <a:t> 특정 </a:t>
            </a:r>
            <a:r>
              <a:rPr lang="en-US" altLang="ko-KR" sz="2000" dirty="0"/>
              <a:t>edge</a:t>
            </a:r>
            <a:r>
              <a:rPr lang="ko-KR" altLang="en-US" sz="2000" dirty="0"/>
              <a:t>에서만 입력을 받아들이기 때문에 </a:t>
            </a:r>
            <a:r>
              <a:rPr lang="en-US" altLang="ko-KR" sz="2000" dirty="0"/>
              <a:t>glitch</a:t>
            </a:r>
            <a:r>
              <a:rPr lang="ko-KR" altLang="en-US" sz="2000" dirty="0"/>
              <a:t>에 강하고 안정적인 동작을 보장 </a:t>
            </a:r>
            <a:r>
              <a:rPr lang="en-US" altLang="ko-KR" sz="2000" dirty="0"/>
              <a:t>→ </a:t>
            </a:r>
            <a:r>
              <a:rPr lang="ko-KR" altLang="en-US" sz="2000" dirty="0"/>
              <a:t>시스템</a:t>
            </a:r>
            <a:r>
              <a:rPr lang="en-US" altLang="ko-KR" sz="2000" dirty="0"/>
              <a:t> </a:t>
            </a:r>
            <a:r>
              <a:rPr lang="ko-KR" altLang="en-US" sz="2000" dirty="0"/>
              <a:t>타이밍 예측 용이</a:t>
            </a:r>
            <a:r>
              <a:rPr lang="en-US" altLang="ko-KR" sz="2000" dirty="0"/>
              <a:t>, </a:t>
            </a:r>
            <a:r>
              <a:rPr lang="ko-KR" altLang="en-US" sz="2000" dirty="0"/>
              <a:t>회로 안정성</a:t>
            </a:r>
            <a:endParaRPr lang="en-US" altLang="ko-KR" sz="2000" dirty="0"/>
          </a:p>
          <a:p>
            <a:endParaRPr lang="en-CA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8C150A-6F7C-A9B8-2CD3-43210AB52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403" y="3501137"/>
            <a:ext cx="7562850" cy="26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96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1314A-1B72-EBAF-27F9-1D1823CDB6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20117" y="356736"/>
            <a:ext cx="10515600" cy="620713"/>
          </a:xfrm>
        </p:spPr>
        <p:txBody>
          <a:bodyPr>
            <a:normAutofit fontScale="90000"/>
          </a:bodyPr>
          <a:lstStyle/>
          <a:p>
            <a:r>
              <a:rPr lang="en-US" dirty="0"/>
              <a:t>Comparison</a:t>
            </a:r>
            <a:r>
              <a:rPr lang="ko-KR" altLang="en-US" dirty="0"/>
              <a:t> </a:t>
            </a:r>
            <a:r>
              <a:rPr lang="en-US" altLang="ko-KR" dirty="0"/>
              <a:t>btw</a:t>
            </a:r>
            <a:r>
              <a:rPr lang="ko-KR" altLang="en-US" dirty="0"/>
              <a:t> </a:t>
            </a:r>
            <a:r>
              <a:rPr lang="en-US" altLang="ko-KR" dirty="0"/>
              <a:t>Latch and FF</a:t>
            </a:r>
            <a:endParaRPr lang="en-CA" dirty="0"/>
          </a:p>
        </p:txBody>
      </p:sp>
      <p:graphicFrame>
        <p:nvGraphicFramePr>
          <p:cNvPr id="6" name="내용 개체 틀 5">
            <a:extLst>
              <a:ext uri="{FF2B5EF4-FFF2-40B4-BE49-F238E27FC236}">
                <a16:creationId xmlns:a16="http://schemas.microsoft.com/office/drawing/2014/main" id="{AA52B928-53B0-5EF7-FE99-3D91405F763E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824011802"/>
              </p:ext>
            </p:extLst>
          </p:nvPr>
        </p:nvGraphicFramePr>
        <p:xfrm>
          <a:off x="827073" y="1185892"/>
          <a:ext cx="10355452" cy="4761904"/>
        </p:xfrm>
        <a:graphic>
          <a:graphicData uri="http://schemas.openxmlformats.org/drawingml/2006/table">
            <a:tbl>
              <a:tblPr firstRow="1" firstCol="1">
                <a:tableStyleId>{00A15C55-8517-42AA-B614-E9B94910E393}</a:tableStyleId>
              </a:tblPr>
              <a:tblGrid>
                <a:gridCol w="1839192">
                  <a:extLst>
                    <a:ext uri="{9D8B030D-6E8A-4147-A177-3AD203B41FA5}">
                      <a16:colId xmlns:a16="http://schemas.microsoft.com/office/drawing/2014/main" val="3878653595"/>
                    </a:ext>
                  </a:extLst>
                </a:gridCol>
                <a:gridCol w="3885537">
                  <a:extLst>
                    <a:ext uri="{9D8B030D-6E8A-4147-A177-3AD203B41FA5}">
                      <a16:colId xmlns:a16="http://schemas.microsoft.com/office/drawing/2014/main" val="1004845539"/>
                    </a:ext>
                  </a:extLst>
                </a:gridCol>
                <a:gridCol w="4630723">
                  <a:extLst>
                    <a:ext uri="{9D8B030D-6E8A-4147-A177-3AD203B41FA5}">
                      <a16:colId xmlns:a16="http://schemas.microsoft.com/office/drawing/2014/main" val="3566866997"/>
                    </a:ext>
                  </a:extLst>
                </a:gridCol>
              </a:tblGrid>
              <a:tr h="418832">
                <a:tc>
                  <a:txBody>
                    <a:bodyPr/>
                    <a:lstStyle/>
                    <a:p>
                      <a:pPr algn="ctr" fontAlgn="t"/>
                      <a:r>
                        <a:rPr lang="ko-KR" altLang="en-US" sz="2400" b="1" u="none" strike="noStrike" dirty="0">
                          <a:effectLst/>
                        </a:rPr>
                        <a:t>특성</a:t>
                      </a:r>
                      <a:endParaRPr lang="ko-KR" alt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ko-KR" altLang="en-US" sz="2400" b="1" u="none" strike="noStrike" dirty="0">
                          <a:effectLst/>
                        </a:rPr>
                        <a:t>래치</a:t>
                      </a:r>
                      <a:endParaRPr lang="ko-KR" alt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ko-KR" altLang="en-US" sz="2400" b="1" u="none" strike="noStrike" dirty="0" err="1">
                          <a:effectLst/>
                        </a:rPr>
                        <a:t>플립플롭</a:t>
                      </a:r>
                      <a:endParaRPr lang="ko-KR" alt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090085"/>
                  </a:ext>
                </a:extLst>
              </a:tr>
              <a:tr h="51224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u="none" strike="noStrike" dirty="0" err="1">
                          <a:effectLst/>
                        </a:rPr>
                        <a:t>클록</a:t>
                      </a:r>
                      <a:r>
                        <a:rPr lang="ko-KR" altLang="en-US" sz="2000" u="none" strike="noStrike" dirty="0">
                          <a:effectLst/>
                        </a:rPr>
                        <a:t> </a:t>
                      </a:r>
                      <a:r>
                        <a:rPr lang="ko-KR" altLang="en-US" sz="2000" u="none" strike="noStrike" dirty="0" err="1">
                          <a:effectLst/>
                        </a:rPr>
                        <a:t>감응성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 dirty="0">
                          <a:effectLst/>
                        </a:rPr>
                        <a:t>레벨에 반응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>
                          <a:effectLst/>
                        </a:rPr>
                        <a:t>에지에 반응</a:t>
                      </a:r>
                      <a:endParaRPr lang="ko-KR" altLang="en-US" sz="2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269064393"/>
                  </a:ext>
                </a:extLst>
              </a:tr>
              <a:tr h="51224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u="none" strike="noStrike" dirty="0">
                          <a:effectLst/>
                        </a:rPr>
                        <a:t>데이터 변경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 dirty="0" err="1">
                          <a:effectLst/>
                        </a:rPr>
                        <a:t>클록</a:t>
                      </a:r>
                      <a:r>
                        <a:rPr lang="ko-KR" altLang="en-US" sz="2000" u="none" strike="noStrike" dirty="0">
                          <a:effectLst/>
                        </a:rPr>
                        <a:t> 활성 레벨 동안 지속적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>
                          <a:effectLst/>
                        </a:rPr>
                        <a:t>클록 에지에서만</a:t>
                      </a:r>
                      <a:endParaRPr lang="ko-KR" altLang="en-US" sz="2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865860184"/>
                  </a:ext>
                </a:extLst>
              </a:tr>
              <a:tr h="35021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u="none" strike="noStrike" dirty="0">
                          <a:effectLst/>
                        </a:rPr>
                        <a:t>안정성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 dirty="0" err="1">
                          <a:effectLst/>
                        </a:rPr>
                        <a:t>글리치에</a:t>
                      </a:r>
                      <a:r>
                        <a:rPr lang="ko-KR" altLang="en-US" sz="2000" u="none" strike="noStrike" dirty="0">
                          <a:effectLst/>
                        </a:rPr>
                        <a:t> 취약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>
                          <a:effectLst/>
                        </a:rPr>
                        <a:t>글리치에 강함</a:t>
                      </a:r>
                      <a:endParaRPr lang="ko-KR" altLang="en-US" sz="2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4962643"/>
                  </a:ext>
                </a:extLst>
              </a:tr>
              <a:tr h="51224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u="none" strike="noStrike" dirty="0">
                          <a:effectLst/>
                        </a:rPr>
                        <a:t>동기화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 dirty="0">
                          <a:effectLst/>
                        </a:rPr>
                        <a:t>비동기 동작 가능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>
                          <a:effectLst/>
                        </a:rPr>
                        <a:t>주로 동기식 시스템에서 사용</a:t>
                      </a:r>
                      <a:endParaRPr lang="ko-KR" altLang="en-US" sz="20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76295301"/>
                  </a:ext>
                </a:extLst>
              </a:tr>
              <a:tr h="693289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u="none" strike="noStrike" dirty="0">
                          <a:effectLst/>
                        </a:rPr>
                        <a:t>회로 복잡성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 dirty="0">
                          <a:effectLst/>
                        </a:rPr>
                        <a:t>상대적으로 단순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 dirty="0">
                          <a:effectLst/>
                        </a:rPr>
                        <a:t>더 복잡 </a:t>
                      </a:r>
                      <a:r>
                        <a:rPr lang="en-US" altLang="ko-KR" sz="2000" u="none" strike="noStrike" dirty="0">
                          <a:effectLst/>
                        </a:rPr>
                        <a:t>(</a:t>
                      </a:r>
                      <a:r>
                        <a:rPr lang="ko-KR" altLang="en-US" sz="2000" u="none" strike="noStrike" dirty="0">
                          <a:effectLst/>
                        </a:rPr>
                        <a:t>일반적으로 두 개의 </a:t>
                      </a:r>
                      <a:r>
                        <a:rPr lang="ko-KR" altLang="en-US" sz="2000" u="none" strike="noStrike" dirty="0" err="1">
                          <a:effectLst/>
                        </a:rPr>
                        <a:t>래치로</a:t>
                      </a:r>
                      <a:r>
                        <a:rPr lang="ko-KR" altLang="en-US" sz="2000" u="none" strike="noStrike" dirty="0">
                          <a:effectLst/>
                        </a:rPr>
                        <a:t> 구성</a:t>
                      </a:r>
                      <a:r>
                        <a:rPr lang="en-US" altLang="ko-KR" sz="2000" u="none" strike="noStrike" dirty="0">
                          <a:effectLst/>
                        </a:rPr>
                        <a:t>)</a:t>
                      </a:r>
                      <a:endParaRPr lang="en-US" altLang="ko-KR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91343729"/>
                  </a:ext>
                </a:extLst>
              </a:tr>
              <a:tr h="35021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u="none" strike="noStrike" dirty="0">
                          <a:effectLst/>
                        </a:rPr>
                        <a:t>전력 소비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 dirty="0">
                          <a:effectLst/>
                        </a:rPr>
                        <a:t>상대적으로 낮음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 dirty="0">
                          <a:effectLst/>
                        </a:rPr>
                        <a:t>상대적으로 높음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13816002"/>
                  </a:ext>
                </a:extLst>
              </a:tr>
              <a:tr h="693289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u="none" strike="noStrike" dirty="0">
                          <a:effectLst/>
                        </a:rPr>
                        <a:t>주요 응용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 dirty="0">
                          <a:effectLst/>
                        </a:rPr>
                        <a:t>간단한 저장</a:t>
                      </a:r>
                      <a:r>
                        <a:rPr lang="en-US" altLang="ko-KR" sz="2000" u="none" strike="noStrike" dirty="0">
                          <a:effectLst/>
                        </a:rPr>
                        <a:t>, </a:t>
                      </a:r>
                      <a:r>
                        <a:rPr lang="ko-KR" altLang="en-US" sz="2000" u="none" strike="noStrike" dirty="0">
                          <a:effectLst/>
                        </a:rPr>
                        <a:t>비동기 시스템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2000" u="none" strike="noStrike" dirty="0">
                          <a:effectLst/>
                        </a:rPr>
                        <a:t>동기식 디지털 시스템</a:t>
                      </a:r>
                      <a:r>
                        <a:rPr lang="en-US" altLang="ko-KR" sz="2000" u="none" strike="noStrike" dirty="0">
                          <a:effectLst/>
                        </a:rPr>
                        <a:t>, </a:t>
                      </a:r>
                      <a:r>
                        <a:rPr lang="ko-KR" altLang="en-US" sz="2000" u="none" strike="noStrike" dirty="0">
                          <a:effectLst/>
                        </a:rPr>
                        <a:t>레지스터</a:t>
                      </a:r>
                      <a:r>
                        <a:rPr lang="en-US" altLang="ko-KR" sz="2000" u="none" strike="noStrike" dirty="0">
                          <a:effectLst/>
                        </a:rPr>
                        <a:t>, </a:t>
                      </a:r>
                      <a:r>
                        <a:rPr lang="ko-KR" altLang="en-US" sz="2000" u="none" strike="noStrike" dirty="0">
                          <a:effectLst/>
                        </a:rPr>
                        <a:t>카운터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582689924"/>
                  </a:ext>
                </a:extLst>
              </a:tr>
              <a:tr h="719323">
                <a:tc>
                  <a:txBody>
                    <a:bodyPr/>
                    <a:lstStyle/>
                    <a:p>
                      <a:pPr algn="ctr" fontAlgn="ctr"/>
                      <a:r>
                        <a:rPr lang="en-CA" sz="2000" u="none" strike="noStrike" dirty="0">
                          <a:effectLst/>
                        </a:rPr>
                        <a:t>Verilog </a:t>
                      </a:r>
                      <a:r>
                        <a:rPr lang="ko-KR" altLang="en-US" sz="2000" u="none" strike="noStrike" dirty="0">
                          <a:effectLst/>
                        </a:rPr>
                        <a:t>모델링</a:t>
                      </a:r>
                      <a:endParaRPr lang="ko-KR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CA" sz="2000" u="none" strike="noStrike" dirty="0">
                          <a:effectLst/>
                        </a:rPr>
                        <a:t>always @(*) </a:t>
                      </a:r>
                      <a:r>
                        <a:rPr lang="ko-KR" altLang="en-US" sz="2000" u="none" strike="noStrike" dirty="0">
                          <a:effectLst/>
                        </a:rPr>
                        <a:t>또는 </a:t>
                      </a:r>
                      <a:r>
                        <a:rPr lang="en-CA" sz="2000" u="none" strike="noStrike" dirty="0">
                          <a:effectLst/>
                        </a:rPr>
                        <a:t>always @(CLK)</a:t>
                      </a:r>
                      <a:endParaRPr lang="en-CA" sz="20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CA" sz="2000" u="none" strike="noStrike" dirty="0">
                          <a:effectLst/>
                        </a:rPr>
                        <a:t>always @(posedge CLK) </a:t>
                      </a:r>
                      <a:r>
                        <a:rPr lang="ko-KR" altLang="en-US" sz="2000" u="none" strike="noStrike" dirty="0">
                          <a:effectLst/>
                        </a:rPr>
                        <a:t>또는 </a:t>
                      </a:r>
                      <a:r>
                        <a:rPr lang="en-CA" sz="2000" u="none" strike="noStrike" dirty="0">
                          <a:effectLst/>
                        </a:rPr>
                        <a:t>always @(negedge CLK)</a:t>
                      </a:r>
                      <a:endParaRPr lang="en-CA" sz="20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178101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9760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E0A52-0F1E-F6F2-4817-2B28DEAB3C9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09001"/>
            <a:ext cx="10515600" cy="620713"/>
          </a:xfrm>
        </p:spPr>
        <p:txBody>
          <a:bodyPr>
            <a:normAutofit/>
          </a:bodyPr>
          <a:lstStyle/>
          <a:p>
            <a:r>
              <a:rPr lang="en-US" sz="3200" dirty="0"/>
              <a:t>LAB1</a:t>
            </a:r>
            <a:r>
              <a:rPr lang="ko-KR" altLang="en-US" sz="3200" dirty="0"/>
              <a:t> </a:t>
            </a:r>
            <a:r>
              <a:rPr lang="en-US" altLang="ko-KR" sz="3200" dirty="0"/>
              <a:t>:</a:t>
            </a:r>
            <a:r>
              <a:rPr lang="ko-KR" altLang="en-US" sz="3200" dirty="0"/>
              <a:t> </a:t>
            </a:r>
            <a:r>
              <a:rPr lang="en-US" altLang="ko-KR" sz="3200" dirty="0"/>
              <a:t>D-Latch Specification</a:t>
            </a:r>
            <a:endParaRPr lang="en-CA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A50167-0218-4523-88DE-AE01ED506338}"/>
              </a:ext>
            </a:extLst>
          </p:cNvPr>
          <p:cNvSpPr txBox="1"/>
          <p:nvPr/>
        </p:nvSpPr>
        <p:spPr>
          <a:xfrm>
            <a:off x="5100506" y="3105833"/>
            <a:ext cx="151001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4-bit </a:t>
            </a:r>
          </a:p>
          <a:p>
            <a:r>
              <a:rPr lang="en-US" dirty="0"/>
              <a:t>Comparator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35F7DE-8AAA-4756-8705-7BF5BC17E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40" y="2326370"/>
            <a:ext cx="9448800" cy="200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7286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E0A52-0F1E-F6F2-4817-2B28DEAB3C9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09001"/>
            <a:ext cx="10515600" cy="620713"/>
          </a:xfrm>
        </p:spPr>
        <p:txBody>
          <a:bodyPr>
            <a:normAutofit/>
          </a:bodyPr>
          <a:lstStyle/>
          <a:p>
            <a:r>
              <a:rPr lang="en-US" sz="3200" dirty="0"/>
              <a:t>LAB2</a:t>
            </a:r>
            <a:r>
              <a:rPr lang="ko-KR" altLang="en-US" sz="3200" dirty="0"/>
              <a:t> </a:t>
            </a:r>
            <a:r>
              <a:rPr lang="en-US" altLang="ko-KR" sz="3200" dirty="0"/>
              <a:t>:</a:t>
            </a:r>
            <a:r>
              <a:rPr lang="ko-KR" altLang="en-US" sz="3200" dirty="0"/>
              <a:t> </a:t>
            </a:r>
            <a:r>
              <a:rPr lang="en-US" altLang="ko-KR" sz="3200" dirty="0"/>
              <a:t>D Flip Flop Specification</a:t>
            </a:r>
            <a:endParaRPr lang="en-CA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7B61A5-AEC7-4A74-B1BC-63D62F956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348" y="2576512"/>
            <a:ext cx="2800350" cy="1704975"/>
          </a:xfrm>
          <a:prstGeom prst="rect">
            <a:avLst/>
          </a:prstGeom>
        </p:spPr>
      </p:pic>
      <p:pic>
        <p:nvPicPr>
          <p:cNvPr id="1028" name="Picture 4" descr="D flip-flop timing diagram">
            <a:extLst>
              <a:ext uri="{FF2B5EF4-FFF2-40B4-BE49-F238E27FC236}">
                <a16:creationId xmlns:a16="http://schemas.microsoft.com/office/drawing/2014/main" id="{96EE0C86-AF53-4B55-8C01-BCEE1F906D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772" y="1850822"/>
            <a:ext cx="47625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9065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3D2A5D-7D2F-4C4F-BAD8-7DE349F6A6F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40000" lnSpcReduction="2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974EA-E266-46E5-B93E-1A12E099C41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10000" y="4961780"/>
            <a:ext cx="7688263" cy="500352"/>
          </a:xfrm>
        </p:spPr>
        <p:txBody>
          <a:bodyPr/>
          <a:lstStyle/>
          <a:p>
            <a:r>
              <a:rPr lang="en-US" dirty="0"/>
              <a:t>2. Counter</a:t>
            </a:r>
          </a:p>
        </p:txBody>
      </p:sp>
    </p:spTree>
    <p:extLst>
      <p:ext uri="{BB962C8B-B14F-4D97-AF65-F5344CB8AC3E}">
        <p14:creationId xmlns:p14="http://schemas.microsoft.com/office/powerpoint/2010/main" val="734149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86600-F60E-E469-7F48-1BE790B92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3AE9D1-6E29-65CF-650A-589376B598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70680"/>
            <a:ext cx="10515600" cy="620713"/>
          </a:xfrm>
        </p:spPr>
        <p:txBody>
          <a:bodyPr>
            <a:normAutofit fontScale="90000"/>
          </a:bodyPr>
          <a:lstStyle/>
          <a:p>
            <a:r>
              <a:rPr lang="en-CA" dirty="0"/>
              <a:t>Counter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34F494-61F3-63BB-C350-1D21196C2728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71120" y="1145942"/>
            <a:ext cx="10515600" cy="5056188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30000"/>
              </a:lnSpc>
            </a:pPr>
            <a:r>
              <a:rPr lang="ko-KR" altLang="en-US" dirty="0"/>
              <a:t>계수기</a:t>
            </a:r>
            <a:r>
              <a:rPr lang="en-US" altLang="ko-KR" dirty="0"/>
              <a:t>(counter)</a:t>
            </a:r>
          </a:p>
          <a:p>
            <a:pPr lvl="1">
              <a:lnSpc>
                <a:spcPct val="130000"/>
              </a:lnSpc>
            </a:pPr>
            <a:r>
              <a:rPr lang="ko-KR" altLang="en-US" dirty="0" err="1"/>
              <a:t>클록</a:t>
            </a:r>
            <a:r>
              <a:rPr lang="ko-KR" altLang="en-US" dirty="0"/>
              <a:t> 펄스가 인가될 때마다 값이 증가 또는 감소되는 회로</a:t>
            </a:r>
          </a:p>
          <a:p>
            <a:pPr lvl="1">
              <a:lnSpc>
                <a:spcPct val="130000"/>
              </a:lnSpc>
            </a:pPr>
            <a:r>
              <a:rPr lang="ko-KR" altLang="en-US" dirty="0"/>
              <a:t>주파수 </a:t>
            </a:r>
            <a:r>
              <a:rPr lang="ko-KR" altLang="en-US" dirty="0" err="1"/>
              <a:t>분주기</a:t>
            </a:r>
            <a:r>
              <a:rPr lang="en-US" altLang="ko-KR" dirty="0"/>
              <a:t>, </a:t>
            </a:r>
            <a:r>
              <a:rPr lang="ko-KR" altLang="en-US" dirty="0"/>
              <a:t>타이밍 및 제어 신호 생성 등 디지털 회로 설계에 폭넓게 사용</a:t>
            </a:r>
            <a:endParaRPr lang="en-US" altLang="ko-KR" dirty="0"/>
          </a:p>
          <a:p>
            <a:pPr lvl="1">
              <a:lnSpc>
                <a:spcPct val="130000"/>
              </a:lnSpc>
            </a:pPr>
            <a:endParaRPr lang="ko-KR" altLang="en-US" sz="300" dirty="0"/>
          </a:p>
          <a:p>
            <a:pPr marL="342900" lvl="1" indent="0">
              <a:lnSpc>
                <a:spcPct val="130000"/>
              </a:lnSpc>
              <a:buNone/>
            </a:pPr>
            <a:r>
              <a:rPr kumimoji="1" lang="ko-KR" altLang="en-US" sz="1600" b="1" dirty="0">
                <a:gradFill>
                  <a:gsLst>
                    <a:gs pos="0">
                      <a:srgbClr val="0066CC"/>
                    </a:gs>
                    <a:gs pos="100000">
                      <a:srgbClr val="0066CC"/>
                    </a:gs>
                  </a:gsLst>
                  <a:lin ang="5400000" scaled="0"/>
                </a:gradFill>
              </a:rPr>
              <a:t>동기식 계수기</a:t>
            </a:r>
          </a:p>
          <a:p>
            <a:pPr lvl="2">
              <a:lnSpc>
                <a:spcPct val="130000"/>
              </a:lnSpc>
            </a:pPr>
            <a:r>
              <a:rPr lang="ko-KR" altLang="en-US" dirty="0"/>
              <a:t>모든 </a:t>
            </a:r>
            <a:r>
              <a:rPr lang="ko-KR" altLang="en-US" dirty="0" err="1"/>
              <a:t>플립플롭이</a:t>
            </a:r>
            <a:r>
              <a:rPr lang="ko-KR" altLang="en-US" dirty="0"/>
              <a:t> </a:t>
            </a:r>
            <a:r>
              <a:rPr lang="ko-KR" altLang="en-US" b="1" dirty="0"/>
              <a:t>하나의 공통 </a:t>
            </a:r>
            <a:r>
              <a:rPr lang="ko-KR" altLang="en-US" b="1" dirty="0" err="1"/>
              <a:t>클록신호</a:t>
            </a:r>
            <a:r>
              <a:rPr lang="ko-KR" altLang="en-US" dirty="0" err="1"/>
              <a:t>에</a:t>
            </a:r>
            <a:r>
              <a:rPr lang="ko-KR" altLang="en-US" dirty="0"/>
              <a:t> 의해 구동되며</a:t>
            </a:r>
            <a:r>
              <a:rPr lang="en-US" altLang="ko-KR" dirty="0"/>
              <a:t>, </a:t>
            </a:r>
            <a:r>
              <a:rPr lang="ko-KR" altLang="en-US" dirty="0"/>
              <a:t>모든 </a:t>
            </a:r>
            <a:r>
              <a:rPr lang="ko-KR" altLang="en-US" dirty="0" err="1"/>
              <a:t>플립플롭의</a:t>
            </a:r>
            <a:r>
              <a:rPr lang="ko-KR" altLang="en-US" dirty="0"/>
              <a:t> 상태변경이 동시에 </a:t>
            </a:r>
            <a:r>
              <a:rPr lang="ko-KR" altLang="en-US" dirty="0" err="1"/>
              <a:t>일어남</a:t>
            </a:r>
            <a:r>
              <a:rPr lang="ko-KR" altLang="en-US" dirty="0"/>
              <a:t> </a:t>
            </a:r>
          </a:p>
          <a:p>
            <a:pPr lvl="2">
              <a:lnSpc>
                <a:spcPct val="130000"/>
              </a:lnSpc>
            </a:pPr>
            <a:r>
              <a:rPr lang="ko-KR" altLang="en-US" dirty="0"/>
              <a:t>장점 </a:t>
            </a:r>
            <a:r>
              <a:rPr lang="en-US" altLang="ko-KR" dirty="0"/>
              <a:t>: </a:t>
            </a:r>
            <a:r>
              <a:rPr lang="ko-KR" altLang="en-US" dirty="0"/>
              <a:t>설계와 검증이 용이하며</a:t>
            </a:r>
            <a:r>
              <a:rPr lang="en-US" altLang="ko-KR" dirty="0"/>
              <a:t>, </a:t>
            </a:r>
            <a:r>
              <a:rPr lang="ko-KR" altLang="en-US" dirty="0"/>
              <a:t>계수 속도가 빠름</a:t>
            </a:r>
          </a:p>
          <a:p>
            <a:pPr lvl="2">
              <a:lnSpc>
                <a:spcPct val="130000"/>
              </a:lnSpc>
            </a:pPr>
            <a:r>
              <a:rPr lang="ko-KR" altLang="en-US" dirty="0"/>
              <a:t>단점 </a:t>
            </a:r>
            <a:r>
              <a:rPr lang="en-US" altLang="ko-KR" dirty="0"/>
              <a:t>: </a:t>
            </a:r>
            <a:r>
              <a:rPr lang="ko-KR" altLang="en-US" dirty="0"/>
              <a:t>비동기식 카운터에 비하여 회로가 복잡함</a:t>
            </a:r>
          </a:p>
          <a:p>
            <a:pPr marL="342900" lvl="1" indent="0">
              <a:lnSpc>
                <a:spcPct val="130000"/>
              </a:lnSpc>
              <a:buNone/>
            </a:pPr>
            <a:r>
              <a:rPr kumimoji="1" lang="ko-KR" altLang="en-US" sz="1600" b="1" dirty="0">
                <a:gradFill>
                  <a:gsLst>
                    <a:gs pos="0">
                      <a:srgbClr val="0066CC"/>
                    </a:gs>
                    <a:gs pos="100000">
                      <a:srgbClr val="0066CC"/>
                    </a:gs>
                  </a:gsLst>
                  <a:lin ang="5400000" scaled="0"/>
                </a:gradFill>
              </a:rPr>
              <a:t>비동기식 계수기</a:t>
            </a:r>
          </a:p>
          <a:p>
            <a:pPr lvl="2">
              <a:lnSpc>
                <a:spcPct val="130000"/>
              </a:lnSpc>
            </a:pPr>
            <a:r>
              <a:rPr lang="ko-KR" altLang="en-US" dirty="0" err="1"/>
              <a:t>첫단의</a:t>
            </a:r>
            <a:r>
              <a:rPr lang="ko-KR" altLang="en-US" dirty="0"/>
              <a:t> </a:t>
            </a:r>
            <a:r>
              <a:rPr lang="ko-KR" altLang="en-US" dirty="0" err="1"/>
              <a:t>플립플롭에</a:t>
            </a:r>
            <a:r>
              <a:rPr lang="ko-KR" altLang="en-US" dirty="0"/>
              <a:t> </a:t>
            </a:r>
            <a:r>
              <a:rPr lang="ko-KR" altLang="en-US" dirty="0" err="1"/>
              <a:t>클록신호가</a:t>
            </a:r>
            <a:r>
              <a:rPr lang="ko-KR" altLang="en-US" dirty="0"/>
              <a:t> 인가되면</a:t>
            </a:r>
            <a:r>
              <a:rPr lang="en-US" altLang="ko-KR" dirty="0"/>
              <a:t>, </a:t>
            </a:r>
            <a:r>
              <a:rPr lang="ko-KR" altLang="en-US" dirty="0" err="1"/>
              <a:t>플립플롭의</a:t>
            </a:r>
            <a:r>
              <a:rPr lang="ko-KR" altLang="en-US" dirty="0"/>
              <a:t> 출력이 다음 단의 </a:t>
            </a:r>
            <a:r>
              <a:rPr lang="ko-KR" altLang="en-US" dirty="0" err="1"/>
              <a:t>플립플롭을</a:t>
            </a:r>
            <a:r>
              <a:rPr lang="ko-KR" altLang="en-US" dirty="0"/>
              <a:t> 트리거시키는 방식으로 동작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리플 계수기</a:t>
            </a:r>
            <a:r>
              <a:rPr lang="en-US" altLang="ko-KR" dirty="0"/>
              <a:t>(ripple counter)</a:t>
            </a:r>
            <a:r>
              <a:rPr lang="ko-KR" altLang="en-US" dirty="0"/>
              <a:t>라고도 함</a:t>
            </a:r>
          </a:p>
          <a:p>
            <a:pPr lvl="2">
              <a:lnSpc>
                <a:spcPct val="130000"/>
              </a:lnSpc>
            </a:pPr>
            <a:r>
              <a:rPr lang="ko-KR" altLang="en-US" dirty="0"/>
              <a:t>장점 </a:t>
            </a:r>
            <a:r>
              <a:rPr lang="en-US" altLang="ko-KR" dirty="0"/>
              <a:t>: </a:t>
            </a:r>
            <a:r>
              <a:rPr lang="ko-KR" altLang="en-US" dirty="0"/>
              <a:t>동기식 계수기에 비해 회로가 단순해짐</a:t>
            </a:r>
          </a:p>
          <a:p>
            <a:pPr lvl="2">
              <a:lnSpc>
                <a:spcPct val="130000"/>
              </a:lnSpc>
            </a:pPr>
            <a:r>
              <a:rPr lang="ko-KR" altLang="en-US" dirty="0"/>
              <a:t>단점 </a:t>
            </a:r>
            <a:r>
              <a:rPr lang="en-US" altLang="ko-KR" dirty="0"/>
              <a:t>: </a:t>
            </a:r>
            <a:r>
              <a:rPr lang="ko-KR" altLang="en-US" dirty="0"/>
              <a:t>각 </a:t>
            </a:r>
            <a:r>
              <a:rPr lang="ko-KR" altLang="en-US" dirty="0" err="1"/>
              <a:t>플립플롭의</a:t>
            </a:r>
            <a:r>
              <a:rPr lang="ko-KR" altLang="en-US" dirty="0"/>
              <a:t> 전파 지연이 누적되어 최종단의 출력까지 전파되어 속도가 느림 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89645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D96DCF-2D2E-A208-F1C2-C287A84DA2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21468"/>
            <a:ext cx="10515600" cy="620713"/>
          </a:xfrm>
        </p:spPr>
        <p:txBody>
          <a:bodyPr>
            <a:normAutofit fontScale="90000"/>
          </a:bodyPr>
          <a:lstStyle/>
          <a:p>
            <a:r>
              <a:rPr lang="en-CA" dirty="0"/>
              <a:t>Counter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365AED-91B5-840C-C6DC-DE48E368121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69011" y="1380890"/>
            <a:ext cx="4960938" cy="5056187"/>
          </a:xfrm>
        </p:spPr>
        <p:txBody>
          <a:bodyPr>
            <a:normAutofit/>
          </a:bodyPr>
          <a:lstStyle/>
          <a:p>
            <a:r>
              <a:rPr lang="en-US" altLang="ko-KR" sz="2000" dirty="0">
                <a:latin typeface="+mn-ea"/>
              </a:rPr>
              <a:t>SoC </a:t>
            </a:r>
            <a:r>
              <a:rPr lang="ko-KR" altLang="en-US" sz="2000" dirty="0">
                <a:latin typeface="+mn-ea"/>
              </a:rPr>
              <a:t>주변장치에서의 활용</a:t>
            </a:r>
            <a:endParaRPr lang="en-CA" altLang="ko-KR" sz="2000" dirty="0">
              <a:latin typeface="+mn-ea"/>
            </a:endParaRPr>
          </a:p>
          <a:p>
            <a:pPr lvl="1">
              <a:buFont typeface="+mj-lt"/>
              <a:buAutoNum type="arabicPeriod"/>
            </a:pPr>
            <a:r>
              <a:rPr lang="ko-KR" altLang="en-US" sz="2000" b="0" i="0" dirty="0">
                <a:effectLst/>
                <a:latin typeface="+mn-ea"/>
              </a:rPr>
              <a:t>주파수 분주</a:t>
            </a:r>
            <a:r>
              <a:rPr lang="en-US" altLang="ko-KR" sz="2000" b="0" i="0" dirty="0">
                <a:effectLst/>
                <a:latin typeface="+mn-ea"/>
              </a:rPr>
              <a:t>: </a:t>
            </a:r>
            <a:r>
              <a:rPr lang="ko-KR" altLang="en-US" sz="2000" b="0" i="0" dirty="0">
                <a:effectLst/>
                <a:latin typeface="+mn-ea"/>
              </a:rPr>
              <a:t>높은 주파수의 </a:t>
            </a:r>
            <a:r>
              <a:rPr lang="ko-KR" altLang="en-US" sz="2000" b="0" i="0" dirty="0" err="1">
                <a:effectLst/>
                <a:latin typeface="+mn-ea"/>
              </a:rPr>
              <a:t>클록</a:t>
            </a:r>
            <a:r>
              <a:rPr lang="ko-KR" altLang="en-US" sz="2000" b="0" i="0" dirty="0">
                <a:effectLst/>
                <a:latin typeface="+mn-ea"/>
              </a:rPr>
              <a:t> 신호를 낮은 주파수로 나누는 데 사용</a:t>
            </a:r>
            <a:endParaRPr lang="en-US" altLang="ko-KR" sz="2000" b="0" i="0" dirty="0">
              <a:effectLst/>
              <a:latin typeface="+mn-ea"/>
            </a:endParaRPr>
          </a:p>
          <a:p>
            <a:pPr lvl="1">
              <a:buFont typeface="+mj-lt"/>
              <a:buAutoNum type="arabicPeriod"/>
            </a:pPr>
            <a:endParaRPr lang="en-US" altLang="ko-KR" sz="2000" b="0" i="0" dirty="0">
              <a:effectLst/>
              <a:latin typeface="+mn-ea"/>
            </a:endParaRPr>
          </a:p>
          <a:p>
            <a:pPr lvl="1">
              <a:buFont typeface="+mj-lt"/>
              <a:buAutoNum type="arabicPeriod"/>
            </a:pPr>
            <a:r>
              <a:rPr lang="ko-KR" altLang="en-US" sz="2000" b="0" i="0" dirty="0">
                <a:effectLst/>
                <a:latin typeface="+mn-ea"/>
              </a:rPr>
              <a:t>타이밍 생성</a:t>
            </a:r>
            <a:r>
              <a:rPr lang="en-US" altLang="ko-KR" sz="2000" b="0" i="0" dirty="0">
                <a:effectLst/>
                <a:latin typeface="+mn-ea"/>
              </a:rPr>
              <a:t>: </a:t>
            </a:r>
            <a:r>
              <a:rPr lang="ko-KR" altLang="en-US" sz="2000" b="0" i="0" dirty="0">
                <a:effectLst/>
                <a:latin typeface="+mn-ea"/>
              </a:rPr>
              <a:t>특정 시간 간격으로 이벤트를 </a:t>
            </a:r>
            <a:r>
              <a:rPr lang="ko-KR" altLang="en-US" sz="2000" b="0" i="0" dirty="0" err="1">
                <a:effectLst/>
                <a:latin typeface="+mn-ea"/>
              </a:rPr>
              <a:t>트리거하는</a:t>
            </a:r>
            <a:r>
              <a:rPr lang="ko-KR" altLang="en-US" sz="2000" b="0" i="0" dirty="0">
                <a:effectLst/>
                <a:latin typeface="+mn-ea"/>
              </a:rPr>
              <a:t> 데 사용</a:t>
            </a:r>
            <a:endParaRPr lang="en-US" altLang="ko-KR" sz="2000" b="0" i="0" dirty="0">
              <a:effectLst/>
              <a:latin typeface="+mn-ea"/>
            </a:endParaRPr>
          </a:p>
          <a:p>
            <a:pPr lvl="1">
              <a:buFont typeface="+mj-lt"/>
              <a:buAutoNum type="arabicPeriod"/>
            </a:pPr>
            <a:endParaRPr lang="en-US" altLang="ko-KR" sz="2000" b="0" i="0" dirty="0">
              <a:effectLst/>
              <a:latin typeface="+mn-ea"/>
            </a:endParaRPr>
          </a:p>
          <a:p>
            <a:pPr lvl="1">
              <a:buFont typeface="+mj-lt"/>
              <a:buAutoNum type="arabicPeriod"/>
            </a:pPr>
            <a:r>
              <a:rPr lang="ko-KR" altLang="en-US" sz="2000" b="0" i="0" dirty="0">
                <a:effectLst/>
                <a:latin typeface="+mn-ea"/>
              </a:rPr>
              <a:t>제어 신호 생성</a:t>
            </a:r>
            <a:r>
              <a:rPr lang="en-US" altLang="ko-KR" sz="2000" b="0" i="0" dirty="0">
                <a:effectLst/>
                <a:latin typeface="+mn-ea"/>
              </a:rPr>
              <a:t>: </a:t>
            </a:r>
            <a:r>
              <a:rPr lang="ko-KR" altLang="en-US" sz="2000" b="0" i="0" dirty="0">
                <a:effectLst/>
                <a:latin typeface="+mn-ea"/>
              </a:rPr>
              <a:t>다른 주변장치나 모듈을 제어하기 위한 신호를 생성</a:t>
            </a:r>
            <a:endParaRPr lang="en-US" altLang="ko-KR" sz="2000" b="0" i="0" dirty="0">
              <a:effectLst/>
              <a:latin typeface="+mn-ea"/>
            </a:endParaRPr>
          </a:p>
          <a:p>
            <a:pPr lvl="1">
              <a:buFont typeface="+mj-lt"/>
              <a:buAutoNum type="arabicPeriod"/>
            </a:pPr>
            <a:endParaRPr lang="en-US" altLang="ko-KR" sz="2000" b="0" i="0" dirty="0">
              <a:effectLst/>
              <a:latin typeface="+mn-ea"/>
            </a:endParaRPr>
          </a:p>
          <a:p>
            <a:pPr lvl="1">
              <a:buFont typeface="+mj-lt"/>
              <a:buAutoNum type="arabicPeriod"/>
            </a:pPr>
            <a:r>
              <a:rPr lang="ko-KR" altLang="en-US" sz="2000" b="0" i="0" dirty="0">
                <a:effectLst/>
                <a:latin typeface="+mn-ea"/>
              </a:rPr>
              <a:t>이벤트 </a:t>
            </a:r>
            <a:r>
              <a:rPr lang="ko-KR" altLang="en-US" sz="2000" b="0" i="0" dirty="0" err="1">
                <a:effectLst/>
                <a:latin typeface="+mn-ea"/>
              </a:rPr>
              <a:t>카운팅</a:t>
            </a:r>
            <a:r>
              <a:rPr lang="en-US" altLang="ko-KR" sz="2000" b="0" i="0" dirty="0">
                <a:effectLst/>
                <a:latin typeface="+mn-ea"/>
              </a:rPr>
              <a:t>: </a:t>
            </a:r>
            <a:r>
              <a:rPr lang="ko-KR" altLang="en-US" sz="2000" b="0" i="0" dirty="0">
                <a:effectLst/>
                <a:latin typeface="+mn-ea"/>
              </a:rPr>
              <a:t>특정 이벤트의 발생 횟수를 세는 데 사용</a:t>
            </a:r>
            <a:endParaRPr lang="en-US" altLang="ko-KR" sz="2000" b="0" i="0" dirty="0">
              <a:effectLst/>
              <a:latin typeface="+mn-ea"/>
            </a:endParaRPr>
          </a:p>
          <a:p>
            <a:endParaRPr lang="en-CA" sz="2000" dirty="0">
              <a:latin typeface="+mn-ea"/>
            </a:endParaRPr>
          </a:p>
        </p:txBody>
      </p:sp>
      <p:pic>
        <p:nvPicPr>
          <p:cNvPr id="3075" name="Picture 3" descr="Embed With Elliot: Shifting Gears With AVR Microcontrollers ...">
            <a:extLst>
              <a:ext uri="{FF2B5EF4-FFF2-40B4-BE49-F238E27FC236}">
                <a16:creationId xmlns:a16="http://schemas.microsoft.com/office/drawing/2014/main" id="{7FBCE8DE-F759-E1C0-F57E-17D9B58E1C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399" y="1266726"/>
            <a:ext cx="6299058" cy="4815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2E97E01B-9D9B-2D70-406E-FC1B5B3E1CF4}"/>
              </a:ext>
            </a:extLst>
          </p:cNvPr>
          <p:cNvSpPr/>
          <p:nvPr/>
        </p:nvSpPr>
        <p:spPr>
          <a:xfrm>
            <a:off x="7173241" y="4304383"/>
            <a:ext cx="508964" cy="460671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400" dirty="0"/>
              <a:t>1</a:t>
            </a:r>
            <a:endParaRPr lang="en-CA" dirty="0"/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43B5860A-6E39-C2C9-43D1-F0AA482218B9}"/>
              </a:ext>
            </a:extLst>
          </p:cNvPr>
          <p:cNvSpPr/>
          <p:nvPr/>
        </p:nvSpPr>
        <p:spPr>
          <a:xfrm>
            <a:off x="7049283" y="3352298"/>
            <a:ext cx="508964" cy="460671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400" dirty="0"/>
              <a:t>2</a:t>
            </a:r>
            <a:endParaRPr lang="en-CA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B02C6210-DD48-AEB8-432C-6376F2146383}"/>
              </a:ext>
            </a:extLst>
          </p:cNvPr>
          <p:cNvSpPr/>
          <p:nvPr/>
        </p:nvSpPr>
        <p:spPr>
          <a:xfrm>
            <a:off x="6436121" y="2657795"/>
            <a:ext cx="508964" cy="460671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400" dirty="0"/>
              <a:t>3</a:t>
            </a:r>
            <a:endParaRPr lang="en-C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F3D6A2-3BB0-B092-BCE2-331C525FB381}"/>
              </a:ext>
            </a:extLst>
          </p:cNvPr>
          <p:cNvSpPr txBox="1"/>
          <p:nvPr/>
        </p:nvSpPr>
        <p:spPr>
          <a:xfrm>
            <a:off x="7173241" y="986118"/>
            <a:ext cx="25026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0" i="0" dirty="0">
                <a:effectLst/>
                <a:latin typeface="+mn-ea"/>
              </a:rPr>
              <a:t>주파수 </a:t>
            </a:r>
            <a:r>
              <a:rPr lang="ko-KR" altLang="en-US" sz="1800" b="0" i="0" dirty="0" err="1">
                <a:effectLst/>
                <a:latin typeface="+mn-ea"/>
              </a:rPr>
              <a:t>분주기</a:t>
            </a:r>
            <a:r>
              <a:rPr lang="en-CA" altLang="ko-KR" sz="1800" b="0" i="0" dirty="0">
                <a:effectLst/>
                <a:latin typeface="+mn-ea"/>
              </a:rPr>
              <a:t> </a:t>
            </a:r>
            <a:r>
              <a:rPr lang="ko-KR" altLang="en-US" sz="1800" b="0" i="0" dirty="0">
                <a:effectLst/>
                <a:latin typeface="+mn-ea"/>
              </a:rPr>
              <a:t>사용 예</a:t>
            </a: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C7921A-2D2F-4260-B3B7-5451D62010B1}"/>
              </a:ext>
            </a:extLst>
          </p:cNvPr>
          <p:cNvSpPr/>
          <p:nvPr/>
        </p:nvSpPr>
        <p:spPr>
          <a:xfrm>
            <a:off x="7348756" y="2894202"/>
            <a:ext cx="1772375" cy="1568741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6904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E0A52-0F1E-F6F2-4817-2B28DEAB3C9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09001"/>
            <a:ext cx="10515600" cy="620713"/>
          </a:xfrm>
        </p:spPr>
        <p:txBody>
          <a:bodyPr>
            <a:normAutofit/>
          </a:bodyPr>
          <a:lstStyle/>
          <a:p>
            <a:r>
              <a:rPr lang="en-US" sz="3200" dirty="0"/>
              <a:t>LAB</a:t>
            </a:r>
            <a:r>
              <a:rPr lang="ko-KR" altLang="en-US" sz="3200" dirty="0"/>
              <a:t> </a:t>
            </a:r>
            <a:r>
              <a:rPr lang="en-US" altLang="ko-KR" sz="3200" dirty="0"/>
              <a:t>:</a:t>
            </a:r>
            <a:r>
              <a:rPr lang="ko-KR" altLang="en-US" sz="3200" dirty="0"/>
              <a:t> </a:t>
            </a:r>
            <a:r>
              <a:rPr lang="en-US" altLang="ko-KR" sz="3200" dirty="0"/>
              <a:t>Counter Specification</a:t>
            </a:r>
            <a:endParaRPr lang="en-CA" sz="3200" dirty="0"/>
          </a:p>
        </p:txBody>
      </p:sp>
      <p:sp>
        <p:nvSpPr>
          <p:cNvPr id="5" name="내용 개체 틀 6">
            <a:extLst>
              <a:ext uri="{FF2B5EF4-FFF2-40B4-BE49-F238E27FC236}">
                <a16:creationId xmlns:a16="http://schemas.microsoft.com/office/drawing/2014/main" id="{5413BF0E-4FDA-463E-BCDF-D3553AA89B35}"/>
              </a:ext>
            </a:extLst>
          </p:cNvPr>
          <p:cNvSpPr txBox="1">
            <a:spLocks/>
          </p:cNvSpPr>
          <p:nvPr/>
        </p:nvSpPr>
        <p:spPr>
          <a:xfrm>
            <a:off x="838200" y="1120588"/>
            <a:ext cx="6398623" cy="50563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latin typeface="+mn-ea"/>
              </a:rPr>
              <a:t>frequency</a:t>
            </a:r>
            <a:r>
              <a:rPr lang="ko-KR" altLang="en-US" sz="2400" dirty="0">
                <a:latin typeface="+mn-ea"/>
              </a:rPr>
              <a:t> </a:t>
            </a:r>
            <a:r>
              <a:rPr lang="en-CA" altLang="ko-KR" sz="2400" dirty="0">
                <a:latin typeface="+mn-ea"/>
              </a:rPr>
              <a:t>1/10 </a:t>
            </a:r>
            <a:r>
              <a:rPr lang="en-US" altLang="ko-KR" sz="2400" dirty="0">
                <a:latin typeface="+mn-ea"/>
              </a:rPr>
              <a:t>pre-scaler</a:t>
            </a:r>
            <a:r>
              <a:rPr lang="ko-KR" altLang="en-US" sz="2400" dirty="0">
                <a:latin typeface="+mn-ea"/>
              </a:rPr>
              <a:t> </a:t>
            </a:r>
            <a:r>
              <a:rPr lang="en-CA" altLang="ko-KR" sz="2400" dirty="0">
                <a:latin typeface="+mn-ea"/>
              </a:rPr>
              <a:t>, duty 50%</a:t>
            </a:r>
            <a:endParaRPr lang="en-CA" sz="2400" dirty="0"/>
          </a:p>
          <a:p>
            <a:endParaRPr lang="en-CA" dirty="0"/>
          </a:p>
        </p:txBody>
      </p:sp>
      <p:pic>
        <p:nvPicPr>
          <p:cNvPr id="6" name="Picture 2" descr="2.4 PWM (Pulse Width Modulation) : 네이버 블로그">
            <a:extLst>
              <a:ext uri="{FF2B5EF4-FFF2-40B4-BE49-F238E27FC236}">
                <a16:creationId xmlns:a16="http://schemas.microsoft.com/office/drawing/2014/main" id="{3EA79E9F-F684-450D-8B90-D59DE5DFB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6055" y="1678382"/>
            <a:ext cx="4000500" cy="1819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11">
            <a:extLst>
              <a:ext uri="{FF2B5EF4-FFF2-40B4-BE49-F238E27FC236}">
                <a16:creationId xmlns:a16="http://schemas.microsoft.com/office/drawing/2014/main" id="{1F562FAC-C225-470B-BB40-5D8AB8ECD2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2166" y="3688531"/>
            <a:ext cx="6786625" cy="12161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2F5BBFF-36D2-40FB-953B-8019EF54D5D5}"/>
              </a:ext>
            </a:extLst>
          </p:cNvPr>
          <p:cNvSpPr txBox="1"/>
          <p:nvPr/>
        </p:nvSpPr>
        <p:spPr>
          <a:xfrm>
            <a:off x="4941116" y="5263818"/>
            <a:ext cx="24663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주파수 </a:t>
            </a:r>
            <a:r>
              <a:rPr lang="ko-KR" altLang="en-US" sz="1200" dirty="0" err="1"/>
              <a:t>분주기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409969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3D2A5D-7D2F-4C4F-BAD8-7DE349F6A6F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40000" lnSpcReduction="2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974EA-E266-46E5-B93E-1A12E099C41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10000" y="4961780"/>
            <a:ext cx="7688263" cy="500352"/>
          </a:xfrm>
        </p:spPr>
        <p:txBody>
          <a:bodyPr/>
          <a:lstStyle/>
          <a:p>
            <a:r>
              <a:rPr lang="en-US" dirty="0"/>
              <a:t>3. Shift Register</a:t>
            </a:r>
          </a:p>
        </p:txBody>
      </p:sp>
    </p:spTree>
    <p:extLst>
      <p:ext uri="{BB962C8B-B14F-4D97-AF65-F5344CB8AC3E}">
        <p14:creationId xmlns:p14="http://schemas.microsoft.com/office/powerpoint/2010/main" val="273344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AEE9B-96EB-41A1-1A7F-09CBFBDFD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976BA-A643-1DB1-00F5-4E2393E4D4E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96286" y="306402"/>
            <a:ext cx="10515600" cy="620713"/>
          </a:xfrm>
        </p:spPr>
        <p:txBody>
          <a:bodyPr>
            <a:normAutofit fontScale="90000"/>
          </a:bodyPr>
          <a:lstStyle/>
          <a:p>
            <a:r>
              <a:rPr lang="en-CA" dirty="0"/>
              <a:t>Shift Register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CF9AE0-EB96-772E-CE20-C8C2893A974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29174" y="1213054"/>
            <a:ext cx="10515600" cy="5056188"/>
          </a:xfrm>
        </p:spPr>
        <p:txBody>
          <a:bodyPr/>
          <a:lstStyle/>
          <a:p>
            <a:r>
              <a:rPr lang="en-US" altLang="ko-KR" dirty="0"/>
              <a:t>Shift</a:t>
            </a:r>
            <a:r>
              <a:rPr lang="ko-KR" altLang="en-US" dirty="0"/>
              <a:t> </a:t>
            </a:r>
            <a:r>
              <a:rPr lang="en-US" altLang="ko-KR" dirty="0"/>
              <a:t>Register</a:t>
            </a:r>
            <a:endParaRPr lang="ko-KR" altLang="en-US" dirty="0"/>
          </a:p>
          <a:p>
            <a:pPr lvl="1" indent="-306388"/>
            <a:r>
              <a:rPr lang="ko-KR" altLang="en-US" sz="2000" dirty="0" err="1">
                <a:solidFill>
                  <a:srgbClr val="000000"/>
                </a:solidFill>
              </a:rPr>
              <a:t>클록신호가</a:t>
            </a:r>
            <a:r>
              <a:rPr lang="ko-KR" altLang="en-US" sz="2000" dirty="0">
                <a:solidFill>
                  <a:srgbClr val="000000"/>
                </a:solidFill>
              </a:rPr>
              <a:t> 인가될 때마다 저장된 </a:t>
            </a:r>
            <a:r>
              <a:rPr lang="ko-KR" altLang="en-US" sz="2000" dirty="0" err="1">
                <a:solidFill>
                  <a:srgbClr val="000000"/>
                </a:solidFill>
              </a:rPr>
              <a:t>플립플롭에</a:t>
            </a:r>
            <a:r>
              <a:rPr lang="ko-KR" altLang="en-US" sz="2000" dirty="0">
                <a:solidFill>
                  <a:srgbClr val="000000"/>
                </a:solidFill>
              </a:rPr>
              <a:t> 저장된 데이터가 왼쪽 또는 오른쪽으로 이동되는 회로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1" indent="-306388"/>
            <a:endParaRPr lang="ko-KR" altLang="en-US" sz="2000" dirty="0">
              <a:solidFill>
                <a:srgbClr val="000000"/>
              </a:solidFill>
            </a:endParaRPr>
          </a:p>
          <a:p>
            <a:pPr lvl="1" indent="-306388"/>
            <a:r>
              <a:rPr lang="ko-KR" altLang="en-US" sz="2000" dirty="0">
                <a:solidFill>
                  <a:srgbClr val="000000"/>
                </a:solidFill>
              </a:rPr>
              <a:t>여러 개의 </a:t>
            </a:r>
            <a:r>
              <a:rPr lang="ko-KR" altLang="en-US" sz="2000" dirty="0" err="1">
                <a:solidFill>
                  <a:srgbClr val="000000"/>
                </a:solidFill>
              </a:rPr>
              <a:t>플립플롭이</a:t>
            </a:r>
            <a:r>
              <a:rPr lang="ko-KR" altLang="en-US" sz="2000" dirty="0">
                <a:solidFill>
                  <a:srgbClr val="000000"/>
                </a:solidFill>
              </a:rPr>
              <a:t> 직렬로 연결된 구조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1" indent="-306388"/>
            <a:endParaRPr lang="ko-KR" altLang="en-US" sz="2000" dirty="0">
              <a:solidFill>
                <a:srgbClr val="000000"/>
              </a:solidFill>
            </a:endParaRPr>
          </a:p>
          <a:p>
            <a:pPr lvl="1" indent="-306388"/>
            <a:r>
              <a:rPr lang="ko-KR" altLang="en-US" sz="2000" dirty="0">
                <a:solidFill>
                  <a:srgbClr val="000000"/>
                </a:solidFill>
              </a:rPr>
              <a:t>형태</a:t>
            </a:r>
          </a:p>
          <a:p>
            <a:pPr lvl="2"/>
            <a:r>
              <a:rPr lang="ko-KR" altLang="en-US" dirty="0" err="1"/>
              <a:t>직렬입력－직렬출력</a:t>
            </a:r>
            <a:r>
              <a:rPr lang="ko-KR" altLang="en-US" dirty="0"/>
              <a:t> </a:t>
            </a:r>
            <a:r>
              <a:rPr lang="en-US" altLang="ko-KR" dirty="0"/>
              <a:t>(Serial-In, Serial-Out)</a:t>
            </a:r>
          </a:p>
          <a:p>
            <a:pPr lvl="2"/>
            <a:r>
              <a:rPr lang="ko-KR" altLang="en-US" dirty="0" err="1"/>
              <a:t>직렬입력－병렬출력</a:t>
            </a:r>
            <a:r>
              <a:rPr lang="ko-KR" altLang="en-US" dirty="0"/>
              <a:t> </a:t>
            </a:r>
            <a:r>
              <a:rPr lang="en-US" altLang="ko-KR" dirty="0"/>
              <a:t>(Serial-In, Parallel-Out)</a:t>
            </a:r>
          </a:p>
          <a:p>
            <a:pPr lvl="2"/>
            <a:r>
              <a:rPr lang="ko-KR" altLang="en-US" dirty="0" err="1"/>
              <a:t>병렬입력－직렬출력</a:t>
            </a:r>
            <a:r>
              <a:rPr lang="ko-KR" altLang="en-US" dirty="0"/>
              <a:t> </a:t>
            </a:r>
            <a:r>
              <a:rPr lang="en-US" altLang="ko-KR" dirty="0"/>
              <a:t>(Parallel-In, Serial-Out)</a:t>
            </a:r>
          </a:p>
          <a:p>
            <a:pPr lvl="2"/>
            <a:r>
              <a:rPr lang="ko-KR" altLang="en-US" dirty="0" err="1"/>
              <a:t>병렬입력－병렬출력</a:t>
            </a:r>
            <a:r>
              <a:rPr lang="ko-KR" altLang="en-US" dirty="0"/>
              <a:t> </a:t>
            </a:r>
            <a:r>
              <a:rPr lang="en-US" altLang="ko-KR" dirty="0"/>
              <a:t>(Parallel-In, Parallel-Out) </a:t>
            </a:r>
          </a:p>
          <a:p>
            <a:pPr lvl="2"/>
            <a:r>
              <a:rPr lang="ko-KR" altLang="en-US" dirty="0"/>
              <a:t>왼쪽 시프트</a:t>
            </a:r>
            <a:r>
              <a:rPr lang="en-US" altLang="ko-KR" dirty="0"/>
              <a:t>, </a:t>
            </a:r>
            <a:r>
              <a:rPr lang="ko-KR" altLang="en-US" dirty="0"/>
              <a:t>오른쪽 시프트</a:t>
            </a:r>
            <a:r>
              <a:rPr lang="en-US" altLang="ko-KR" dirty="0"/>
              <a:t>, </a:t>
            </a:r>
            <a:r>
              <a:rPr lang="ko-KR" altLang="en-US" dirty="0"/>
              <a:t>양방향 시프트</a:t>
            </a:r>
            <a:endParaRPr lang="en-US" altLang="ko-KR" dirty="0"/>
          </a:p>
          <a:p>
            <a:pPr lvl="2"/>
            <a:endParaRPr lang="ko-KR" altLang="en-US" dirty="0"/>
          </a:p>
          <a:p>
            <a:pPr lvl="1" indent="-306388"/>
            <a:r>
              <a:rPr lang="ko-KR" altLang="en-US" sz="2000" dirty="0">
                <a:solidFill>
                  <a:srgbClr val="000000"/>
                </a:solidFill>
              </a:rPr>
              <a:t> </a:t>
            </a:r>
            <a:r>
              <a:rPr lang="en-US" altLang="ko-KR" sz="2000" dirty="0">
                <a:solidFill>
                  <a:srgbClr val="000000"/>
                </a:solidFill>
              </a:rPr>
              <a:t>nonblocking </a:t>
            </a:r>
            <a:r>
              <a:rPr lang="ko-KR" altLang="en-US" sz="2000" dirty="0" err="1">
                <a:solidFill>
                  <a:srgbClr val="000000"/>
                </a:solidFill>
              </a:rPr>
              <a:t>할당문</a:t>
            </a:r>
            <a:r>
              <a:rPr lang="en-US" altLang="ko-KR" sz="2000" dirty="0">
                <a:solidFill>
                  <a:srgbClr val="000000"/>
                </a:solidFill>
              </a:rPr>
              <a:t>, </a:t>
            </a:r>
            <a:r>
              <a:rPr lang="ko-KR" altLang="en-US" sz="2000" dirty="0">
                <a:solidFill>
                  <a:srgbClr val="000000"/>
                </a:solidFill>
              </a:rPr>
              <a:t>시프트 연산자</a:t>
            </a:r>
            <a:r>
              <a:rPr lang="en-US" altLang="ko-KR" sz="2000" dirty="0">
                <a:solidFill>
                  <a:srgbClr val="000000"/>
                </a:solidFill>
              </a:rPr>
              <a:t>, </a:t>
            </a:r>
            <a:r>
              <a:rPr lang="ko-KR" altLang="en-US" sz="2000" dirty="0">
                <a:solidFill>
                  <a:srgbClr val="000000"/>
                </a:solidFill>
              </a:rPr>
              <a:t>결합 연산자</a:t>
            </a:r>
            <a:r>
              <a:rPr lang="en-US" altLang="ko-KR" sz="2000" dirty="0">
                <a:solidFill>
                  <a:srgbClr val="000000"/>
                </a:solidFill>
              </a:rPr>
              <a:t>, </a:t>
            </a:r>
            <a:r>
              <a:rPr lang="ko-KR" altLang="en-US" sz="2000" dirty="0" err="1">
                <a:solidFill>
                  <a:srgbClr val="000000"/>
                </a:solidFill>
              </a:rPr>
              <a:t>반복문</a:t>
            </a:r>
            <a:r>
              <a:rPr lang="ko-KR" altLang="en-US" sz="2000" dirty="0">
                <a:solidFill>
                  <a:srgbClr val="000000"/>
                </a:solidFill>
              </a:rPr>
              <a:t> 등으로 모델링</a:t>
            </a:r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4005769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B71929-2ED0-2EC4-A166-A1B5F1BF8B9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639536"/>
            <a:ext cx="11233150" cy="654050"/>
          </a:xfrm>
        </p:spPr>
        <p:txBody>
          <a:bodyPr>
            <a:noAutofit/>
          </a:bodyPr>
          <a:lstStyle/>
          <a:p>
            <a:r>
              <a:rPr lang="en-US" altLang="ko-KR" sz="3200" dirty="0"/>
              <a:t>SoC </a:t>
            </a:r>
            <a:r>
              <a:rPr lang="ko-KR" altLang="en-US" sz="3200" dirty="0"/>
              <a:t>기본 순차논리 </a:t>
            </a:r>
            <a:r>
              <a:rPr lang="en-CA" altLang="ko-KR" sz="3200" dirty="0"/>
              <a:t>- </a:t>
            </a:r>
            <a:r>
              <a:rPr lang="ko-KR" altLang="en-US" sz="3200" dirty="0"/>
              <a:t>시프트 레지스터</a:t>
            </a:r>
            <a:endParaRPr lang="en-CA" sz="3200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DF25F06B-E189-7224-BBE2-1E5678308D05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425345420"/>
              </p:ext>
            </p:extLst>
          </p:nvPr>
        </p:nvGraphicFramePr>
        <p:xfrm>
          <a:off x="685800" y="1808389"/>
          <a:ext cx="10928349" cy="3432713"/>
        </p:xfrm>
        <a:graphic>
          <a:graphicData uri="http://schemas.openxmlformats.org/drawingml/2006/table">
            <a:tbl>
              <a:tblPr firstRow="1" firstCol="1">
                <a:tableStyleId>{00A15C55-8517-42AA-B614-E9B94910E393}</a:tableStyleId>
              </a:tblPr>
              <a:tblGrid>
                <a:gridCol w="1137881">
                  <a:extLst>
                    <a:ext uri="{9D8B030D-6E8A-4147-A177-3AD203B41FA5}">
                      <a16:colId xmlns:a16="http://schemas.microsoft.com/office/drawing/2014/main" val="3036663565"/>
                    </a:ext>
                  </a:extLst>
                </a:gridCol>
                <a:gridCol w="4450702">
                  <a:extLst>
                    <a:ext uri="{9D8B030D-6E8A-4147-A177-3AD203B41FA5}">
                      <a16:colId xmlns:a16="http://schemas.microsoft.com/office/drawing/2014/main" val="3025337975"/>
                    </a:ext>
                  </a:extLst>
                </a:gridCol>
                <a:gridCol w="5339766">
                  <a:extLst>
                    <a:ext uri="{9D8B030D-6E8A-4147-A177-3AD203B41FA5}">
                      <a16:colId xmlns:a16="http://schemas.microsoft.com/office/drawing/2014/main" val="2488404346"/>
                    </a:ext>
                  </a:extLst>
                </a:gridCol>
              </a:tblGrid>
              <a:tr h="400435">
                <a:tc>
                  <a:txBody>
                    <a:bodyPr/>
                    <a:lstStyle/>
                    <a:p>
                      <a:pPr algn="ctr" fontAlgn="t" latinLnBrk="0"/>
                      <a:r>
                        <a:rPr lang="ko-KR" altLang="en-US" sz="2400" b="1" dirty="0">
                          <a:effectLst/>
                        </a:rPr>
                        <a:t>기능</a:t>
                      </a:r>
                      <a:endParaRPr lang="ko-KR" altLang="en-US" sz="24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4973" marR="74973" marT="37487" marB="37487"/>
                </a:tc>
                <a:tc>
                  <a:txBody>
                    <a:bodyPr/>
                    <a:lstStyle/>
                    <a:p>
                      <a:pPr algn="ctr" fontAlgn="t" latinLnBrk="0"/>
                      <a:r>
                        <a:rPr lang="ko-KR" altLang="en-US" sz="2400" b="1" dirty="0">
                          <a:effectLst/>
                        </a:rPr>
                        <a:t>설명</a:t>
                      </a:r>
                      <a:endParaRPr lang="ko-KR" altLang="en-US" sz="24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4973" marR="74973" marT="37487" marB="37487"/>
                </a:tc>
                <a:tc>
                  <a:txBody>
                    <a:bodyPr/>
                    <a:lstStyle/>
                    <a:p>
                      <a:pPr algn="ctr" fontAlgn="t" latinLnBrk="0"/>
                      <a:r>
                        <a:rPr lang="ko-KR" altLang="en-US" sz="2400" b="1" dirty="0">
                          <a:effectLst/>
                        </a:rPr>
                        <a:t>활용 예시</a:t>
                      </a:r>
                      <a:endParaRPr lang="ko-KR" altLang="en-US" sz="24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4973" marR="74973" marT="37487" marB="37487"/>
                </a:tc>
                <a:extLst>
                  <a:ext uri="{0D108BD9-81ED-4DB2-BD59-A6C34878D82A}">
                    <a16:rowId xmlns:a16="http://schemas.microsoft.com/office/drawing/2014/main" val="345612314"/>
                  </a:ext>
                </a:extLst>
              </a:tr>
              <a:tr h="1351216">
                <a:tc>
                  <a:txBody>
                    <a:bodyPr/>
                    <a:lstStyle/>
                    <a:p>
                      <a:pPr algn="ctr" fontAlgn="base" latinLnBrk="0"/>
                      <a:r>
                        <a:rPr lang="en-CA" sz="2400" dirty="0">
                          <a:effectLst/>
                        </a:rPr>
                        <a:t>SIPO</a:t>
                      </a:r>
                      <a:endParaRPr lang="en-CA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4973" marR="74973" marT="37487" marB="37487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2400">
                          <a:effectLst/>
                        </a:rPr>
                        <a:t>외부에서 직렬로 들어오는 데이터를 병렬로 변환하여 </a:t>
                      </a:r>
                      <a:r>
                        <a:rPr lang="en-US" altLang="ko-KR" sz="2400">
                          <a:effectLst/>
                        </a:rPr>
                        <a:t>GPIO </a:t>
                      </a:r>
                      <a:r>
                        <a:rPr lang="ko-KR" altLang="en-US" sz="2400">
                          <a:effectLst/>
                        </a:rPr>
                        <a:t>출력으로 제공</a:t>
                      </a:r>
                      <a:endParaRPr lang="ko-KR" altLang="en-US" sz="2400">
                        <a:effectLst/>
                        <a:latin typeface="+mn-ea"/>
                        <a:ea typeface="+mn-ea"/>
                      </a:endParaRPr>
                    </a:p>
                  </a:txBody>
                  <a:tcPr marL="74973" marR="74973" marT="37487" marB="37487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US" altLang="ko-KR" sz="2400" dirty="0">
                          <a:effectLst/>
                        </a:rPr>
                        <a:t>SPI/I²C </a:t>
                      </a:r>
                      <a:r>
                        <a:rPr lang="ko-KR" altLang="en-US" sz="2400" dirty="0">
                          <a:effectLst/>
                        </a:rPr>
                        <a:t>등 직렬 인터페이스를 통해 데이터를 받아 </a:t>
                      </a:r>
                      <a:r>
                        <a:rPr lang="en-US" altLang="ko-KR" sz="2400" dirty="0">
                          <a:effectLst/>
                        </a:rPr>
                        <a:t>GPIO </a:t>
                      </a:r>
                      <a:r>
                        <a:rPr lang="ko-KR" altLang="en-US" sz="2400" dirty="0">
                          <a:effectLst/>
                        </a:rPr>
                        <a:t>포트 확장</a:t>
                      </a:r>
                      <a:endParaRPr lang="ko-KR" alt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4973" marR="74973" marT="37487" marB="37487" anchor="ctr"/>
                </a:tc>
                <a:extLst>
                  <a:ext uri="{0D108BD9-81ED-4DB2-BD59-A6C34878D82A}">
                    <a16:rowId xmlns:a16="http://schemas.microsoft.com/office/drawing/2014/main" val="579932088"/>
                  </a:ext>
                </a:extLst>
              </a:tr>
              <a:tr h="1640763">
                <a:tc>
                  <a:txBody>
                    <a:bodyPr/>
                    <a:lstStyle/>
                    <a:p>
                      <a:pPr algn="ctr" fontAlgn="base" latinLnBrk="0"/>
                      <a:r>
                        <a:rPr lang="en-CA" sz="2400" dirty="0">
                          <a:effectLst/>
                        </a:rPr>
                        <a:t>PISO</a:t>
                      </a:r>
                      <a:endParaRPr lang="en-CA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4973" marR="74973" marT="37487" marB="37487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2400">
                          <a:effectLst/>
                        </a:rPr>
                        <a:t>내부의 병렬 데이터를 직렬 형태로 변환하여 외부에 전송</a:t>
                      </a:r>
                      <a:endParaRPr lang="ko-KR" altLang="en-US" sz="2400">
                        <a:effectLst/>
                        <a:latin typeface="+mn-ea"/>
                        <a:ea typeface="+mn-ea"/>
                      </a:endParaRPr>
                    </a:p>
                  </a:txBody>
                  <a:tcPr marL="74973" marR="74973" marT="37487" marB="37487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2400" dirty="0">
                          <a:effectLst/>
                        </a:rPr>
                        <a:t>여러 개의 스위치나 센서 등으로부터 읽은 </a:t>
                      </a:r>
                      <a:r>
                        <a:rPr lang="en-US" altLang="ko-KR" sz="2400" dirty="0">
                          <a:effectLst/>
                        </a:rPr>
                        <a:t>GPIO </a:t>
                      </a:r>
                      <a:r>
                        <a:rPr lang="ko-KR" altLang="en-US" sz="2400" dirty="0">
                          <a:effectLst/>
                        </a:rPr>
                        <a:t>상태를 직렬 인터페이스를 통해 프로세서나 다른 장치로 전송</a:t>
                      </a:r>
                      <a:endParaRPr lang="ko-KR" altLang="en-US" sz="24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4973" marR="74973" marT="37487" marB="37487" anchor="ctr"/>
                </a:tc>
                <a:extLst>
                  <a:ext uri="{0D108BD9-81ED-4DB2-BD59-A6C34878D82A}">
                    <a16:rowId xmlns:a16="http://schemas.microsoft.com/office/drawing/2014/main" val="29769235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2052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F1BFC-D80B-D355-A37F-6426B9588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BCC752-ED1C-7479-5350-AC6E8AA1E88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04007" y="370680"/>
            <a:ext cx="10515600" cy="620713"/>
          </a:xfrm>
        </p:spPr>
        <p:txBody>
          <a:bodyPr/>
          <a:lstStyle/>
          <a:p>
            <a:r>
              <a:rPr lang="en-US" sz="2800" dirty="0"/>
              <a:t>LAB : SIPO(Serial</a:t>
            </a:r>
            <a:r>
              <a:rPr lang="ko-KR" altLang="en-US" sz="2800" dirty="0"/>
              <a:t> </a:t>
            </a:r>
            <a:r>
              <a:rPr lang="en-US" altLang="ko-KR" sz="2800" dirty="0"/>
              <a:t>In</a:t>
            </a:r>
            <a:r>
              <a:rPr lang="ko-KR" altLang="en-US" sz="2800" dirty="0"/>
              <a:t> </a:t>
            </a:r>
            <a:r>
              <a:rPr lang="en-US" altLang="ko-KR" sz="2800" dirty="0"/>
              <a:t>Parallel</a:t>
            </a:r>
            <a:r>
              <a:rPr lang="ko-KR" altLang="en-US" sz="2800" dirty="0"/>
              <a:t> </a:t>
            </a:r>
            <a:r>
              <a:rPr lang="en-US" altLang="ko-KR" sz="2800" dirty="0"/>
              <a:t>Out)</a:t>
            </a:r>
            <a:r>
              <a:rPr lang="ko-KR" altLang="en-US" sz="2800" dirty="0"/>
              <a:t> </a:t>
            </a:r>
            <a:r>
              <a:rPr lang="en-US" altLang="ko-KR" sz="2800" dirty="0"/>
              <a:t>Shift Register</a:t>
            </a:r>
            <a:endParaRPr lang="en-CA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40F337-F8E2-E4E3-3990-C2B256D9CC4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057013" y="1145836"/>
            <a:ext cx="10515600" cy="5056188"/>
          </a:xfrm>
        </p:spPr>
        <p:txBody>
          <a:bodyPr/>
          <a:lstStyle/>
          <a:p>
            <a:r>
              <a:rPr lang="en-US" altLang="ko-KR" dirty="0"/>
              <a:t>8</a:t>
            </a:r>
            <a:r>
              <a:rPr lang="ko-KR" altLang="en-US" dirty="0"/>
              <a:t>비트 직렬입력</a:t>
            </a:r>
            <a:r>
              <a:rPr lang="en-US" altLang="ko-KR" dirty="0"/>
              <a:t>-</a:t>
            </a:r>
            <a:r>
              <a:rPr lang="ko-KR" altLang="en-US" dirty="0"/>
              <a:t>직렬</a:t>
            </a:r>
            <a:r>
              <a:rPr lang="en-CA" altLang="ko-KR" dirty="0"/>
              <a:t>/</a:t>
            </a:r>
            <a:r>
              <a:rPr lang="ko-KR" altLang="en-US" dirty="0"/>
              <a:t>병렬 출력 시프트 레지스터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1575A2B-AFDB-6172-CCFB-2119F1D9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359"/>
          <a:stretch/>
        </p:blipFill>
        <p:spPr>
          <a:xfrm>
            <a:off x="2258161" y="1629524"/>
            <a:ext cx="7356894" cy="204440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D7DE0F3-2E58-1ADD-9386-3BE5FD3F60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3292" y="3803312"/>
            <a:ext cx="6406633" cy="268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7843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3D2A5D-7D2F-4C4F-BAD8-7DE349F6A6F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40000" lnSpcReduction="2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974EA-E266-46E5-B93E-1A12E099C41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10000" y="4961780"/>
            <a:ext cx="7688263" cy="500352"/>
          </a:xfrm>
        </p:spPr>
        <p:txBody>
          <a:bodyPr/>
          <a:lstStyle/>
          <a:p>
            <a:r>
              <a:rPr lang="en-US" dirty="0"/>
              <a:t>4. Register Map &amp; Memory</a:t>
            </a:r>
          </a:p>
        </p:txBody>
      </p:sp>
    </p:spTree>
    <p:extLst>
      <p:ext uri="{BB962C8B-B14F-4D97-AF65-F5344CB8AC3E}">
        <p14:creationId xmlns:p14="http://schemas.microsoft.com/office/powerpoint/2010/main" val="27648895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0448F-6079-0C45-4B87-A83AC0375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72C651-CF64-7119-E709-F37FB87E58C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198" y="292064"/>
            <a:ext cx="10515600" cy="620713"/>
          </a:xfrm>
        </p:spPr>
        <p:txBody>
          <a:bodyPr>
            <a:normAutofit fontScale="90000"/>
          </a:bodyPr>
          <a:lstStyle/>
          <a:p>
            <a:r>
              <a:rPr lang="en-CA" dirty="0"/>
              <a:t>Register Map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C5439FDF-EE93-AE1B-97DE-5CFDC9987FBD}"/>
              </a:ext>
            </a:extLst>
          </p:cNvPr>
          <p:cNvGraphicFramePr>
            <a:graphicFrameLocks noGrp="1"/>
          </p:cNvGraphicFramePr>
          <p:nvPr>
            <p:ph idx="4294967295"/>
            <p:extLst/>
          </p:nvPr>
        </p:nvGraphicFramePr>
        <p:xfrm>
          <a:off x="2565721" y="4577444"/>
          <a:ext cx="6690439" cy="1828800"/>
        </p:xfrm>
        <a:graphic>
          <a:graphicData uri="http://schemas.openxmlformats.org/drawingml/2006/table">
            <a:tbl>
              <a:tblPr firstRow="1" firstCol="1">
                <a:tableStyleId>{00A15C55-8517-42AA-B614-E9B94910E393}</a:tableStyleId>
              </a:tblPr>
              <a:tblGrid>
                <a:gridCol w="1306616">
                  <a:extLst>
                    <a:ext uri="{9D8B030D-6E8A-4147-A177-3AD203B41FA5}">
                      <a16:colId xmlns:a16="http://schemas.microsoft.com/office/drawing/2014/main" val="1049033429"/>
                    </a:ext>
                  </a:extLst>
                </a:gridCol>
                <a:gridCol w="1925515">
                  <a:extLst>
                    <a:ext uri="{9D8B030D-6E8A-4147-A177-3AD203B41FA5}">
                      <a16:colId xmlns:a16="http://schemas.microsoft.com/office/drawing/2014/main" val="3546661978"/>
                    </a:ext>
                  </a:extLst>
                </a:gridCol>
                <a:gridCol w="1723293">
                  <a:extLst>
                    <a:ext uri="{9D8B030D-6E8A-4147-A177-3AD203B41FA5}">
                      <a16:colId xmlns:a16="http://schemas.microsoft.com/office/drawing/2014/main" val="160897538"/>
                    </a:ext>
                  </a:extLst>
                </a:gridCol>
                <a:gridCol w="1735015">
                  <a:extLst>
                    <a:ext uri="{9D8B030D-6E8A-4147-A177-3AD203B41FA5}">
                      <a16:colId xmlns:a16="http://schemas.microsoft.com/office/drawing/2014/main" val="16698088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 latinLnBrk="0"/>
                      <a:r>
                        <a:rPr lang="ko-KR" altLang="en-US" b="0">
                          <a:effectLst/>
                        </a:rPr>
                        <a:t>주소 </a:t>
                      </a:r>
                      <a:r>
                        <a:rPr lang="en-US" altLang="ko-KR" b="0">
                          <a:effectLst/>
                        </a:rPr>
                        <a:t>(</a:t>
                      </a:r>
                      <a:r>
                        <a:rPr lang="en-CA" b="0">
                          <a:effectLst/>
                        </a:rPr>
                        <a:t>Hex)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 latinLnBrk="0"/>
                      <a:r>
                        <a:rPr lang="ko-KR" altLang="en-US" b="0">
                          <a:effectLst/>
                        </a:rPr>
                        <a:t>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 latinLnBrk="0"/>
                      <a:r>
                        <a:rPr lang="ko-KR" altLang="en-US" b="0">
                          <a:effectLst/>
                        </a:rPr>
                        <a:t>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 latinLnBrk="0"/>
                      <a:r>
                        <a:rPr lang="ko-KR" altLang="en-US" b="0">
                          <a:effectLst/>
                        </a:rPr>
                        <a:t>읽기</a:t>
                      </a:r>
                      <a:r>
                        <a:rPr lang="en-US" altLang="ko-KR" b="0">
                          <a:effectLst/>
                        </a:rPr>
                        <a:t>/</a:t>
                      </a:r>
                      <a:r>
                        <a:rPr lang="ko-KR" altLang="en-US" b="0">
                          <a:effectLst/>
                        </a:rPr>
                        <a:t>쓰기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75494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0x00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CONTROL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>
                          <a:effectLst/>
                        </a:rPr>
                        <a:t>하드웨어 제어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RW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1176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0x04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STATUS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>
                          <a:effectLst/>
                        </a:rPr>
                        <a:t>하드웨어 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76212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0x08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DATA_IN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>
                          <a:effectLst/>
                        </a:rPr>
                        <a:t>입력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CA" dirty="0">
                          <a:effectLst/>
                        </a:rPr>
                        <a:t>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81431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0x0C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DATA_OUT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>
                          <a:effectLst/>
                        </a:rPr>
                        <a:t>출력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CA" dirty="0">
                          <a:effectLst/>
                        </a:rPr>
                        <a:t>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040507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B072082-2D19-EFA5-8E5F-34C1E1A90A41}"/>
              </a:ext>
            </a:extLst>
          </p:cNvPr>
          <p:cNvSpPr txBox="1"/>
          <p:nvPr/>
        </p:nvSpPr>
        <p:spPr>
          <a:xfrm>
            <a:off x="4057066" y="3903702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레지스터 맵</a:t>
            </a:r>
            <a:r>
              <a:rPr lang="en-US" altLang="ko-KR" dirty="0"/>
              <a:t>(</a:t>
            </a:r>
            <a:r>
              <a:rPr lang="en-CA" altLang="ko-KR" dirty="0"/>
              <a:t>Register Map) </a:t>
            </a:r>
            <a:r>
              <a:rPr lang="ko-KR" altLang="en-US" dirty="0"/>
              <a:t>예시</a:t>
            </a:r>
            <a:endParaRPr lang="en-CA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640B3EA-474B-5407-6F5B-24C43AEF6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6129" y="1189077"/>
            <a:ext cx="8429625" cy="2714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4674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7BF2CB-4575-FE13-5006-73B6EB933F3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0486" y="306692"/>
            <a:ext cx="10515600" cy="620713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Memory Map</a:t>
            </a:r>
            <a:endParaRPr lang="en-CA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616C7070-845D-BF5D-32D0-E30D0076AB22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20486" y="985295"/>
            <a:ext cx="10515600" cy="349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메모리 맵</a:t>
            </a:r>
            <a:r>
              <a:rPr lang="en-US" altLang="ko-KR" sz="2400" dirty="0">
                <a:latin typeface="+mn-ea"/>
              </a:rPr>
              <a:t>(</a:t>
            </a:r>
            <a:r>
              <a:rPr lang="en-CA" sz="2400" dirty="0">
                <a:latin typeface="+mn-ea"/>
              </a:rPr>
              <a:t>Memory Map)</a:t>
            </a:r>
          </a:p>
          <a:p>
            <a:r>
              <a:rPr lang="ko-KR" altLang="en-US" sz="2400" dirty="0">
                <a:latin typeface="+mn-ea"/>
              </a:rPr>
              <a:t>**메모리 맵**은 </a:t>
            </a:r>
            <a:r>
              <a:rPr lang="en-US" altLang="ko-KR" sz="2400" dirty="0">
                <a:latin typeface="+mn-ea"/>
              </a:rPr>
              <a:t>SoC</a:t>
            </a:r>
            <a:r>
              <a:rPr lang="ko-KR" altLang="en-US" sz="2400" dirty="0">
                <a:latin typeface="+mn-ea"/>
              </a:rPr>
              <a:t>에서 사용 가능한 메모리 공간을 정의한 것입니다</a:t>
            </a:r>
            <a:r>
              <a:rPr lang="en-US" altLang="ko-KR" sz="2400" dirty="0">
                <a:latin typeface="+mn-ea"/>
              </a:rPr>
              <a:t>. </a:t>
            </a:r>
          </a:p>
          <a:p>
            <a:pPr lvl="1"/>
            <a:r>
              <a:rPr lang="en-US" altLang="ko-KR" sz="1800" dirty="0">
                <a:latin typeface="+mn-ea"/>
              </a:rPr>
              <a:t>CPU</a:t>
            </a:r>
            <a:r>
              <a:rPr lang="ko-KR" altLang="en-US" sz="1800" dirty="0">
                <a:latin typeface="+mn-ea"/>
              </a:rPr>
              <a:t>가 접근할 수 있는 모든 메모리 영역을 포함하며</a:t>
            </a:r>
            <a:r>
              <a:rPr lang="en-US" altLang="ko-KR" sz="1800" dirty="0">
                <a:latin typeface="+mn-ea"/>
              </a:rPr>
              <a:t>, </a:t>
            </a:r>
            <a:r>
              <a:rPr lang="ko-KR" altLang="en-US" sz="1800" dirty="0">
                <a:latin typeface="+mn-ea"/>
              </a:rPr>
              <a:t>각 영역은 특정 용도로 나뉩니다</a:t>
            </a:r>
            <a:r>
              <a:rPr lang="en-US" altLang="ko-KR" sz="1800" dirty="0">
                <a:latin typeface="+mn-ea"/>
              </a:rPr>
              <a:t>.</a:t>
            </a:r>
            <a:endParaRPr lang="en-US" altLang="ko-KR" sz="1050" dirty="0">
              <a:latin typeface="+mn-ea"/>
            </a:endParaRPr>
          </a:p>
          <a:p>
            <a:r>
              <a:rPr lang="ko-KR" altLang="en-US" sz="2400" dirty="0">
                <a:latin typeface="+mn-ea"/>
              </a:rPr>
              <a:t>특징</a:t>
            </a:r>
          </a:p>
          <a:p>
            <a:pPr lvl="1"/>
            <a:r>
              <a:rPr lang="ko-KR" altLang="en-US" sz="1800" dirty="0">
                <a:latin typeface="+mn-ea"/>
              </a:rPr>
              <a:t>주소 공간 분할</a:t>
            </a:r>
            <a:r>
              <a:rPr lang="en-US" altLang="ko-KR" sz="1800" dirty="0">
                <a:latin typeface="+mn-ea"/>
              </a:rPr>
              <a:t>: </a:t>
            </a:r>
            <a:r>
              <a:rPr lang="ko-KR" altLang="en-US" sz="1800" dirty="0">
                <a:latin typeface="+mn-ea"/>
              </a:rPr>
              <a:t>메모리는 코드</a:t>
            </a:r>
            <a:r>
              <a:rPr lang="en-US" altLang="ko-KR" sz="1800" dirty="0">
                <a:latin typeface="+mn-ea"/>
              </a:rPr>
              <a:t>, </a:t>
            </a:r>
            <a:r>
              <a:rPr lang="ko-KR" altLang="en-US" sz="1800" dirty="0">
                <a:latin typeface="+mn-ea"/>
              </a:rPr>
              <a:t>데이터</a:t>
            </a:r>
            <a:r>
              <a:rPr lang="en-US" altLang="ko-KR" sz="1800" dirty="0">
                <a:latin typeface="+mn-ea"/>
              </a:rPr>
              <a:t>, </a:t>
            </a:r>
            <a:r>
              <a:rPr lang="ko-KR" altLang="en-US" sz="1800" dirty="0">
                <a:latin typeface="+mn-ea"/>
              </a:rPr>
              <a:t>스택</a:t>
            </a:r>
            <a:r>
              <a:rPr lang="en-US" altLang="ko-KR" sz="1800" dirty="0">
                <a:latin typeface="+mn-ea"/>
              </a:rPr>
              <a:t>, </a:t>
            </a:r>
            <a:r>
              <a:rPr lang="ko-KR" altLang="en-US" sz="1800" dirty="0">
                <a:latin typeface="+mn-ea"/>
              </a:rPr>
              <a:t>외부 장치 등으로 분할됩니다</a:t>
            </a:r>
            <a:r>
              <a:rPr lang="en-US" altLang="ko-KR" sz="1800" dirty="0">
                <a:latin typeface="+mn-ea"/>
              </a:rPr>
              <a:t>.</a:t>
            </a:r>
            <a:endParaRPr lang="en-US" altLang="ko-KR" sz="1050" dirty="0">
              <a:latin typeface="+mn-ea"/>
            </a:endParaRPr>
          </a:p>
          <a:p>
            <a:r>
              <a:rPr lang="ko-KR" altLang="en-US" sz="2400" dirty="0">
                <a:latin typeface="+mn-ea"/>
              </a:rPr>
              <a:t>장치 매핑</a:t>
            </a:r>
            <a:r>
              <a:rPr lang="en-US" altLang="ko-KR" sz="2400" dirty="0">
                <a:latin typeface="+mn-ea"/>
              </a:rPr>
              <a:t>: </a:t>
            </a:r>
          </a:p>
          <a:p>
            <a:pPr lvl="1"/>
            <a:r>
              <a:rPr lang="ko-KR" altLang="en-US" sz="1800" dirty="0">
                <a:latin typeface="+mn-ea"/>
              </a:rPr>
              <a:t>외부 장치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예</a:t>
            </a:r>
            <a:r>
              <a:rPr lang="en-US" altLang="ko-KR" sz="1800" dirty="0">
                <a:latin typeface="+mn-ea"/>
              </a:rPr>
              <a:t>: UART, SPI </a:t>
            </a:r>
            <a:r>
              <a:rPr lang="ko-KR" altLang="en-US" sz="1800" dirty="0">
                <a:latin typeface="+mn-ea"/>
              </a:rPr>
              <a:t>등</a:t>
            </a:r>
            <a:r>
              <a:rPr lang="en-US" altLang="ko-KR" sz="1800" dirty="0">
                <a:latin typeface="+mn-ea"/>
              </a:rPr>
              <a:t>)</a:t>
            </a:r>
            <a:r>
              <a:rPr lang="ko-KR" altLang="en-US" sz="1800" dirty="0">
                <a:latin typeface="+mn-ea"/>
              </a:rPr>
              <a:t>는 메모리 주소에 </a:t>
            </a:r>
            <a:r>
              <a:rPr lang="ko-KR" altLang="en-US" sz="1800" dirty="0" err="1">
                <a:latin typeface="+mn-ea"/>
              </a:rPr>
              <a:t>매핑되어</a:t>
            </a:r>
            <a:r>
              <a:rPr lang="ko-KR" altLang="en-US" sz="1800" dirty="0">
                <a:latin typeface="+mn-ea"/>
              </a:rPr>
              <a:t> </a:t>
            </a:r>
            <a:r>
              <a:rPr lang="en-US" altLang="ko-KR" sz="1800" dirty="0">
                <a:latin typeface="+mn-ea"/>
              </a:rPr>
              <a:t>CPU</a:t>
            </a:r>
            <a:r>
              <a:rPr lang="ko-KR" altLang="en-US" sz="1800" dirty="0">
                <a:latin typeface="+mn-ea"/>
              </a:rPr>
              <a:t>가 이를 제어할 수 있습니다</a:t>
            </a:r>
            <a:r>
              <a:rPr lang="en-US" altLang="ko-KR" sz="1800" dirty="0">
                <a:latin typeface="+mn-ea"/>
              </a:rPr>
              <a:t>.</a:t>
            </a:r>
            <a:endParaRPr lang="en-US" altLang="ko-KR" sz="1050" dirty="0">
              <a:latin typeface="+mn-ea"/>
            </a:endParaRPr>
          </a:p>
          <a:p>
            <a:r>
              <a:rPr lang="ko-KR" altLang="en-US" sz="2400" dirty="0">
                <a:latin typeface="+mn-ea"/>
              </a:rPr>
              <a:t>효율적 설계</a:t>
            </a:r>
            <a:r>
              <a:rPr lang="en-US" altLang="ko-KR" sz="2400" dirty="0">
                <a:latin typeface="+mn-ea"/>
              </a:rPr>
              <a:t>: </a:t>
            </a:r>
          </a:p>
          <a:p>
            <a:pPr lvl="1"/>
            <a:r>
              <a:rPr lang="ko-KR" altLang="en-US" sz="1800" dirty="0">
                <a:latin typeface="+mn-ea"/>
              </a:rPr>
              <a:t>메모리 </a:t>
            </a:r>
            <a:r>
              <a:rPr lang="ko-KR" altLang="en-US" sz="1800" dirty="0" err="1">
                <a:latin typeface="+mn-ea"/>
              </a:rPr>
              <a:t>맵을</a:t>
            </a:r>
            <a:r>
              <a:rPr lang="ko-KR" altLang="en-US" sz="1800" dirty="0">
                <a:latin typeface="+mn-ea"/>
              </a:rPr>
              <a:t> 통해 데이터와 장치 간의 효율적인 접근이 가능합니다</a:t>
            </a:r>
            <a:r>
              <a:rPr lang="en-US" altLang="ko-KR" sz="1800" dirty="0">
                <a:latin typeface="+mn-ea"/>
              </a:rPr>
              <a:t>.</a:t>
            </a:r>
            <a:endParaRPr lang="en-CA" sz="1800" dirty="0">
              <a:latin typeface="+mn-ea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E5E6A06-78EB-B661-680F-792FB2BD208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054359" y="4907714"/>
          <a:ext cx="9016482" cy="1828800"/>
        </p:xfrm>
        <a:graphic>
          <a:graphicData uri="http://schemas.openxmlformats.org/drawingml/2006/table">
            <a:tbl>
              <a:tblPr firstRow="1" firstCol="1">
                <a:tableStyleId>{00A15C55-8517-42AA-B614-E9B94910E393}</a:tableStyleId>
              </a:tblPr>
              <a:tblGrid>
                <a:gridCol w="3005494">
                  <a:extLst>
                    <a:ext uri="{9D8B030D-6E8A-4147-A177-3AD203B41FA5}">
                      <a16:colId xmlns:a16="http://schemas.microsoft.com/office/drawing/2014/main" val="3463101013"/>
                    </a:ext>
                  </a:extLst>
                </a:gridCol>
                <a:gridCol w="3005494">
                  <a:extLst>
                    <a:ext uri="{9D8B030D-6E8A-4147-A177-3AD203B41FA5}">
                      <a16:colId xmlns:a16="http://schemas.microsoft.com/office/drawing/2014/main" val="1019023692"/>
                    </a:ext>
                  </a:extLst>
                </a:gridCol>
                <a:gridCol w="3005494">
                  <a:extLst>
                    <a:ext uri="{9D8B030D-6E8A-4147-A177-3AD203B41FA5}">
                      <a16:colId xmlns:a16="http://schemas.microsoft.com/office/drawing/2014/main" val="33271351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 latinLnBrk="0"/>
                      <a:r>
                        <a:rPr lang="ko-KR" altLang="en-US" b="0">
                          <a:effectLst/>
                        </a:rPr>
                        <a:t>주소 범위 </a:t>
                      </a:r>
                      <a:r>
                        <a:rPr lang="en-US" altLang="ko-KR" b="0">
                          <a:effectLst/>
                        </a:rPr>
                        <a:t>(</a:t>
                      </a:r>
                      <a:r>
                        <a:rPr lang="en-CA" b="0">
                          <a:effectLst/>
                        </a:rPr>
                        <a:t>Hex)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 latinLnBrk="0"/>
                      <a:r>
                        <a:rPr lang="ko-KR" altLang="en-US" b="0">
                          <a:effectLst/>
                        </a:rPr>
                        <a:t>용도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 latinLnBrk="0"/>
                      <a:r>
                        <a:rPr lang="ko-KR" altLang="en-US" b="0">
                          <a:effectLst/>
                        </a:rPr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122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0x00000000~0x0000FFFF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ROM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>
                          <a:effectLst/>
                        </a:rPr>
                        <a:t>부트 코드 저장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7911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0x00010000~0x0001FFFF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RAM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>
                          <a:effectLst/>
                        </a:rPr>
                        <a:t>실행 중인 프로그램 데이터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1736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0x80000000~0x80000FFF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UART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US" altLang="ko-KR">
                          <a:effectLst/>
                        </a:rPr>
                        <a:t>UART </a:t>
                      </a:r>
                      <a:r>
                        <a:rPr lang="ko-KR" altLang="en-US">
                          <a:effectLst/>
                        </a:rPr>
                        <a:t>제어 및 데이터 전송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14071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0x90000000~0x90000FFF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CA">
                          <a:effectLst/>
                        </a:rPr>
                        <a:t>GPIO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US" altLang="ko-KR" dirty="0">
                          <a:effectLst/>
                        </a:rPr>
                        <a:t>GPIO </a:t>
                      </a:r>
                      <a:r>
                        <a:rPr lang="ko-KR" altLang="en-US" dirty="0">
                          <a:effectLst/>
                        </a:rPr>
                        <a:t>핀 설정 및 상태 확인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049269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11A5DC3-4FC0-B0DD-D25D-1569142B7391}"/>
              </a:ext>
            </a:extLst>
          </p:cNvPr>
          <p:cNvSpPr txBox="1"/>
          <p:nvPr/>
        </p:nvSpPr>
        <p:spPr>
          <a:xfrm>
            <a:off x="1054359" y="4538382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예시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8664647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8F40AD-5C5A-63B2-1D53-1947CAA364C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4543" y="370680"/>
            <a:ext cx="10515600" cy="620713"/>
          </a:xfrm>
        </p:spPr>
        <p:txBody>
          <a:bodyPr>
            <a:normAutofit fontScale="90000"/>
          </a:bodyPr>
          <a:lstStyle/>
          <a:p>
            <a:r>
              <a:rPr lang="en-CA" dirty="0"/>
              <a:t>Memory Management with Register Map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55CFD3-3BBB-79B4-743B-9D9C16D0DC4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120775"/>
            <a:ext cx="10515600" cy="5056188"/>
          </a:xfrm>
        </p:spPr>
        <p:txBody>
          <a:bodyPr>
            <a:normAutofit/>
          </a:bodyPr>
          <a:lstStyle/>
          <a:p>
            <a:r>
              <a:rPr lang="ko-KR" altLang="en-US" sz="2000" dirty="0">
                <a:latin typeface="+mn-ea"/>
              </a:rPr>
              <a:t>레지스터 맵</a:t>
            </a:r>
            <a:r>
              <a:rPr lang="en-US" altLang="ko-KR" sz="2000" dirty="0">
                <a:latin typeface="+mn-ea"/>
              </a:rPr>
              <a:t>(Register Map)</a:t>
            </a:r>
            <a:r>
              <a:rPr lang="ko-KR" altLang="en-US" sz="2000" dirty="0">
                <a:latin typeface="+mn-ea"/>
              </a:rPr>
              <a:t>은 하드웨어 모듈의 제어 및 상태 정보를 특정 메모리 주소에 매핑하여 소프트웨어가 이를 효율적으로 관리</a:t>
            </a:r>
            <a:endParaRPr lang="en-CA" altLang="ko-KR" sz="2000" dirty="0">
              <a:latin typeface="+mn-ea"/>
            </a:endParaRPr>
          </a:p>
          <a:p>
            <a:r>
              <a:rPr lang="ko-KR" altLang="en-US" sz="2000" dirty="0">
                <a:latin typeface="+mn-ea"/>
              </a:rPr>
              <a:t>하드웨어와 소프트웨어 간의 상호작용이 체계적으로 이루어지며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메모리 관리가 간소화</a:t>
            </a:r>
            <a:endParaRPr lang="en-CA" altLang="ko-KR" sz="2000" dirty="0">
              <a:latin typeface="+mn-ea"/>
            </a:endParaRPr>
          </a:p>
          <a:p>
            <a:r>
              <a:rPr lang="ko-KR" altLang="en-US" sz="2000" dirty="0">
                <a:latin typeface="+mn-ea"/>
              </a:rPr>
              <a:t>레지스터 </a:t>
            </a:r>
            <a:r>
              <a:rPr lang="ko-KR" altLang="en-US" sz="2000" dirty="0" err="1">
                <a:latin typeface="+mn-ea"/>
              </a:rPr>
              <a:t>맵을</a:t>
            </a:r>
            <a:r>
              <a:rPr lang="ko-KR" altLang="en-US" sz="2000" dirty="0">
                <a:latin typeface="+mn-ea"/>
              </a:rPr>
              <a:t> 통한 메모리 관리의 주요 원칙</a:t>
            </a:r>
            <a:endParaRPr lang="en-CA" sz="1600" dirty="0">
              <a:latin typeface="+mn-ea"/>
            </a:endParaRPr>
          </a:p>
        </p:txBody>
      </p:sp>
      <p:graphicFrame>
        <p:nvGraphicFramePr>
          <p:cNvPr id="8" name="내용 개체 틀 3">
            <a:extLst>
              <a:ext uri="{FF2B5EF4-FFF2-40B4-BE49-F238E27FC236}">
                <a16:creationId xmlns:a16="http://schemas.microsoft.com/office/drawing/2014/main" id="{8C4CC892-BE18-4DB6-F0AC-06C440B6639E}"/>
              </a:ext>
            </a:extLst>
          </p:cNvPr>
          <p:cNvGraphicFramePr>
            <a:graphicFrameLocks/>
          </p:cNvGraphicFramePr>
          <p:nvPr>
            <p:extLst/>
          </p:nvPr>
        </p:nvGraphicFramePr>
        <p:xfrm>
          <a:off x="689688" y="2811644"/>
          <a:ext cx="10812623" cy="2701592"/>
        </p:xfrm>
        <a:graphic>
          <a:graphicData uri="http://schemas.openxmlformats.org/drawingml/2006/table">
            <a:tbl>
              <a:tblPr firstRow="1" firstCol="1">
                <a:tableStyleId>{00A15C55-8517-42AA-B614-E9B94910E393}</a:tableStyleId>
              </a:tblPr>
              <a:tblGrid>
                <a:gridCol w="1856271">
                  <a:extLst>
                    <a:ext uri="{9D8B030D-6E8A-4147-A177-3AD203B41FA5}">
                      <a16:colId xmlns:a16="http://schemas.microsoft.com/office/drawing/2014/main" val="1203412437"/>
                    </a:ext>
                  </a:extLst>
                </a:gridCol>
                <a:gridCol w="8956352">
                  <a:extLst>
                    <a:ext uri="{9D8B030D-6E8A-4147-A177-3AD203B41FA5}">
                      <a16:colId xmlns:a16="http://schemas.microsoft.com/office/drawing/2014/main" val="27148473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 latinLnBrk="0"/>
                      <a:r>
                        <a:rPr lang="ko-KR" altLang="en-US" sz="1800" b="0" dirty="0">
                          <a:effectLst/>
                        </a:rPr>
                        <a:t>원칙</a:t>
                      </a:r>
                    </a:p>
                  </a:txBody>
                  <a:tcPr marL="51073" marR="51073" marT="25536" marB="25536"/>
                </a:tc>
                <a:tc>
                  <a:txBody>
                    <a:bodyPr/>
                    <a:lstStyle/>
                    <a:p>
                      <a:pPr fontAlgn="t" latinLnBrk="0"/>
                      <a:r>
                        <a:rPr lang="ko-KR" altLang="en-US" sz="1800" b="0" dirty="0">
                          <a:effectLst/>
                        </a:rPr>
                        <a:t>설명</a:t>
                      </a:r>
                    </a:p>
                  </a:txBody>
                  <a:tcPr marL="51073" marR="51073" marT="25536" marB="25536"/>
                </a:tc>
                <a:extLst>
                  <a:ext uri="{0D108BD9-81ED-4DB2-BD59-A6C34878D82A}">
                    <a16:rowId xmlns:a16="http://schemas.microsoft.com/office/drawing/2014/main" val="3295573009"/>
                  </a:ext>
                </a:extLst>
              </a:tr>
              <a:tr h="322647"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800" b="0" dirty="0">
                          <a:effectLst/>
                        </a:rPr>
                        <a:t>주소 공간 분할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51073" marR="51073" marT="25536" marB="25536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600" dirty="0">
                          <a:effectLst/>
                        </a:rPr>
                        <a:t>각 레지스터에 고유한 메모리 주소를 할당하여 하드웨어 모듈 간 충돌을 방지하고 체계적으로 관리</a:t>
                      </a:r>
                      <a:r>
                        <a:rPr lang="en-US" altLang="ko-KR" sz="1600" dirty="0">
                          <a:effectLst/>
                        </a:rPr>
                        <a:t>.</a:t>
                      </a:r>
                    </a:p>
                  </a:txBody>
                  <a:tcPr marL="51073" marR="51073" marT="25536" marB="25536" anchor="ctr"/>
                </a:tc>
                <a:extLst>
                  <a:ext uri="{0D108BD9-81ED-4DB2-BD59-A6C34878D82A}">
                    <a16:rowId xmlns:a16="http://schemas.microsoft.com/office/drawing/2014/main" val="2988209288"/>
                  </a:ext>
                </a:extLst>
              </a:tr>
              <a:tr h="322647"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800" b="0" dirty="0">
                          <a:effectLst/>
                        </a:rPr>
                        <a:t>효율적인 접근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51073" marR="51073" marT="25536" marB="25536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en-US" altLang="ko-KR" sz="1600">
                          <a:effectLst/>
                        </a:rPr>
                        <a:t>CPU</a:t>
                      </a:r>
                      <a:r>
                        <a:rPr lang="ko-KR" altLang="en-US" sz="1600">
                          <a:effectLst/>
                        </a:rPr>
                        <a:t>가 특정 주소를 통해 하드웨어를 제어하거나 상태를 읽음으로써 빠르고 간단한 데이터 처리 가능</a:t>
                      </a:r>
                      <a:r>
                        <a:rPr lang="en-US" altLang="ko-KR" sz="1600">
                          <a:effectLst/>
                        </a:rPr>
                        <a:t>.</a:t>
                      </a:r>
                    </a:p>
                  </a:txBody>
                  <a:tcPr marL="51073" marR="51073" marT="25536" marB="25536" anchor="ctr"/>
                </a:tc>
                <a:extLst>
                  <a:ext uri="{0D108BD9-81ED-4DB2-BD59-A6C34878D82A}">
                    <a16:rowId xmlns:a16="http://schemas.microsoft.com/office/drawing/2014/main" val="2199691454"/>
                  </a:ext>
                </a:extLst>
              </a:tr>
              <a:tr h="322647"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800" b="0" dirty="0">
                          <a:effectLst/>
                        </a:rPr>
                        <a:t>읽기</a:t>
                      </a:r>
                      <a:r>
                        <a:rPr lang="en-US" altLang="ko-KR" sz="1800" b="0" dirty="0">
                          <a:effectLst/>
                        </a:rPr>
                        <a:t>/</a:t>
                      </a:r>
                      <a:r>
                        <a:rPr lang="ko-KR" altLang="en-US" sz="1800" b="0" dirty="0">
                          <a:effectLst/>
                        </a:rPr>
                        <a:t>쓰기 권한 설정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51073" marR="51073" marT="25536" marB="25536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600">
                          <a:effectLst/>
                        </a:rPr>
                        <a:t>레지스터마다 읽기</a:t>
                      </a:r>
                      <a:r>
                        <a:rPr lang="en-US" altLang="ko-KR" sz="1600">
                          <a:effectLst/>
                        </a:rPr>
                        <a:t>(Read), </a:t>
                      </a:r>
                      <a:r>
                        <a:rPr lang="ko-KR" altLang="en-US" sz="1600">
                          <a:effectLst/>
                        </a:rPr>
                        <a:t>쓰기</a:t>
                      </a:r>
                      <a:r>
                        <a:rPr lang="en-US" altLang="ko-KR" sz="1600">
                          <a:effectLst/>
                        </a:rPr>
                        <a:t>(Write), </a:t>
                      </a:r>
                      <a:r>
                        <a:rPr lang="ko-KR" altLang="en-US" sz="1600">
                          <a:effectLst/>
                        </a:rPr>
                        <a:t>읽기</a:t>
                      </a:r>
                      <a:r>
                        <a:rPr lang="en-US" altLang="ko-KR" sz="1600">
                          <a:effectLst/>
                        </a:rPr>
                        <a:t>-</a:t>
                      </a:r>
                      <a:r>
                        <a:rPr lang="ko-KR" altLang="en-US" sz="1600">
                          <a:effectLst/>
                        </a:rPr>
                        <a:t>쓰기</a:t>
                      </a:r>
                      <a:r>
                        <a:rPr lang="en-US" altLang="ko-KR" sz="1600">
                          <a:effectLst/>
                        </a:rPr>
                        <a:t>(Read-Write) </a:t>
                      </a:r>
                      <a:r>
                        <a:rPr lang="ko-KR" altLang="en-US" sz="1600">
                          <a:effectLst/>
                        </a:rPr>
                        <a:t>권한을 설정하여 잘못된 접근 방지</a:t>
                      </a:r>
                      <a:r>
                        <a:rPr lang="en-US" altLang="ko-KR" sz="1600">
                          <a:effectLst/>
                        </a:rPr>
                        <a:t>.</a:t>
                      </a:r>
                    </a:p>
                  </a:txBody>
                  <a:tcPr marL="51073" marR="51073" marT="25536" marB="25536" anchor="ctr"/>
                </a:tc>
                <a:extLst>
                  <a:ext uri="{0D108BD9-81ED-4DB2-BD59-A6C34878D82A}">
                    <a16:rowId xmlns:a16="http://schemas.microsoft.com/office/drawing/2014/main" val="3846187725"/>
                  </a:ext>
                </a:extLst>
              </a:tr>
              <a:tr h="271703"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800" b="0" dirty="0">
                          <a:effectLst/>
                        </a:rPr>
                        <a:t>확장성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51073" marR="51073" marT="25536" marB="25536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600">
                          <a:effectLst/>
                        </a:rPr>
                        <a:t>새로운 하드웨어 모듈 추가 시 기존 메모리 구조에 쉽게 통합 가능 </a:t>
                      </a:r>
                      <a:r>
                        <a:rPr lang="en-US" altLang="ko-KR" sz="1600">
                          <a:effectLst/>
                        </a:rPr>
                        <a:t>(</a:t>
                      </a:r>
                      <a:r>
                        <a:rPr lang="ko-KR" altLang="en-US" sz="1600">
                          <a:effectLst/>
                        </a:rPr>
                        <a:t>새로운 주소 공간만 추가</a:t>
                      </a:r>
                      <a:r>
                        <a:rPr lang="en-US" altLang="ko-KR" sz="1600">
                          <a:effectLst/>
                        </a:rPr>
                        <a:t>).</a:t>
                      </a:r>
                    </a:p>
                  </a:txBody>
                  <a:tcPr marL="51073" marR="51073" marT="25536" marB="25536" anchor="ctr"/>
                </a:tc>
                <a:extLst>
                  <a:ext uri="{0D108BD9-81ED-4DB2-BD59-A6C34878D82A}">
                    <a16:rowId xmlns:a16="http://schemas.microsoft.com/office/drawing/2014/main" val="2263428565"/>
                  </a:ext>
                </a:extLst>
              </a:tr>
              <a:tr h="373592"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800" b="0" dirty="0">
                          <a:effectLst/>
                        </a:rPr>
                        <a:t>메모리 보호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51073" marR="51073" marT="25536" marB="25536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600" dirty="0">
                          <a:effectLst/>
                        </a:rPr>
                        <a:t>권한 설정 및 주소 분리를 통해 소프트웨어가 불필요하거나 잘못된 영역에 접근하지 않도록 보호</a:t>
                      </a:r>
                      <a:r>
                        <a:rPr lang="en-US" altLang="ko-KR" sz="1600" dirty="0">
                          <a:effectLst/>
                        </a:rPr>
                        <a:t>.</a:t>
                      </a:r>
                    </a:p>
                  </a:txBody>
                  <a:tcPr marL="51073" marR="51073" marT="25536" marB="25536" anchor="ctr"/>
                </a:tc>
                <a:extLst>
                  <a:ext uri="{0D108BD9-81ED-4DB2-BD59-A6C34878D82A}">
                    <a16:rowId xmlns:a16="http://schemas.microsoft.com/office/drawing/2014/main" val="3137318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53650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116DF-8FB6-9A30-8B0D-F58C1A65E6D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83602" y="571954"/>
            <a:ext cx="10515600" cy="620713"/>
          </a:xfrm>
        </p:spPr>
        <p:txBody>
          <a:bodyPr>
            <a:normAutofit/>
          </a:bodyPr>
          <a:lstStyle/>
          <a:p>
            <a:r>
              <a:rPr lang="en-CA" sz="3600" dirty="0"/>
              <a:t>Memory Management with Register Map</a:t>
            </a:r>
            <a:endParaRPr lang="en-CA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9CC8642-77ED-75DE-33F9-24CEA41EABB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2798" y="1624373"/>
          <a:ext cx="10806404" cy="2915472"/>
        </p:xfrm>
        <a:graphic>
          <a:graphicData uri="http://schemas.openxmlformats.org/drawingml/2006/table">
            <a:tbl>
              <a:tblPr firstRow="1" firstCol="1">
                <a:tableStyleId>{00A15C55-8517-42AA-B614-E9B94910E393}</a:tableStyleId>
              </a:tblPr>
              <a:tblGrid>
                <a:gridCol w="2181031">
                  <a:extLst>
                    <a:ext uri="{9D8B030D-6E8A-4147-A177-3AD203B41FA5}">
                      <a16:colId xmlns:a16="http://schemas.microsoft.com/office/drawing/2014/main" val="1119075278"/>
                    </a:ext>
                  </a:extLst>
                </a:gridCol>
                <a:gridCol w="8625373">
                  <a:extLst>
                    <a:ext uri="{9D8B030D-6E8A-4147-A177-3AD203B41FA5}">
                      <a16:colId xmlns:a16="http://schemas.microsoft.com/office/drawing/2014/main" val="32961717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t" latinLnBrk="0"/>
                      <a:r>
                        <a:rPr lang="ko-KR" altLang="en-US" sz="2000" b="0" dirty="0">
                          <a:effectLst/>
                        </a:rPr>
                        <a:t>항목</a:t>
                      </a:r>
                    </a:p>
                  </a:txBody>
                  <a:tcPr marL="43953" marR="43953" marT="21976" marB="21976"/>
                </a:tc>
                <a:tc>
                  <a:txBody>
                    <a:bodyPr/>
                    <a:lstStyle/>
                    <a:p>
                      <a:pPr algn="ctr" fontAlgn="t" latinLnBrk="0"/>
                      <a:r>
                        <a:rPr lang="ko-KR" altLang="en-US" sz="2000" b="0" dirty="0">
                          <a:effectLst/>
                        </a:rPr>
                        <a:t>설명</a:t>
                      </a:r>
                    </a:p>
                  </a:txBody>
                  <a:tcPr marL="43953" marR="43953" marT="21976" marB="21976"/>
                </a:tc>
                <a:extLst>
                  <a:ext uri="{0D108BD9-81ED-4DB2-BD59-A6C34878D82A}">
                    <a16:rowId xmlns:a16="http://schemas.microsoft.com/office/drawing/2014/main" val="1251590008"/>
                  </a:ext>
                </a:extLst>
              </a:tr>
              <a:tr h="319571">
                <a:tc>
                  <a:txBody>
                    <a:bodyPr/>
                    <a:lstStyle/>
                    <a:p>
                      <a:pPr algn="ctr" fontAlgn="base" latinLnBrk="0"/>
                      <a:r>
                        <a:rPr lang="ko-KR" altLang="en-US" sz="1800" b="0" dirty="0">
                          <a:effectLst/>
                        </a:rPr>
                        <a:t>효율적인 자원 분배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600" dirty="0">
                          <a:effectLst/>
                        </a:rPr>
                        <a:t>각 하드웨어 모듈에 고유한 메모리 공간을 할당하여 충돌을 방지하고</a:t>
                      </a:r>
                      <a:r>
                        <a:rPr lang="en-US" altLang="ko-KR" sz="1600" dirty="0">
                          <a:effectLst/>
                        </a:rPr>
                        <a:t>, CPU</a:t>
                      </a:r>
                      <a:r>
                        <a:rPr lang="ko-KR" altLang="en-US" sz="1600" dirty="0">
                          <a:effectLst/>
                        </a:rPr>
                        <a:t>가 효율적으로 접근 가능</a:t>
                      </a:r>
                      <a:r>
                        <a:rPr lang="en-US" altLang="ko-KR" sz="1600" dirty="0">
                          <a:effectLst/>
                        </a:rPr>
                        <a:t>.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735505280"/>
                  </a:ext>
                </a:extLst>
              </a:tr>
              <a:tr h="319571">
                <a:tc>
                  <a:txBody>
                    <a:bodyPr/>
                    <a:lstStyle/>
                    <a:p>
                      <a:pPr algn="ctr" fontAlgn="base" latinLnBrk="0"/>
                      <a:r>
                        <a:rPr lang="ko-KR" altLang="en-US" sz="1800" b="0" dirty="0">
                          <a:effectLst/>
                        </a:rPr>
                        <a:t>소프트웨어와 하드웨어 통합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600">
                          <a:effectLst/>
                        </a:rPr>
                        <a:t>소프트웨어가 특정 메모리 주소를 통해 하드웨어를 제어하거나 상태를 읽음으로써 간단한 통합 가능</a:t>
                      </a:r>
                      <a:r>
                        <a:rPr lang="en-US" altLang="ko-KR" sz="1600">
                          <a:effectLst/>
                        </a:rPr>
                        <a:t>.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2344086955"/>
                  </a:ext>
                </a:extLst>
              </a:tr>
              <a:tr h="269113">
                <a:tc>
                  <a:txBody>
                    <a:bodyPr/>
                    <a:lstStyle/>
                    <a:p>
                      <a:pPr algn="ctr" fontAlgn="base" latinLnBrk="0"/>
                      <a:r>
                        <a:rPr lang="ko-KR" altLang="en-US" sz="1800" b="0" dirty="0">
                          <a:effectLst/>
                        </a:rPr>
                        <a:t>확장성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600">
                          <a:effectLst/>
                        </a:rPr>
                        <a:t>새로운 하드웨어 모듈 추가 시 기존 구조에 쉽게 통합 가능 </a:t>
                      </a:r>
                      <a:r>
                        <a:rPr lang="en-US" altLang="ko-KR" sz="1600">
                          <a:effectLst/>
                        </a:rPr>
                        <a:t>(</a:t>
                      </a:r>
                      <a:r>
                        <a:rPr lang="ko-KR" altLang="en-US" sz="1600">
                          <a:effectLst/>
                        </a:rPr>
                        <a:t>새로운 주소 공간만 추가</a:t>
                      </a:r>
                      <a:r>
                        <a:rPr lang="en-US" altLang="ko-KR" sz="1600">
                          <a:effectLst/>
                        </a:rPr>
                        <a:t>).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3853500111"/>
                  </a:ext>
                </a:extLst>
              </a:tr>
              <a:tr h="319571">
                <a:tc>
                  <a:txBody>
                    <a:bodyPr/>
                    <a:lstStyle/>
                    <a:p>
                      <a:pPr algn="ctr" fontAlgn="base" latinLnBrk="0"/>
                      <a:r>
                        <a:rPr lang="ko-KR" altLang="en-US" sz="1800" b="0" dirty="0">
                          <a:effectLst/>
                        </a:rPr>
                        <a:t>읽기</a:t>
                      </a:r>
                      <a:r>
                        <a:rPr lang="en-US" altLang="ko-KR" sz="1800" b="0" dirty="0">
                          <a:effectLst/>
                        </a:rPr>
                        <a:t>/</a:t>
                      </a:r>
                      <a:r>
                        <a:rPr lang="ko-KR" altLang="en-US" sz="1800" b="0" dirty="0">
                          <a:effectLst/>
                        </a:rPr>
                        <a:t>쓰기 권한 설정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600">
                          <a:effectLst/>
                        </a:rPr>
                        <a:t>레지스터마다 읽기</a:t>
                      </a:r>
                      <a:r>
                        <a:rPr lang="en-US" altLang="ko-KR" sz="1600">
                          <a:effectLst/>
                        </a:rPr>
                        <a:t>(Read), </a:t>
                      </a:r>
                      <a:r>
                        <a:rPr lang="ko-KR" altLang="en-US" sz="1600">
                          <a:effectLst/>
                        </a:rPr>
                        <a:t>쓰기</a:t>
                      </a:r>
                      <a:r>
                        <a:rPr lang="en-US" altLang="ko-KR" sz="1600">
                          <a:effectLst/>
                        </a:rPr>
                        <a:t>(Write), </a:t>
                      </a:r>
                      <a:r>
                        <a:rPr lang="ko-KR" altLang="en-US" sz="1600">
                          <a:effectLst/>
                        </a:rPr>
                        <a:t>읽기</a:t>
                      </a:r>
                      <a:r>
                        <a:rPr lang="en-US" altLang="ko-KR" sz="1600">
                          <a:effectLst/>
                        </a:rPr>
                        <a:t>-</a:t>
                      </a:r>
                      <a:r>
                        <a:rPr lang="ko-KR" altLang="en-US" sz="1600">
                          <a:effectLst/>
                        </a:rPr>
                        <a:t>쓰기</a:t>
                      </a:r>
                      <a:r>
                        <a:rPr lang="en-US" altLang="ko-KR" sz="1600">
                          <a:effectLst/>
                        </a:rPr>
                        <a:t>(Read-Write) </a:t>
                      </a:r>
                      <a:r>
                        <a:rPr lang="ko-KR" altLang="en-US" sz="1600">
                          <a:effectLst/>
                        </a:rPr>
                        <a:t>권한을 설정하여 메모리 보호 가능</a:t>
                      </a:r>
                      <a:r>
                        <a:rPr lang="en-US" altLang="ko-KR" sz="1600">
                          <a:effectLst/>
                        </a:rPr>
                        <a:t>.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1388290990"/>
                  </a:ext>
                </a:extLst>
              </a:tr>
              <a:tr h="370030">
                <a:tc>
                  <a:txBody>
                    <a:bodyPr/>
                    <a:lstStyle/>
                    <a:p>
                      <a:pPr algn="ctr" fontAlgn="base" latinLnBrk="0"/>
                      <a:r>
                        <a:rPr lang="ko-KR" altLang="en-US" sz="1800" b="0" dirty="0">
                          <a:effectLst/>
                        </a:rPr>
                        <a:t>디버깅 및 유지보수 용이성</a:t>
                      </a:r>
                      <a:endParaRPr lang="ko-KR" altLang="en-US" sz="1800" dirty="0">
                        <a:effectLst/>
                      </a:endParaRP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ko-KR" altLang="en-US" sz="1600" dirty="0">
                          <a:effectLst/>
                        </a:rPr>
                        <a:t>명확히 정의된 레지스터 맵 덕분에 소프트웨어와 하드웨어 간의 인터페이스가 직관적이고 문제 해결이 용이</a:t>
                      </a:r>
                      <a:r>
                        <a:rPr lang="en-US" altLang="ko-KR" sz="1600" dirty="0">
                          <a:effectLst/>
                        </a:rPr>
                        <a:t>.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31191042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873043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11032</TotalTime>
  <Words>1173</Words>
  <Application>Microsoft Office PowerPoint</Application>
  <PresentationFormat>와이드스크린</PresentationFormat>
  <Paragraphs>221</Paragraphs>
  <Slides>22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맑은 고딕</vt:lpstr>
      <vt:lpstr>나눔스퀘어 네오 Regular</vt:lpstr>
      <vt:lpstr>Arial</vt:lpstr>
      <vt:lpstr>Courier New</vt:lpstr>
      <vt:lpstr>Segoe UI</vt:lpstr>
      <vt:lpstr>Wingdings</vt:lpstr>
      <vt:lpstr>Office 테마</vt:lpstr>
      <vt:lpstr>SoC 102: Design</vt:lpstr>
      <vt:lpstr>PowerPoint 프레젠테이션</vt:lpstr>
      <vt:lpstr>PowerPoint 프레젠테이션</vt:lpstr>
      <vt:lpstr>Sequential Logic</vt:lpstr>
      <vt:lpstr>D-Latch</vt:lpstr>
      <vt:lpstr>D Flip-Flop</vt:lpstr>
      <vt:lpstr>Comparison btw Latch and FF</vt:lpstr>
      <vt:lpstr>LAB1 : D-Latch Specification</vt:lpstr>
      <vt:lpstr>LAB2 : D Flip Flop Specification</vt:lpstr>
      <vt:lpstr>PowerPoint 프레젠테이션</vt:lpstr>
      <vt:lpstr>Counter</vt:lpstr>
      <vt:lpstr>Counter</vt:lpstr>
      <vt:lpstr>LAB : Counter Specification</vt:lpstr>
      <vt:lpstr>PowerPoint 프레젠테이션</vt:lpstr>
      <vt:lpstr>Shift Register</vt:lpstr>
      <vt:lpstr>SoC 기본 순차논리 - 시프트 레지스터</vt:lpstr>
      <vt:lpstr>LAB : SIPO(Serial In Parallel Out) Shift Register</vt:lpstr>
      <vt:lpstr>PowerPoint 프레젠테이션</vt:lpstr>
      <vt:lpstr>Register Map</vt:lpstr>
      <vt:lpstr>Memory Map</vt:lpstr>
      <vt:lpstr>Memory Management with Register Map</vt:lpstr>
      <vt:lpstr>Memory Management with Register 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 Control with FPGA</dc:title>
  <dc:creator>Seungan Woo</dc:creator>
  <cp:lastModifiedBy> 우승안</cp:lastModifiedBy>
  <cp:revision>609</cp:revision>
  <dcterms:created xsi:type="dcterms:W3CDTF">2024-09-20T05:42:48Z</dcterms:created>
  <dcterms:modified xsi:type="dcterms:W3CDTF">2026-07-05T10:53:13Z</dcterms:modified>
</cp:coreProperties>
</file>