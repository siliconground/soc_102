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0" r:id="rId2"/>
    <p:sldId id="658" r:id="rId3"/>
    <p:sldId id="682" r:id="rId4"/>
    <p:sldId id="644" r:id="rId5"/>
    <p:sldId id="712" r:id="rId6"/>
    <p:sldId id="716" r:id="rId7"/>
    <p:sldId id="715" r:id="rId8"/>
    <p:sldId id="727" r:id="rId9"/>
    <p:sldId id="645" r:id="rId10"/>
    <p:sldId id="721" r:id="rId11"/>
    <p:sldId id="722" r:id="rId12"/>
    <p:sldId id="646" r:id="rId13"/>
    <p:sldId id="72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58"/>
            <p14:sldId id="682"/>
            <p14:sldId id="644"/>
            <p14:sldId id="712"/>
            <p14:sldId id="716"/>
            <p14:sldId id="715"/>
            <p14:sldId id="727"/>
            <p14:sldId id="645"/>
            <p14:sldId id="721"/>
            <p14:sldId id="722"/>
            <p14:sldId id="646"/>
            <p14:sldId id="7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9056" autoAdjust="0"/>
  </p:normalViewPr>
  <p:slideViewPr>
    <p:cSldViewPr snapToGrid="0" showGuides="1">
      <p:cViewPr varScale="1">
        <p:scale>
          <a:sx n="114" d="100"/>
          <a:sy n="114" d="100"/>
        </p:scale>
        <p:origin x="132" y="306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295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7712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3430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5581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426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043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485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818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2026-07-05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6"/>
            <a:ext cx="7689344" cy="802161"/>
          </a:xfrm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SoC 102: Design</a:t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3917510"/>
            <a:ext cx="7689344" cy="438950"/>
          </a:xfrm>
        </p:spPr>
        <p:txBody>
          <a:bodyPr/>
          <a:lstStyle/>
          <a:p>
            <a:r>
              <a:rPr lang="en-US" altLang="ko-KR" b="1" dirty="0"/>
              <a:t>Session7</a:t>
            </a:r>
            <a:r>
              <a:rPr lang="en-US" altLang="ko-KR" dirty="0"/>
              <a:t> : </a:t>
            </a:r>
            <a:r>
              <a:rPr lang="en-US" altLang="ko-KR" b="1" dirty="0"/>
              <a:t>F</a:t>
            </a:r>
            <a:r>
              <a:rPr lang="en-US" altLang="ko-KR" dirty="0"/>
              <a:t>inite </a:t>
            </a:r>
            <a:r>
              <a:rPr lang="en-US" altLang="ko-KR" b="1" dirty="0"/>
              <a:t>S</a:t>
            </a:r>
            <a:r>
              <a:rPr lang="en-US" altLang="ko-KR" dirty="0"/>
              <a:t>tate </a:t>
            </a:r>
            <a:r>
              <a:rPr lang="en-US" altLang="ko-KR" b="1" dirty="0"/>
              <a:t>M</a:t>
            </a:r>
            <a:r>
              <a:rPr lang="en-US" altLang="ko-KR" dirty="0"/>
              <a:t>achine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D66995-EC8F-4241-838D-FB8A84AF17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3363-4663-4A83-B5B9-7302893C9A0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E3330-E42F-45C6-9FDA-74753CBBADAF}"/>
              </a:ext>
            </a:extLst>
          </p:cNvPr>
          <p:cNvSpPr txBox="1"/>
          <p:nvPr/>
        </p:nvSpPr>
        <p:spPr>
          <a:xfrm>
            <a:off x="570451" y="1325461"/>
            <a:ext cx="8296712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Understanding Finite State Machine(FSM)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Moore Machine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Mealy  Machine</a:t>
            </a:r>
          </a:p>
        </p:txBody>
      </p:sp>
    </p:spTree>
    <p:extLst>
      <p:ext uri="{BB962C8B-B14F-4D97-AF65-F5344CB8AC3E}">
        <p14:creationId xmlns:p14="http://schemas.microsoft.com/office/powerpoint/2010/main" val="345115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1. Finite State Machine</a:t>
            </a:r>
          </a:p>
        </p:txBody>
      </p:sp>
    </p:spTree>
    <p:extLst>
      <p:ext uri="{BB962C8B-B14F-4D97-AF65-F5344CB8AC3E}">
        <p14:creationId xmlns:p14="http://schemas.microsoft.com/office/powerpoint/2010/main" val="73414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SoC </a:t>
            </a:r>
            <a:r>
              <a:rPr lang="ko-KR" altLang="en-US" sz="3200" dirty="0"/>
              <a:t>기본 </a:t>
            </a:r>
            <a:r>
              <a:rPr lang="ko-KR" altLang="en-US" sz="3200" dirty="0" err="1"/>
              <a:t>유한상태머신</a:t>
            </a:r>
            <a:r>
              <a:rPr lang="ko-KR" altLang="en-US" sz="3200" dirty="0"/>
              <a:t> 회로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AEBED-79A3-0673-483A-1E2DC7B3A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986118"/>
            <a:ext cx="10515600" cy="505637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2400" dirty="0"/>
              <a:t>유한상태 머신</a:t>
            </a:r>
            <a:r>
              <a:rPr lang="en-US" altLang="ko-KR" sz="2400" dirty="0"/>
              <a:t>(Finite State Machine; FSM)</a:t>
            </a:r>
          </a:p>
          <a:p>
            <a:pPr lvl="1">
              <a:lnSpc>
                <a:spcPct val="130000"/>
              </a:lnSpc>
            </a:pPr>
            <a:r>
              <a:rPr lang="ko-KR" altLang="en-US" sz="1800" dirty="0">
                <a:latin typeface="+mn-ea"/>
              </a:rPr>
              <a:t>정해진 수의 상태를 가지고 상태들 간의 천이</a:t>
            </a:r>
            <a:r>
              <a:rPr lang="en-US" altLang="ko-KR" sz="1800" dirty="0">
                <a:latin typeface="+mn-ea"/>
              </a:rPr>
              <a:t>(Transition)</a:t>
            </a:r>
            <a:r>
              <a:rPr lang="ko-KR" altLang="en-US" sz="1800" dirty="0">
                <a:latin typeface="+mn-ea"/>
              </a:rPr>
              <a:t>에 의해 출력을 생성하는 회로</a:t>
            </a:r>
          </a:p>
          <a:p>
            <a:pPr lvl="1">
              <a:lnSpc>
                <a:spcPct val="130000"/>
              </a:lnSpc>
            </a:pPr>
            <a:r>
              <a:rPr lang="ko-KR" altLang="en-US" sz="1800" dirty="0">
                <a:latin typeface="+mn-ea"/>
              </a:rPr>
              <a:t>디지털 시스템의 제어회로 구성에 사용</a:t>
            </a:r>
          </a:p>
          <a:p>
            <a:pPr lvl="1">
              <a:lnSpc>
                <a:spcPct val="130000"/>
              </a:lnSpc>
            </a:pPr>
            <a:r>
              <a:rPr lang="en-US" altLang="ko-KR" sz="1800" b="1" dirty="0">
                <a:solidFill>
                  <a:srgbClr val="7030A0"/>
                </a:solidFill>
                <a:latin typeface="+mn-ea"/>
              </a:rPr>
              <a:t>Moore </a:t>
            </a:r>
            <a:r>
              <a:rPr lang="ko-KR" altLang="en-US" sz="1800" b="1" dirty="0">
                <a:solidFill>
                  <a:srgbClr val="7030A0"/>
                </a:solidFill>
                <a:latin typeface="+mn-ea"/>
              </a:rPr>
              <a:t>머신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출력이 단지 현재상태에 의해서 결정</a:t>
            </a:r>
          </a:p>
          <a:p>
            <a:pPr lvl="1">
              <a:lnSpc>
                <a:spcPct val="130000"/>
              </a:lnSpc>
            </a:pPr>
            <a:r>
              <a:rPr lang="en-US" altLang="ko-KR" sz="1800" b="1" dirty="0">
                <a:solidFill>
                  <a:srgbClr val="7030A0"/>
                </a:solidFill>
                <a:latin typeface="+mn-ea"/>
              </a:rPr>
              <a:t>Mealy </a:t>
            </a:r>
            <a:r>
              <a:rPr lang="ko-KR" altLang="en-US" sz="1800" b="1" dirty="0">
                <a:solidFill>
                  <a:srgbClr val="7030A0"/>
                </a:solidFill>
                <a:latin typeface="+mn-ea"/>
              </a:rPr>
              <a:t>머신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현재상태와 입력에 의해 출력이 결정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79A901-E198-5B3F-7E2D-B7DA001DA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137262"/>
              </p:ext>
            </p:extLst>
          </p:nvPr>
        </p:nvGraphicFramePr>
        <p:xfrm>
          <a:off x="7278241" y="2547585"/>
          <a:ext cx="4794338" cy="3440644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722884">
                  <a:extLst>
                    <a:ext uri="{9D8B030D-6E8A-4147-A177-3AD203B41FA5}">
                      <a16:colId xmlns:a16="http://schemas.microsoft.com/office/drawing/2014/main" val="469523427"/>
                    </a:ext>
                  </a:extLst>
                </a:gridCol>
                <a:gridCol w="3071454">
                  <a:extLst>
                    <a:ext uri="{9D8B030D-6E8A-4147-A177-3AD203B41FA5}">
                      <a16:colId xmlns:a16="http://schemas.microsoft.com/office/drawing/2014/main" val="2310108168"/>
                    </a:ext>
                  </a:extLst>
                </a:gridCol>
              </a:tblGrid>
              <a:tr h="338201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600" b="0">
                          <a:effectLst/>
                        </a:rPr>
                        <a:t>로직 종류</a:t>
                      </a:r>
                      <a:endParaRPr lang="ko-KR" altLang="en-US" sz="1600" b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600" b="0" dirty="0">
                          <a:effectLst/>
                        </a:rPr>
                        <a:t>역할 및 특징</a:t>
                      </a:r>
                      <a:endParaRPr lang="ko-KR" altLang="en-US" sz="1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/>
                </a:tc>
                <a:extLst>
                  <a:ext uri="{0D108BD9-81ED-4DB2-BD59-A6C34878D82A}">
                    <a16:rowId xmlns:a16="http://schemas.microsoft.com/office/drawing/2014/main" val="2997147287"/>
                  </a:ext>
                </a:extLst>
              </a:tr>
              <a:tr h="86712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CA" sz="1600" dirty="0">
                          <a:effectLst/>
                        </a:rPr>
                        <a:t>. State Sequential Logic</a:t>
                      </a:r>
                      <a:endParaRPr lang="en-CA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클럭을 기준으로 현재 상태</a:t>
                      </a:r>
                      <a:r>
                        <a:rPr lang="en-US" altLang="ko-KR" sz="1600" dirty="0">
                          <a:effectLst/>
                        </a:rPr>
                        <a:t>(state)</a:t>
                      </a:r>
                      <a:r>
                        <a:rPr lang="ko-KR" altLang="en-US" sz="1600" dirty="0">
                          <a:effectLst/>
                        </a:rPr>
                        <a:t>를 저장하고 업데이트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909297435"/>
                  </a:ext>
                </a:extLst>
              </a:tr>
              <a:tr h="86712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CA" sz="1600" dirty="0">
                          <a:effectLst/>
                        </a:rPr>
                        <a:t>. Next Combinational Logic</a:t>
                      </a:r>
                      <a:endParaRPr lang="en-CA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입력과 현재 상태에 따라 다음 상태</a:t>
                      </a:r>
                      <a:r>
                        <a:rPr lang="en-US" altLang="ko-KR" sz="1600" dirty="0">
                          <a:effectLst/>
                        </a:rPr>
                        <a:t>(</a:t>
                      </a:r>
                      <a:r>
                        <a:rPr lang="en-US" altLang="ko-KR" sz="1600" dirty="0" err="1">
                          <a:effectLst/>
                        </a:rPr>
                        <a:t>next_state</a:t>
                      </a:r>
                      <a:r>
                        <a:rPr lang="en-US" altLang="ko-KR" sz="1600" dirty="0">
                          <a:effectLst/>
                        </a:rPr>
                        <a:t>)</a:t>
                      </a:r>
                      <a:r>
                        <a:rPr lang="ko-KR" altLang="en-US" sz="1600" dirty="0">
                          <a:effectLst/>
                        </a:rPr>
                        <a:t>를 결정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502922753"/>
                  </a:ext>
                </a:extLst>
              </a:tr>
              <a:tr h="136819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r>
                        <a:rPr lang="en-CA" sz="1600" dirty="0">
                          <a:effectLst/>
                        </a:rPr>
                        <a:t>. Output Logic</a:t>
                      </a:r>
                      <a:endParaRPr lang="en-CA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600" dirty="0">
                          <a:effectLst/>
                        </a:rPr>
                        <a:t>Moore FSM</a:t>
                      </a:r>
                      <a:r>
                        <a:rPr lang="ko-KR" altLang="en-US" sz="1600" dirty="0">
                          <a:effectLst/>
                        </a:rPr>
                        <a:t>에서는 현재 상태만으로 출력을 결정하며</a:t>
                      </a:r>
                      <a:r>
                        <a:rPr lang="en-US" altLang="ko-KR" sz="1600" dirty="0">
                          <a:effectLst/>
                        </a:rPr>
                        <a:t>,</a:t>
                      </a:r>
                    </a:p>
                    <a:p>
                      <a:pPr algn="ctr" fontAlgn="base" latinLnBrk="0"/>
                      <a:r>
                        <a:rPr lang="en-US" altLang="ko-KR" sz="1600" dirty="0">
                          <a:effectLst/>
                        </a:rPr>
                        <a:t> Mealy FSM</a:t>
                      </a:r>
                      <a:r>
                        <a:rPr lang="ko-KR" altLang="en-US" sz="1600" dirty="0">
                          <a:effectLst/>
                        </a:rPr>
                        <a:t>에서는 입력과 현재 상태 모두를 고려하여 출력을 결정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090544897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A1E23B58-5463-435B-88CE-1EF8615B4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95" y="3950279"/>
            <a:ext cx="6208917" cy="168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59F90-3CCD-D225-E209-0443374A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SoC </a:t>
            </a:r>
            <a:r>
              <a:rPr lang="ko-KR" altLang="en-US" sz="3600" dirty="0"/>
              <a:t>기본 </a:t>
            </a:r>
            <a:r>
              <a:rPr lang="ko-KR" altLang="en-US" sz="3600" dirty="0" err="1"/>
              <a:t>유한상태머신</a:t>
            </a:r>
            <a:r>
              <a:rPr lang="ko-KR" altLang="en-US" sz="3600" dirty="0"/>
              <a:t> 회로</a:t>
            </a:r>
            <a:endParaRPr lang="en-CA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3D5E233-B22C-67FC-28C4-B22DD059E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77380"/>
              </p:ext>
            </p:extLst>
          </p:nvPr>
        </p:nvGraphicFramePr>
        <p:xfrm>
          <a:off x="2524125" y="4513964"/>
          <a:ext cx="7143750" cy="182880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842807">
                  <a:extLst>
                    <a:ext uri="{9D8B030D-6E8A-4147-A177-3AD203B41FA5}">
                      <a16:colId xmlns:a16="http://schemas.microsoft.com/office/drawing/2014/main" val="1225862278"/>
                    </a:ext>
                  </a:extLst>
                </a:gridCol>
                <a:gridCol w="2528047">
                  <a:extLst>
                    <a:ext uri="{9D8B030D-6E8A-4147-A177-3AD203B41FA5}">
                      <a16:colId xmlns:a16="http://schemas.microsoft.com/office/drawing/2014/main" val="1304573595"/>
                    </a:ext>
                  </a:extLst>
                </a:gridCol>
                <a:gridCol w="2772896">
                  <a:extLst>
                    <a:ext uri="{9D8B030D-6E8A-4147-A177-3AD203B41FA5}">
                      <a16:colId xmlns:a16="http://schemas.microsoft.com/office/drawing/2014/main" val="1549063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CA" b="0">
                          <a:effectLst/>
                        </a:rPr>
                        <a:t>Mealy </a:t>
                      </a:r>
                      <a:r>
                        <a:rPr lang="ko-KR" altLang="en-US" b="0">
                          <a:effectLst/>
                        </a:rPr>
                        <a:t>머신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CA" b="0">
                          <a:effectLst/>
                        </a:rPr>
                        <a:t>Moore </a:t>
                      </a:r>
                      <a:r>
                        <a:rPr lang="ko-KR" altLang="en-US" b="0">
                          <a:effectLst/>
                        </a:rPr>
                        <a:t>머신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1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dirty="0">
                          <a:effectLst/>
                        </a:rPr>
                        <a:t>출력 결정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현재 상태와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현재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93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출력 반응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입력 변화에 즉각 반응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b="1" dirty="0">
                          <a:effectLst/>
                        </a:rPr>
                        <a:t>클럭 주기에 따라 반응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4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설계 복잡도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상대적으로 복잡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dirty="0">
                          <a:effectLst/>
                        </a:rPr>
                        <a:t>상대적으로 단순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562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상태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적음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dirty="0">
                          <a:effectLst/>
                        </a:rPr>
                        <a:t>많음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531237"/>
                  </a:ext>
                </a:extLst>
              </a:tr>
            </a:tbl>
          </a:graphicData>
        </a:graphic>
      </p:graphicFrame>
      <p:pic>
        <p:nvPicPr>
          <p:cNvPr id="14340" name="Picture 4" descr="Melay vs Moore machine difference">
            <a:extLst>
              <a:ext uri="{FF2B5EF4-FFF2-40B4-BE49-F238E27FC236}">
                <a16:creationId xmlns:a16="http://schemas.microsoft.com/office/drawing/2014/main" id="{86D645CF-D418-1789-73CF-607F785C4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0" y="986118"/>
            <a:ext cx="56007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58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2.1.  Moore Machine</a:t>
            </a:r>
          </a:p>
        </p:txBody>
      </p:sp>
    </p:spTree>
    <p:extLst>
      <p:ext uri="{BB962C8B-B14F-4D97-AF65-F5344CB8AC3E}">
        <p14:creationId xmlns:p14="http://schemas.microsoft.com/office/powerpoint/2010/main" val="4200507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A47B-04C2-2F03-E2AD-1E9851B074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1115" y="491203"/>
            <a:ext cx="10515600" cy="620713"/>
          </a:xfrm>
        </p:spPr>
        <p:txBody>
          <a:bodyPr/>
          <a:lstStyle/>
          <a:p>
            <a:r>
              <a:rPr lang="en-US" altLang="ko-KR" sz="3600" b="0" dirty="0"/>
              <a:t>Moore Machine</a:t>
            </a:r>
            <a:endParaRPr lang="en-CA" b="0" dirty="0"/>
          </a:p>
        </p:txBody>
      </p:sp>
      <p:pic>
        <p:nvPicPr>
          <p:cNvPr id="5" name="Picture 2" descr="논리회로 무어머신, 밀리머신 개념과 차이 (Moore, Mealy)">
            <a:extLst>
              <a:ext uri="{FF2B5EF4-FFF2-40B4-BE49-F238E27FC236}">
                <a16:creationId xmlns:a16="http://schemas.microsoft.com/office/drawing/2014/main" id="{C1FF6996-67F6-8F2C-11EB-1D783A8511D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29" y="3614964"/>
            <a:ext cx="45339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Melay vs Moore machine difference">
            <a:extLst>
              <a:ext uri="{FF2B5EF4-FFF2-40B4-BE49-F238E27FC236}">
                <a16:creationId xmlns:a16="http://schemas.microsoft.com/office/drawing/2014/main" id="{A05F1602-FA05-F28E-1696-B8127661A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70"/>
          <a:stretch/>
        </p:blipFill>
        <p:spPr bwMode="auto">
          <a:xfrm>
            <a:off x="3295650" y="1524000"/>
            <a:ext cx="5600700" cy="159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16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A47B-04C2-2F03-E2AD-1E9851B074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1115" y="491203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b="0" dirty="0"/>
              <a:t>Encoding : state value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D21BA5-4D96-483A-BFD9-32F4C9AED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15" y="1553040"/>
            <a:ext cx="9932871" cy="422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28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440B9-1F2D-2E80-2DC0-99D7B993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8B299-11D1-AA79-7244-A4B1FD0543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4392"/>
            <a:ext cx="10515600" cy="620713"/>
          </a:xfrm>
        </p:spPr>
        <p:txBody>
          <a:bodyPr/>
          <a:lstStyle/>
          <a:p>
            <a:r>
              <a:rPr lang="en-US" sz="3200" b="0" dirty="0"/>
              <a:t>LAB : Specification &amp; SM Chart</a:t>
            </a:r>
            <a:endParaRPr lang="en-CA" sz="3200" b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03BD73-F250-4841-EAB1-B225105DFC1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5315" y="1228164"/>
            <a:ext cx="10515600" cy="505618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sz="2400" dirty="0"/>
              <a:t>4</a:t>
            </a:r>
            <a:r>
              <a:rPr lang="ko-KR" altLang="en-US" sz="2400" dirty="0"/>
              <a:t>개의 상태를 갖는 </a:t>
            </a:r>
            <a:r>
              <a:rPr lang="en-US" altLang="ko-KR" sz="2400" dirty="0"/>
              <a:t>FSM </a:t>
            </a:r>
            <a:r>
              <a:rPr lang="ko-KR" altLang="en-US" sz="2400" dirty="0"/>
              <a:t>모델링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C555D9-D22A-A8A9-B571-BF835D68E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086" y="2012828"/>
            <a:ext cx="4652029" cy="361700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0D52F9B-9BC8-0148-A125-88F489413DB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096000" y="2724052"/>
          <a:ext cx="5255468" cy="219456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313867">
                  <a:extLst>
                    <a:ext uri="{9D8B030D-6E8A-4147-A177-3AD203B41FA5}">
                      <a16:colId xmlns:a16="http://schemas.microsoft.com/office/drawing/2014/main" val="1960147863"/>
                    </a:ext>
                  </a:extLst>
                </a:gridCol>
                <a:gridCol w="1313867">
                  <a:extLst>
                    <a:ext uri="{9D8B030D-6E8A-4147-A177-3AD203B41FA5}">
                      <a16:colId xmlns:a16="http://schemas.microsoft.com/office/drawing/2014/main" val="3391784892"/>
                    </a:ext>
                  </a:extLst>
                </a:gridCol>
                <a:gridCol w="1313867">
                  <a:extLst>
                    <a:ext uri="{9D8B030D-6E8A-4147-A177-3AD203B41FA5}">
                      <a16:colId xmlns:a16="http://schemas.microsoft.com/office/drawing/2014/main" val="3551347860"/>
                    </a:ext>
                  </a:extLst>
                </a:gridCol>
                <a:gridCol w="1313867">
                  <a:extLst>
                    <a:ext uri="{9D8B030D-6E8A-4147-A177-3AD203B41FA5}">
                      <a16:colId xmlns:a16="http://schemas.microsoft.com/office/drawing/2014/main" val="3248643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현재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입력 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다음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492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go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75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go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537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 err="1">
                          <a:effectLst/>
                        </a:rPr>
                        <a:t>ws</a:t>
                      </a:r>
                      <a:r>
                        <a:rPr lang="en-CA" dirty="0">
                          <a:effectLst/>
                        </a:rPr>
                        <a:t>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rd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00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ws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rd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ds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297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6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  Mealy Machine</a:t>
            </a:r>
          </a:p>
        </p:txBody>
      </p:sp>
    </p:spTree>
    <p:extLst>
      <p:ext uri="{BB962C8B-B14F-4D97-AF65-F5344CB8AC3E}">
        <p14:creationId xmlns:p14="http://schemas.microsoft.com/office/powerpoint/2010/main" val="4119726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98B81-CF41-3253-0163-87C356367A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5315" y="484868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Mealy Machine</a:t>
            </a:r>
          </a:p>
        </p:txBody>
      </p:sp>
      <p:pic>
        <p:nvPicPr>
          <p:cNvPr id="4" name="Picture 4" descr="Melay vs Moore machine difference">
            <a:extLst>
              <a:ext uri="{FF2B5EF4-FFF2-40B4-BE49-F238E27FC236}">
                <a16:creationId xmlns:a16="http://schemas.microsoft.com/office/drawing/2014/main" id="{31BA31CD-8AFD-62FF-D293-D95BF5B779D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49"/>
          <a:stretch/>
        </p:blipFill>
        <p:spPr bwMode="auto">
          <a:xfrm>
            <a:off x="2964371" y="1564402"/>
            <a:ext cx="5600700" cy="182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B04926A2-6B0B-BD38-038B-BD68951A1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146" y="3965416"/>
            <a:ext cx="4352925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08511-26FD-47FE-B4AD-12D609DB86CD}"/>
              </a:ext>
            </a:extLst>
          </p:cNvPr>
          <p:cNvSpPr txBox="1"/>
          <p:nvPr/>
        </p:nvSpPr>
        <p:spPr>
          <a:xfrm>
            <a:off x="5873115" y="5251291"/>
            <a:ext cx="1030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1F1F1F"/>
                </a:solidFill>
                <a:effectLst/>
                <a:latin typeface="AppleSDGothicNeo"/>
              </a:rPr>
              <a:t>입력</a:t>
            </a:r>
            <a:r>
              <a:rPr lang="en-US" altLang="ko-KR" sz="1400" b="1" i="0" dirty="0">
                <a:solidFill>
                  <a:srgbClr val="1F1F1F"/>
                </a:solidFill>
                <a:effectLst/>
                <a:latin typeface="AppleSDGothicNeo"/>
              </a:rPr>
              <a:t>/</a:t>
            </a:r>
            <a:r>
              <a:rPr lang="ko-KR" altLang="en-US" sz="1400" b="1" i="0" dirty="0">
                <a:solidFill>
                  <a:srgbClr val="1F1F1F"/>
                </a:solidFill>
                <a:effectLst/>
                <a:latin typeface="AppleSDGothicNeo"/>
              </a:rPr>
              <a:t>출력</a:t>
            </a:r>
            <a:endParaRPr lang="en-CA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8F290-9AFC-A15E-0946-547FA32DCC6E}"/>
              </a:ext>
            </a:extLst>
          </p:cNvPr>
          <p:cNvSpPr txBox="1"/>
          <p:nvPr/>
        </p:nvSpPr>
        <p:spPr>
          <a:xfrm>
            <a:off x="5076802" y="4049591"/>
            <a:ext cx="549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1F1F1F"/>
                </a:solidFill>
                <a:effectLst/>
                <a:latin typeface="AppleSDGothicNeo"/>
              </a:rPr>
              <a:t>상태</a:t>
            </a:r>
            <a:endParaRPr lang="en-CA" sz="1400" b="1" dirty="0"/>
          </a:p>
        </p:txBody>
      </p:sp>
    </p:spTree>
    <p:extLst>
      <p:ext uri="{BB962C8B-B14F-4D97-AF65-F5344CB8AC3E}">
        <p14:creationId xmlns:p14="http://schemas.microsoft.com/office/powerpoint/2010/main" val="2676468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8C6A8-1BA3-B948-44E7-03F8BFDB04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0467" y="357313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LAB: Specification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1E0A8-08D5-FDF5-F7FB-3EC552C204A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132972"/>
            <a:ext cx="10515600" cy="5056188"/>
          </a:xfrm>
        </p:spPr>
        <p:txBody>
          <a:bodyPr/>
          <a:lstStyle/>
          <a:p>
            <a:r>
              <a:rPr lang="en-US" altLang="ko-KR" dirty="0"/>
              <a:t>Sequence Detector : detect consecutive 0 or 1 detector</a:t>
            </a:r>
            <a:endParaRPr lang="ko-KR" altLang="en-US" dirty="0"/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123A1-31C2-493A-98CC-E3FE2A554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60903"/>
            <a:ext cx="110299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61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8C6A8-1BA3-B948-44E7-03F8BFDB04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0467" y="357313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LAB: SM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73C9B-48CD-4286-8400-C796C5516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661" y="1352681"/>
            <a:ext cx="4554310" cy="435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548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11345</TotalTime>
  <Words>275</Words>
  <Application>Microsoft Office PowerPoint</Application>
  <PresentationFormat>와이드스크린</PresentationFormat>
  <Paragraphs>83</Paragraphs>
  <Slides>13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AppleSDGothicNeo</vt:lpstr>
      <vt:lpstr>fkGroteskNeue</vt:lpstr>
      <vt:lpstr>맑은 고딕</vt:lpstr>
      <vt:lpstr>나눔스퀘어 네오 Regular</vt:lpstr>
      <vt:lpstr>Arial</vt:lpstr>
      <vt:lpstr>Office 테마</vt:lpstr>
      <vt:lpstr>SoC 102: Design </vt:lpstr>
      <vt:lpstr>PowerPoint 프레젠테이션</vt:lpstr>
      <vt:lpstr>PowerPoint 프레젠테이션</vt:lpstr>
      <vt:lpstr>SoC 기본 유한상태머신 회로</vt:lpstr>
      <vt:lpstr>SoC 기본 유한상태머신 회로</vt:lpstr>
      <vt:lpstr>PowerPoint 프레젠테이션</vt:lpstr>
      <vt:lpstr>Moore Machine</vt:lpstr>
      <vt:lpstr>Encoding : state value</vt:lpstr>
      <vt:lpstr>LAB : Specification &amp; SM Chart</vt:lpstr>
      <vt:lpstr>PowerPoint 프레젠테이션</vt:lpstr>
      <vt:lpstr>Mealy Machine</vt:lpstr>
      <vt:lpstr>LAB: Specification</vt:lpstr>
      <vt:lpstr>LAB: SM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 우승안</cp:lastModifiedBy>
  <cp:revision>634</cp:revision>
  <dcterms:created xsi:type="dcterms:W3CDTF">2024-09-20T05:42:48Z</dcterms:created>
  <dcterms:modified xsi:type="dcterms:W3CDTF">2026-07-05T10:53:21Z</dcterms:modified>
</cp:coreProperties>
</file>