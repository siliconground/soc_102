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70" r:id="rId2"/>
    <p:sldId id="658" r:id="rId3"/>
    <p:sldId id="649" r:id="rId4"/>
    <p:sldId id="659" r:id="rId5"/>
    <p:sldId id="461" r:id="rId6"/>
    <p:sldId id="651" r:id="rId7"/>
    <p:sldId id="660" r:id="rId8"/>
    <p:sldId id="470" r:id="rId9"/>
    <p:sldId id="661" r:id="rId10"/>
    <p:sldId id="667" r:id="rId11"/>
    <p:sldId id="471" r:id="rId12"/>
    <p:sldId id="668" r:id="rId13"/>
    <p:sldId id="675" r:id="rId14"/>
    <p:sldId id="469" r:id="rId15"/>
    <p:sldId id="676" r:id="rId16"/>
    <p:sldId id="677" r:id="rId17"/>
    <p:sldId id="681" r:id="rId18"/>
    <p:sldId id="472" r:id="rId19"/>
    <p:sldId id="682" r:id="rId20"/>
    <p:sldId id="686" r:id="rId21"/>
    <p:sldId id="690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A4D09D44-E933-426A-8F7A-A670F4423266}">
          <p14:sldIdLst>
            <p14:sldId id="270"/>
            <p14:sldId id="658"/>
            <p14:sldId id="649"/>
            <p14:sldId id="659"/>
            <p14:sldId id="461"/>
            <p14:sldId id="651"/>
            <p14:sldId id="660"/>
            <p14:sldId id="470"/>
            <p14:sldId id="661"/>
            <p14:sldId id="667"/>
            <p14:sldId id="471"/>
            <p14:sldId id="668"/>
            <p14:sldId id="675"/>
            <p14:sldId id="469"/>
            <p14:sldId id="676"/>
            <p14:sldId id="677"/>
            <p14:sldId id="681"/>
            <p14:sldId id="472"/>
            <p14:sldId id="682"/>
            <p14:sldId id="686"/>
            <p14:sldId id="69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4" userDrawn="1">
          <p15:clr>
            <a:srgbClr val="A4A3A4"/>
          </p15:clr>
        </p15:guide>
        <p15:guide id="2" pos="257" userDrawn="1">
          <p15:clr>
            <a:srgbClr val="A4A3A4"/>
          </p15:clr>
        </p15:guide>
        <p15:guide id="3" pos="7401" userDrawn="1">
          <p15:clr>
            <a:srgbClr val="A4A3A4"/>
          </p15:clr>
        </p15:guide>
        <p15:guide id="4" orient="horz" pos="41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BE9"/>
    <a:srgbClr val="1DCAD3"/>
    <a:srgbClr val="147ED1"/>
    <a:srgbClr val="147BD1"/>
    <a:srgbClr val="93DA49"/>
    <a:srgbClr val="FFB71B"/>
    <a:srgbClr val="EA0029"/>
    <a:srgbClr val="00A376"/>
    <a:srgbClr val="D50057"/>
    <a:srgbClr val="FF8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78506" autoAdjust="0"/>
  </p:normalViewPr>
  <p:slideViewPr>
    <p:cSldViewPr snapToGrid="0" showGuides="1">
      <p:cViewPr varScale="1">
        <p:scale>
          <a:sx n="114" d="100"/>
          <a:sy n="114" d="100"/>
        </p:scale>
        <p:origin x="132" y="288"/>
      </p:cViewPr>
      <p:guideLst>
        <p:guide orient="horz" pos="164"/>
        <p:guide pos="257"/>
        <p:guide pos="7401"/>
        <p:guide orient="horz" pos="411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123" d="100"/>
          <a:sy n="123" d="100"/>
        </p:scale>
        <p:origin x="244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FA37033-ED58-7468-B3A7-D86EC993E4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F50E057-5885-7CF0-A566-F1509F15ECF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8A9B2-778C-433C-8A06-393197C1381D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C110CC0-26F9-7A19-1D7F-586CF7E94F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30F5FF-528F-49FD-EB3A-E1235211DB5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4A8D64-9144-4D65-95FF-539FB0414D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73662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1B2C73-F33F-494A-BC1B-E1D751896FFE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DF360B-A3AE-4175-B4D3-5B0EB60874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53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61073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921160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C37CF-FF26-4CDD-C340-DDDB6A51D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2102730-58B8-C45D-B350-D341D27495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1CD7DF7-FC7F-1F15-E767-3F2B355D72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7A649B-E14E-F33D-2F3F-80CD6B9BDF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596248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196999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6A473-5963-6080-80B7-11C18186A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05F1F67-D19C-4573-49E5-4C71DDA4A9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8B893D6-1920-39E8-DC0A-F8A973C481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EFB40F-EC48-7722-546A-3A1178EBAB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996423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0E67C-B632-B009-6AD4-5A7354CB0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ACCFE36-1D5C-8338-2B66-5DA8A79D04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FFBF825-E625-A9B2-0FEE-6C7596F10F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110B8C-F390-1702-155B-207FA39B8C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904992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DFF53-5221-3B1B-B37F-79F1826BB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5DEC6B8-7EB2-B8CD-697E-1ED9CF0463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DB1E03E-54B8-4D3D-7133-C7F091276B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BEDFC8-99B5-5EC1-DC97-E0E224A436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210093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0E67C-B632-B009-6AD4-5A7354CB0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ACCFE36-1D5C-8338-2B66-5DA8A79D04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FFBF825-E625-A9B2-0FEE-6C7596F10F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110B8C-F390-1702-155B-207FA39B8C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743015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296847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9F94A-68A2-C294-9725-FAD02FD73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62F0AF-A03B-A239-4D38-09FFA7FDED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A63EEF-7D6E-9194-3213-017CB8F133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CA" altLang="ko-KR" b="0" i="0" dirty="0">
              <a:effectLst/>
              <a:latin typeface="fkGroteskNeue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7DE052-D3FA-5DE8-8B0E-D46274A018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ED05C12-C9C4-4501-9C72-D2E25191FC36}" type="slidenum">
              <a:rPr lang="en-US" altLang="en-US" smtClean="0"/>
              <a:pPr>
                <a:defRPr/>
              </a:pPr>
              <a:t>15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581439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87532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121563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9063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139135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67359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10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5.gif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2">
            <a:extLst>
              <a:ext uri="{FF2B5EF4-FFF2-40B4-BE49-F238E27FC236}">
                <a16:creationId xmlns:a16="http://schemas.microsoft.com/office/drawing/2014/main" id="{0A2B689D-8977-AD6A-3C69-6D92240020A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7667" y="2898545"/>
            <a:ext cx="282262" cy="75270"/>
          </a:xfrm>
          <a:prstGeom prst="rect">
            <a:avLst/>
          </a:prstGeom>
        </p:spPr>
      </p:pic>
      <p:sp>
        <p:nvSpPr>
          <p:cNvPr id="17" name="Title 32">
            <a:extLst>
              <a:ext uri="{FF2B5EF4-FFF2-40B4-BE49-F238E27FC236}">
                <a16:creationId xmlns:a16="http://schemas.microsoft.com/office/drawing/2014/main" id="{15344361-8496-51B6-866B-094BE72A15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6157" y="3207777"/>
            <a:ext cx="7689344" cy="44244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0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lvl="0" indent="-228600">
              <a:buFont typeface="Arial" panose="020B0604020202020204" pitchFamily="34" charset="0"/>
            </a:pPr>
            <a:r>
              <a:rPr lang="en-US" dirty="0"/>
              <a:t>PRESENTATION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F993181B-10D9-9297-61FD-4CCD2845F2CF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6155" y="5363127"/>
            <a:ext cx="134696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소속기관명</a:t>
            </a:r>
            <a:endParaRPr lang="en-US" dirty="0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45613ED5-364D-70A2-FBDC-67AB945B8EF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56156" y="3959455"/>
            <a:ext cx="7689344" cy="4389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부제목을 입력해 주세요</a:t>
            </a:r>
            <a:endParaRPr lang="en-US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4CD1575-1C7B-CFAB-E034-1CB5FDC6F6D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2128520" y="5359223"/>
            <a:ext cx="289681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성함 직함</a:t>
            </a:r>
            <a:endParaRPr lang="en-US" altLang="ko-KR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864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AC6ED3B-B028-3C6A-603A-7FEC1CF2A0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5669026" cy="6858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C47035B-5EFB-CC4F-96A0-93ECD02EFE5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38600" y="1644673"/>
            <a:ext cx="3325603" cy="3678525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6F42CB39-D109-24BB-F6D0-0D47894AC977}"/>
              </a:ext>
            </a:extLst>
          </p:cNvPr>
          <p:cNvSpPr/>
          <p:nvPr userDrawn="1"/>
        </p:nvSpPr>
        <p:spPr>
          <a:xfrm>
            <a:off x="1838848" y="813916"/>
            <a:ext cx="3737345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EC3ED8-DCB6-B804-2AC4-6D3105DE41D9}"/>
              </a:ext>
            </a:extLst>
          </p:cNvPr>
          <p:cNvSpPr txBox="1"/>
          <p:nvPr userDrawn="1"/>
        </p:nvSpPr>
        <p:spPr>
          <a:xfrm>
            <a:off x="574525" y="575156"/>
            <a:ext cx="2804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rgbClr val="147B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CONTENTS</a:t>
            </a:r>
            <a:endParaRPr lang="ko-KR" altLang="en-US" sz="2800" b="1" dirty="0">
              <a:solidFill>
                <a:srgbClr val="147BD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부제목 13">
            <a:extLst>
              <a:ext uri="{FF2B5EF4-FFF2-40B4-BE49-F238E27FC236}">
                <a16:creationId xmlns:a16="http://schemas.microsoft.com/office/drawing/2014/main" id="{9D79CC19-00AF-C47A-B5DC-A4C39937A145}"/>
              </a:ext>
            </a:extLst>
          </p:cNvPr>
          <p:cNvSpPr txBox="1">
            <a:spLocks/>
          </p:cNvSpPr>
          <p:nvPr userDrawn="1"/>
        </p:nvSpPr>
        <p:spPr>
          <a:xfrm>
            <a:off x="645645" y="387656"/>
            <a:ext cx="2643655" cy="4389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200" dirty="0">
                <a:solidFill>
                  <a:srgbClr val="D4D4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  I  N  E  P  L  U  S  I  T</a:t>
            </a:r>
            <a:endParaRPr lang="ko-KR" altLang="en-US" sz="1200" dirty="0">
              <a:solidFill>
                <a:srgbClr val="D4D4D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A57AF3A-A4EB-0B0A-9D18-3723383EF2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36A8999-FDD4-0AD3-598F-C2CAE37EC2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E266866-8E2B-E06F-867C-AA402CB3245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891" r="52827"/>
          <a:stretch/>
        </p:blipFill>
        <p:spPr>
          <a:xfrm rot="10800000">
            <a:off x="0" y="4991407"/>
            <a:ext cx="2225400" cy="1876097"/>
          </a:xfrm>
          <a:prstGeom prst="rect">
            <a:avLst/>
          </a:prstGeom>
        </p:spPr>
      </p:pic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C6627FCA-972B-4BB6-55FD-CE8B4728242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E4840E2-5E13-B055-1443-080C8EACE103}"/>
              </a:ext>
            </a:extLst>
          </p:cNvPr>
          <p:cNvSpPr/>
          <p:nvPr userDrawn="1"/>
        </p:nvSpPr>
        <p:spPr>
          <a:xfrm>
            <a:off x="3378685" y="10583"/>
            <a:ext cx="2290341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1756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7C6BF1BD-65AB-9F9F-BBF8-02D82CB2EF4F}"/>
              </a:ext>
            </a:extLst>
          </p:cNvPr>
          <p:cNvGrpSpPr/>
          <p:nvPr userDrawn="1"/>
        </p:nvGrpSpPr>
        <p:grpSpPr>
          <a:xfrm>
            <a:off x="0" y="20686"/>
            <a:ext cx="12192000" cy="2801257"/>
            <a:chOff x="0" y="20686"/>
            <a:chExt cx="12192000" cy="2801257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9AC185F2-217E-FC8A-F79E-6207FBCF9F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4341"/>
            <a:stretch/>
          </p:blipFill>
          <p:spPr>
            <a:xfrm>
              <a:off x="0" y="20686"/>
              <a:ext cx="12192000" cy="2694338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8EB42C5-A44E-941C-BD61-D4F388159019}"/>
                </a:ext>
              </a:extLst>
            </p:cNvPr>
            <p:cNvSpPr/>
            <p:nvPr userDrawn="1"/>
          </p:nvSpPr>
          <p:spPr>
            <a:xfrm>
              <a:off x="4749800" y="1357618"/>
              <a:ext cx="3086100" cy="1464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24E42BE8-63C9-AD43-B49A-36AB11AB45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99" r="37743" b="78275"/>
          <a:stretch/>
        </p:blipFill>
        <p:spPr>
          <a:xfrm rot="5400000">
            <a:off x="10192809" y="4800676"/>
            <a:ext cx="3057033" cy="92778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5" y="237245"/>
            <a:ext cx="887350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BACC5D-C8EA-42F1-CA99-243C0146CA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373" y="3493142"/>
            <a:ext cx="10744200" cy="1188720"/>
          </a:xfrm>
        </p:spPr>
        <p:txBody>
          <a:bodyPr anchor="t" anchorCtr="0">
            <a:noAutofit/>
          </a:bodyPr>
          <a:lstStyle>
            <a:lvl1pPr>
              <a:lnSpc>
                <a:spcPct val="130000"/>
              </a:lnSpc>
              <a:defRPr sz="28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간지 내용을 입력해 주세요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366482A-6BF8-FFC6-47C6-24B31596039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6744" y="4004065"/>
            <a:ext cx="10827604" cy="677797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>
              <a:lnSpc>
                <a:spcPct val="130000"/>
              </a:lnSpc>
              <a:buNone/>
              <a:defRPr sz="20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내용을 입력해 주세요</a:t>
            </a:r>
            <a:endParaRPr 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97B5B7B-C0AC-3577-38A0-8DDD0EE0191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5654" r="57737" b="59319"/>
          <a:stretch/>
        </p:blipFill>
        <p:spPr>
          <a:xfrm>
            <a:off x="379186" y="2976683"/>
            <a:ext cx="2131786" cy="361720"/>
          </a:xfrm>
          <a:prstGeom prst="rect">
            <a:avLst/>
          </a:prstGeom>
        </p:spPr>
      </p:pic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C0B63F71-8B17-75BA-431B-EC8B15CED286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798885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F5FF8531-6602-6B50-A085-CDB91C415011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19DB3ED-6F85-3EFA-BBD1-BABB6B9C68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C01F753-9E37-C8DC-95FF-DF93DF3393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6A11B6C2-6061-3E55-077D-166C78B0ED7E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169975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36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3B83660C-63E0-0CAA-517A-56CE5094A9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19" name="내용 개체 틀 4">
            <a:extLst>
              <a:ext uri="{FF2B5EF4-FFF2-40B4-BE49-F238E27FC236}">
                <a16:creationId xmlns:a16="http://schemas.microsoft.com/office/drawing/2014/main" id="{58830C0C-E56C-3ECA-C9CA-D786D27DA36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84708" y="1722863"/>
            <a:ext cx="7688263" cy="1662693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본문 내용을 입력해 주세요</a:t>
            </a:r>
          </a:p>
        </p:txBody>
      </p:sp>
      <p:sp>
        <p:nvSpPr>
          <p:cNvPr id="20" name="내용 개체 틀 4">
            <a:extLst>
              <a:ext uri="{FF2B5EF4-FFF2-40B4-BE49-F238E27FC236}">
                <a16:creationId xmlns:a16="http://schemas.microsoft.com/office/drawing/2014/main" id="{DA2D460F-401E-946C-4819-5CAF1DEE37E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8437" y="1265135"/>
            <a:ext cx="7688263" cy="384780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064D8154-20AE-1DD0-D610-B24CF84C8A9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87224E7-8403-7591-6B1C-C031BE82A3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E5410BEA-4881-88D1-E737-C10291E66D4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A10D5E0-0C61-CEB0-1EA0-431E53BBA66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7F29AE4C-4C6B-01FA-DB71-26C9389E469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6381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7B1C25-666F-3850-741D-F8453E0AD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438" y="1447286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86742E4-6FBD-24DE-B85E-52C7A29DCB4E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477000" y="1446772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6165312-91BD-A6B4-3DB8-FCCC95EBC28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443307DC-A9A4-0AF1-431B-CE8D866C6F0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EACB026E-116D-A154-5B23-D99661FC4A7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151408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59581B5-AD61-C855-0268-F70136A9FC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5707089-CB6C-150C-BF3E-38E3E399E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6" y="237245"/>
            <a:ext cx="887348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cdtText Placeholder 12 Id13">
            <a:extLst>
              <a:ext uri="{FF2B5EF4-FFF2-40B4-BE49-F238E27FC236}">
                <a16:creationId xmlns:a16="http://schemas.microsoft.com/office/drawing/2014/main" id="{AAF3BF8F-EA23-F148-B484-C055AFAA6127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 bwMode="auto">
          <a:xfrm>
            <a:off x="4864100" y="1663814"/>
            <a:ext cx="7327900" cy="392272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21" name="Bildplatzhalter 7">
            <a:extLst>
              <a:ext uri="{FF2B5EF4-FFF2-40B4-BE49-F238E27FC236}">
                <a16:creationId xmlns:a16="http://schemas.microsoft.com/office/drawing/2014/main" id="{8E616DC4-24DA-D652-DA34-FA51D618129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63814"/>
            <a:ext cx="3724650" cy="3922726"/>
          </a:xfrm>
        </p:spPr>
        <p:txBody>
          <a:bodyPr tIns="1800000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C9CFBB3B-8459-B072-CE35-DD44739A71F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4" name="내용 개체 틀 4">
            <a:extLst>
              <a:ext uri="{FF2B5EF4-FFF2-40B4-BE49-F238E27FC236}">
                <a16:creationId xmlns:a16="http://schemas.microsoft.com/office/drawing/2014/main" id="{43239AF0-F814-1FD7-257B-DDBBDB114EBC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6B8DCC5C-A8F6-8B61-A136-3FE8CE48A16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537133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5" name="Bildplatzhalter 7">
            <a:extLst>
              <a:ext uri="{FF2B5EF4-FFF2-40B4-BE49-F238E27FC236}">
                <a16:creationId xmlns:a16="http://schemas.microsoft.com/office/drawing/2014/main" id="{D85258F4-62CE-F16F-9645-FF41CDB1D15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76514"/>
            <a:ext cx="3724650" cy="3910026"/>
          </a:xfrm>
        </p:spPr>
        <p:txBody>
          <a:bodyPr tIns="1800000" anchor="t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BCDC8753-1F35-1528-64B1-335591BD4AA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98D4D303-C8FF-C353-4FA5-2C610350C5A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cdtText Placeholder 12 Id13">
            <a:extLst>
              <a:ext uri="{FF2B5EF4-FFF2-40B4-BE49-F238E27FC236}">
                <a16:creationId xmlns:a16="http://schemas.microsoft.com/office/drawing/2014/main" id="{05432AFD-A799-FEA4-2069-2B09A5AC6813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1"/>
            </p:custDataLst>
          </p:nvPr>
        </p:nvSpPr>
        <p:spPr bwMode="auto">
          <a:xfrm>
            <a:off x="5032972" y="382135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9" name="cdtText Placeholder 12 Id13">
            <a:extLst>
              <a:ext uri="{FF2B5EF4-FFF2-40B4-BE49-F238E27FC236}">
                <a16:creationId xmlns:a16="http://schemas.microsoft.com/office/drawing/2014/main" id="{44EF8955-81F0-73C3-DF88-D85D87ED57DE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 bwMode="auto">
          <a:xfrm>
            <a:off x="5032973" y="166381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4" name="슬라이드 번호 개체 틀 4">
            <a:extLst>
              <a:ext uri="{FF2B5EF4-FFF2-40B4-BE49-F238E27FC236}">
                <a16:creationId xmlns:a16="http://schemas.microsoft.com/office/drawing/2014/main" id="{4A7882DE-8F0D-5B26-23EB-0FCFD6159BE5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35633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">
    <p:bg>
      <p:bgPr>
        <a:gradFill>
          <a:gsLst>
            <a:gs pos="0">
              <a:srgbClr val="147BD1"/>
            </a:gs>
            <a:gs pos="100000">
              <a:srgbClr val="1DCAD3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C1D64FA5-CDB1-F994-65BE-0BE3473A03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808505" y="3704117"/>
            <a:ext cx="2383495" cy="3153883"/>
          </a:xfrm>
          <a:prstGeom prst="rect">
            <a:avLst/>
          </a:prstGeom>
        </p:spPr>
      </p:pic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154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B953AF5-74C5-EA32-15A6-A2A81C8D99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39" t="27780"/>
          <a:stretch/>
        </p:blipFill>
        <p:spPr>
          <a:xfrm>
            <a:off x="0" y="0"/>
            <a:ext cx="4379984" cy="2614021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C7CAAF6-0D81-0DCB-296D-A9E665D79F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ED072FD4-8691-B58C-84BF-7070B55A96C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B47B13F2-BD53-D01C-9069-5413AEC44D5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35760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6" r="493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47BD1"/>
              </a:gs>
              <a:gs pos="100000">
                <a:srgbClr val="1DCAD3"/>
              </a:gs>
            </a:gsLst>
            <a:lin ang="0" scaled="0"/>
          </a:gradFill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94BC1758-BCD0-EFDE-D40D-3328166423D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524256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0" r="5270"/>
          <a:stretch/>
        </p:blipFill>
        <p:spPr>
          <a:xfrm>
            <a:off x="11860" y="0"/>
            <a:ext cx="12168280" cy="6858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-1186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</p:spTree>
    <p:extLst>
      <p:ext uri="{BB962C8B-B14F-4D97-AF65-F5344CB8AC3E}">
        <p14:creationId xmlns:p14="http://schemas.microsoft.com/office/powerpoint/2010/main" val="133113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FC620FB5-B821-DD9F-5C14-6B031E0169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51" b="68742"/>
          <a:stretch/>
        </p:blipFill>
        <p:spPr>
          <a:xfrm rot="5400000">
            <a:off x="-347201" y="272317"/>
            <a:ext cx="1831557" cy="1185564"/>
          </a:xfrm>
          <a:prstGeom prst="rect">
            <a:avLst/>
          </a:prstGeom>
        </p:spPr>
      </p:pic>
      <p:sp>
        <p:nvSpPr>
          <p:cNvPr id="15" name="Rectangle 6">
            <a:extLst>
              <a:ext uri="{FF2B5EF4-FFF2-40B4-BE49-F238E27FC236}">
                <a16:creationId xmlns:a16="http://schemas.microsoft.com/office/drawing/2014/main" id="{4F2F3662-5803-F093-0DD0-028CD7271654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C84D7C-145C-4AF9-76D0-7B1431CD2603}"/>
              </a:ext>
            </a:extLst>
          </p:cNvPr>
          <p:cNvSpPr txBox="1"/>
          <p:nvPr userDrawn="1"/>
        </p:nvSpPr>
        <p:spPr>
          <a:xfrm>
            <a:off x="5275256" y="6511765"/>
            <a:ext cx="404019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chemeClr val="bg2">
                    <a:lumMod val="90000"/>
                  </a:schemeClr>
                </a:solidFill>
              </a:rPr>
              <a:t>www.npit.co.kr | www.cadence.com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AEF28D-8886-7A1A-E40A-67F610580BDE}"/>
              </a:ext>
            </a:extLst>
          </p:cNvPr>
          <p:cNvSpPr txBox="1"/>
          <p:nvPr userDrawn="1"/>
        </p:nvSpPr>
        <p:spPr>
          <a:xfrm>
            <a:off x="779685" y="2899820"/>
            <a:ext cx="1614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Thank you.</a:t>
            </a:r>
            <a:endParaRPr lang="ko-KR" altLang="en-US" sz="24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EBC1CFEA-8870-7DAA-E9D9-0153330F927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109" y="196937"/>
            <a:ext cx="1185562" cy="224451"/>
          </a:xfrm>
          <a:prstGeom prst="rect">
            <a:avLst/>
          </a:prstGeom>
        </p:spPr>
      </p:pic>
      <p:pic>
        <p:nvPicPr>
          <p:cNvPr id="6" name="Graphic 12">
            <a:extLst>
              <a:ext uri="{FF2B5EF4-FFF2-40B4-BE49-F238E27FC236}">
                <a16:creationId xmlns:a16="http://schemas.microsoft.com/office/drawing/2014/main" id="{ABF6BE7C-7BEB-9089-D842-E1FB93808AF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9618" y="2663329"/>
            <a:ext cx="282262" cy="7527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062AFAA-FF6C-78BB-9FC5-DFD9466E0DA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0083" y="1514526"/>
            <a:ext cx="2965031" cy="327968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D4D2F14-B0D6-8A92-0A8F-64B1949F8C4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39" t="12615"/>
          <a:stretch/>
        </p:blipFill>
        <p:spPr>
          <a:xfrm rot="10800000">
            <a:off x="10342616" y="3480709"/>
            <a:ext cx="1802600" cy="3333749"/>
          </a:xfrm>
          <a:prstGeom prst="rect">
            <a:avLst/>
          </a:prstGeom>
        </p:spPr>
      </p:pic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5C4E2205-6958-43AE-E6B8-60D61D53E91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8400669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A601D2-EC58-C9D9-66C5-E3C750788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Autofit/>
          </a:bodyPr>
          <a:lstStyle>
            <a:lvl1pPr>
              <a:defRPr sz="3600" b="1"/>
            </a:lvl1pPr>
          </a:lstStyle>
          <a:p>
            <a:r>
              <a:rPr lang="ko-KR" altLang="en-US" dirty="0"/>
              <a:t>마스터 제목 스타일 편집</a:t>
            </a:r>
            <a:endParaRPr lang="en-CA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5F62F2-10CB-21B8-E968-6E1F717F3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0588"/>
            <a:ext cx="10515600" cy="5056375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CA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975F2A-690B-8E35-55A5-09EC8C987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1FD73-F43C-4CEC-A4BC-4F63297EBA95}" type="datetimeFigureOut">
              <a:rPr lang="en-CA" smtClean="0"/>
              <a:t>2026-07-05</a:t>
            </a:fld>
            <a:endParaRPr lang="en-CA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20777A-56DA-4165-A342-6D1957147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23C9D3-AB74-5CC7-9BFB-48CE3DFE4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13B5-75D4-45EF-8263-FECEAD7B518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86510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9425" y="476250"/>
            <a:ext cx="11233150" cy="654760"/>
          </a:xfrm>
        </p:spPr>
        <p:txBody>
          <a:bodyPr anchor="t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 hasCustomPrompt="1"/>
          </p:nvPr>
        </p:nvSpPr>
        <p:spPr>
          <a:xfrm>
            <a:off x="479425" y="1171111"/>
            <a:ext cx="11233150" cy="4948335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2400">
                <a:solidFill>
                  <a:schemeClr val="tx2"/>
                </a:solidFill>
              </a:defRPr>
            </a:lvl1pPr>
            <a:lvl2pPr marL="672783">
              <a:lnSpc>
                <a:spcPct val="100000"/>
              </a:lnSpc>
              <a:spcAft>
                <a:spcPts val="0"/>
              </a:spcAft>
              <a:defRPr sz="2000">
                <a:solidFill>
                  <a:schemeClr val="tx2"/>
                </a:solidFill>
              </a:defRPr>
            </a:lvl2pPr>
            <a:lvl3pPr marL="947103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3pPr>
            <a:lvl4pPr marL="1293178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4pPr>
            <a:lvl5pPr marL="1518603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noProof="0" dirty="0"/>
              <a:t>Click to edit Master text styles with Top Level Bullet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68068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217EF33-D600-989E-8A91-749A5D900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441B4B-84BC-1AF8-3E52-17240F744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EB88D-BBE7-6387-84B5-6EE90D94E1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BEC200-83C1-4365-A99F-86FD10E76130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6A1E2B-77FA-7B7E-80BF-AD04C6721F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93BC41-64C4-A681-82AC-FD8DCB42FA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6D7E8-4E64-4D6D-BDDF-219C8CEEFB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153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51" r:id="rId2"/>
    <p:sldLayoutId id="2147483661" r:id="rId3"/>
    <p:sldLayoutId id="2147483670" r:id="rId4"/>
    <p:sldLayoutId id="2147483650" r:id="rId5"/>
    <p:sldLayoutId id="2147483669" r:id="rId6"/>
    <p:sldLayoutId id="2147483668" r:id="rId7"/>
    <p:sldLayoutId id="2147483666" r:id="rId8"/>
    <p:sldLayoutId id="2147483663" r:id="rId9"/>
    <p:sldLayoutId id="2147483662" r:id="rId10"/>
    <p:sldLayoutId id="2147483671" r:id="rId11"/>
    <p:sldLayoutId id="2147483659" r:id="rId12"/>
    <p:sldLayoutId id="2147483673" r:id="rId13"/>
    <p:sldLayoutId id="2147483674" r:id="rId1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C89591-F99B-E9A0-5755-41D660F30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55" y="3207777"/>
            <a:ext cx="7689344" cy="793772"/>
          </a:xfrm>
        </p:spPr>
        <p:txBody>
          <a:bodyPr/>
          <a:lstStyle/>
          <a:p>
            <a:r>
              <a:rPr lang="en-US" altLang="ko-KR" sz="3600" dirty="0">
                <a:latin typeface="Arial" panose="020B0604020202020204" pitchFamily="34" charset="0"/>
                <a:cs typeface="Arial" panose="020B0604020202020204" pitchFamily="34" charset="0"/>
              </a:rPr>
              <a:t>SoC 102</a:t>
            </a:r>
            <a:r>
              <a:rPr lang="en-US" altLang="ko-KR" sz="3600">
                <a:latin typeface="Arial" panose="020B0604020202020204" pitchFamily="34" charset="0"/>
                <a:cs typeface="Arial" panose="020B0604020202020204" pitchFamily="34" charset="0"/>
              </a:rPr>
              <a:t>: Design</a:t>
            </a:r>
            <a:br>
              <a:rPr lang="en-US" altLang="ko-KR" dirty="0">
                <a:latin typeface="+mj-lt"/>
              </a:rPr>
            </a:br>
            <a:endParaRPr lang="ko-KR" altLang="en-US" b="1" dirty="0">
              <a:latin typeface="+mj-lt"/>
            </a:endParaRP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A04821A0-9121-CBE3-449D-14D5A206EF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6155" y="3925899"/>
            <a:ext cx="7689344" cy="438950"/>
          </a:xfrm>
        </p:spPr>
        <p:txBody>
          <a:bodyPr/>
          <a:lstStyle/>
          <a:p>
            <a:r>
              <a:rPr lang="en-US" altLang="ko-KR" b="1" dirty="0"/>
              <a:t>Session5</a:t>
            </a:r>
            <a:r>
              <a:rPr lang="en-US" altLang="ko-KR" dirty="0"/>
              <a:t> : </a:t>
            </a:r>
            <a:r>
              <a:rPr lang="en-US" altLang="ko-KR" b="1" dirty="0"/>
              <a:t>C</a:t>
            </a:r>
            <a:r>
              <a:rPr lang="en-US" altLang="ko-KR" dirty="0"/>
              <a:t>ombinational </a:t>
            </a:r>
            <a:r>
              <a:rPr lang="en-US" altLang="ko-KR" b="1" dirty="0"/>
              <a:t>L</a:t>
            </a:r>
            <a:r>
              <a:rPr lang="en-US" altLang="ko-KR" dirty="0"/>
              <a:t>ogic </a:t>
            </a:r>
            <a:r>
              <a:rPr lang="en-US" altLang="ko-KR" b="1" dirty="0"/>
              <a:t>B</a:t>
            </a:r>
            <a:r>
              <a:rPr lang="en-US" altLang="ko-KR" dirty="0"/>
              <a:t>locks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0463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D66995-EC8F-4241-838D-FB8A84AF17A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73363-4663-4A83-B5B9-7302893C9A0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2E3330-E42F-45C6-9FDA-74753CBBADAF}"/>
              </a:ext>
            </a:extLst>
          </p:cNvPr>
          <p:cNvSpPr txBox="1"/>
          <p:nvPr/>
        </p:nvSpPr>
        <p:spPr>
          <a:xfrm>
            <a:off x="570451" y="1325461"/>
            <a:ext cx="8296712" cy="2947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/>
                </a:solidFill>
              </a:rPr>
              <a:t>Basic Combinational Blocks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/>
                </a:solidFill>
              </a:rPr>
              <a:t>Multiplexer</a:t>
            </a:r>
            <a:endParaRPr lang="ko-KR" altLang="en-US" dirty="0">
              <a:solidFill>
                <a:schemeClr val="bg1"/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/>
                </a:solidFill>
              </a:rPr>
              <a:t>Encoder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/>
                </a:solidFill>
              </a:rPr>
              <a:t>Decoder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/>
                </a:solidFill>
              </a:rPr>
              <a:t>Comparator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/>
                </a:solidFill>
              </a:rPr>
              <a:t>3-State Bus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/>
                </a:solidFill>
              </a:rPr>
              <a:t>LABS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1155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D4491E-7D98-A5A2-F889-3F2C1DE2C46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37563" y="306402"/>
            <a:ext cx="10515600" cy="620713"/>
          </a:xfrm>
        </p:spPr>
        <p:txBody>
          <a:bodyPr>
            <a:normAutofit/>
          </a:bodyPr>
          <a:lstStyle/>
          <a:p>
            <a:r>
              <a:rPr lang="en-US" altLang="ko-KR" sz="3200" dirty="0"/>
              <a:t>SoC Basic</a:t>
            </a:r>
            <a:r>
              <a:rPr lang="ko-KR" altLang="en-US" sz="3200" dirty="0"/>
              <a:t> </a:t>
            </a:r>
            <a:r>
              <a:rPr lang="en-US" altLang="ko-KR" sz="3200" dirty="0"/>
              <a:t>Combinational</a:t>
            </a:r>
            <a:r>
              <a:rPr lang="ko-KR" altLang="en-US" sz="3200" dirty="0"/>
              <a:t> </a:t>
            </a:r>
            <a:r>
              <a:rPr lang="en-US" altLang="ko-KR" sz="3200" dirty="0"/>
              <a:t>Logic</a:t>
            </a:r>
            <a:endParaRPr lang="en-CA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A09469-85A5-43AF-8AC9-4EC1FC8BFF9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939567" y="1112386"/>
            <a:ext cx="10515600" cy="5056188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ko-KR" altLang="en-US" sz="2000" dirty="0"/>
              <a:t>조합회로 </a:t>
            </a:r>
            <a:r>
              <a:rPr lang="en-US" altLang="ko-KR" sz="2000" dirty="0"/>
              <a:t>(combinational logic)</a:t>
            </a:r>
          </a:p>
          <a:p>
            <a:pPr lvl="1">
              <a:lnSpc>
                <a:spcPct val="130000"/>
              </a:lnSpc>
            </a:pPr>
            <a:r>
              <a:rPr lang="ko-KR" altLang="en-US" sz="1800" dirty="0"/>
              <a:t>논리 게이트들의 집합으로 구성되며</a:t>
            </a:r>
            <a:r>
              <a:rPr lang="en-US" altLang="ko-KR" sz="1800" dirty="0"/>
              <a:t>,</a:t>
            </a:r>
            <a:r>
              <a:rPr lang="ko-KR" altLang="en-US" sz="1800" dirty="0"/>
              <a:t> 회로 구성과 현재의 입력에 의해 회로의 출력 값이 결정되는 회로</a:t>
            </a:r>
            <a:endParaRPr lang="en-US" altLang="ko-KR" sz="1800" dirty="0"/>
          </a:p>
          <a:p>
            <a:pPr lvl="1">
              <a:lnSpc>
                <a:spcPct val="130000"/>
              </a:lnSpc>
            </a:pPr>
            <a:r>
              <a:rPr lang="ko-KR" altLang="en-US" sz="1800" dirty="0"/>
              <a:t>저장소자 </a:t>
            </a:r>
            <a:r>
              <a:rPr lang="en-US" altLang="ko-KR" sz="1800" dirty="0"/>
              <a:t>(</a:t>
            </a:r>
            <a:r>
              <a:rPr lang="ko-KR" altLang="en-US" sz="1800" dirty="0"/>
              <a:t>래치</a:t>
            </a:r>
            <a:r>
              <a:rPr lang="en-US" altLang="ko-KR" sz="1800" dirty="0"/>
              <a:t>, </a:t>
            </a:r>
            <a:r>
              <a:rPr lang="ko-KR" altLang="en-US" sz="1800" dirty="0"/>
              <a:t>플립플롭</a:t>
            </a:r>
            <a:r>
              <a:rPr lang="en-US" altLang="ko-KR" sz="1800" dirty="0"/>
              <a:t>)</a:t>
            </a:r>
            <a:r>
              <a:rPr lang="ko-KR" altLang="en-US" sz="1800" dirty="0"/>
              <a:t>이 포함되지 않은 회로 </a:t>
            </a:r>
            <a:endParaRPr lang="en-US" altLang="ko-KR" sz="1800" dirty="0"/>
          </a:p>
          <a:p>
            <a:endParaRPr lang="en-CA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D44628-92B0-412C-BD62-41541EBE1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5831" y="3122103"/>
            <a:ext cx="744855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86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3D2A5D-7D2F-4C4F-BAD8-7DE349F6A6F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974EA-E266-46E5-B93E-1A12E099C41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10000" y="4961780"/>
            <a:ext cx="7688263" cy="500352"/>
          </a:xfrm>
        </p:spPr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Multiplerxer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496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8094A-315C-B4F3-8BB1-0F702291D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213578-DA8D-03A0-95DE-5BF5855CF65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370680"/>
            <a:ext cx="10515600" cy="620713"/>
          </a:xfrm>
        </p:spPr>
        <p:txBody>
          <a:bodyPr>
            <a:normAutofit/>
          </a:bodyPr>
          <a:lstStyle/>
          <a:p>
            <a:r>
              <a:rPr lang="en-CA" altLang="ko-KR" sz="3200" dirty="0"/>
              <a:t>Multiplexer</a:t>
            </a:r>
            <a:endParaRPr lang="en-CA" sz="3200" dirty="0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E073890F-C19A-62A2-8934-1A0CE38F2357}"/>
              </a:ext>
            </a:extLst>
          </p:cNvPr>
          <p:cNvSpPr txBox="1">
            <a:spLocks/>
          </p:cNvSpPr>
          <p:nvPr/>
        </p:nvSpPr>
        <p:spPr>
          <a:xfrm>
            <a:off x="838200" y="1120588"/>
            <a:ext cx="10515600" cy="5056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ko-KR" altLang="en-US" sz="2000" b="1" dirty="0" err="1"/>
              <a:t>멀티플렉서</a:t>
            </a:r>
            <a:r>
              <a:rPr lang="ko-KR" altLang="en-US" sz="2000" b="1" dirty="0"/>
              <a:t>  </a:t>
            </a:r>
            <a:r>
              <a:rPr lang="en-US" altLang="ko-KR" sz="2000" b="1" dirty="0"/>
              <a:t>(Multiplexer, MUX)</a:t>
            </a:r>
          </a:p>
          <a:p>
            <a:pPr lvl="1"/>
            <a:r>
              <a:rPr lang="ko-KR" altLang="en-US" sz="1800" b="0" i="0" dirty="0">
                <a:effectLst/>
                <a:latin typeface="+mn-ea"/>
              </a:rPr>
              <a:t>여러 개의 입력 중 하나를 선택하여 단일 출력으로 전달하는 장치</a:t>
            </a:r>
            <a:endParaRPr lang="en-US" altLang="ko-KR" sz="1800" b="0" i="0" dirty="0">
              <a:effectLst/>
              <a:latin typeface="+mn-ea"/>
            </a:endParaRPr>
          </a:p>
          <a:p>
            <a:pPr lvl="1"/>
            <a:r>
              <a:rPr lang="ko-KR" altLang="en-US" sz="1800" b="0" i="0" dirty="0">
                <a:effectLst/>
                <a:latin typeface="+mn-ea"/>
              </a:rPr>
              <a:t>데이터 </a:t>
            </a:r>
            <a:r>
              <a:rPr lang="ko-KR" altLang="en-US" sz="1800" b="0" i="0" dirty="0" err="1">
                <a:effectLst/>
                <a:latin typeface="+mn-ea"/>
              </a:rPr>
              <a:t>선택기</a:t>
            </a:r>
            <a:r>
              <a:rPr lang="en-US" altLang="ko-KR" sz="1800" b="0" i="0" dirty="0">
                <a:effectLst/>
                <a:latin typeface="+mn-ea"/>
              </a:rPr>
              <a:t>(Data Selector)</a:t>
            </a:r>
          </a:p>
          <a:p>
            <a:pPr lvl="1"/>
            <a:r>
              <a:rPr lang="ko-KR" altLang="en-US" sz="1800" b="0" i="0" dirty="0">
                <a:effectLst/>
                <a:latin typeface="+mn-ea"/>
              </a:rPr>
              <a:t>데이터 입력</a:t>
            </a:r>
            <a:r>
              <a:rPr lang="en-US" altLang="ko-KR" sz="1800" b="0" i="0" dirty="0">
                <a:effectLst/>
                <a:latin typeface="+mn-ea"/>
              </a:rPr>
              <a:t>: 2^n</a:t>
            </a:r>
            <a:r>
              <a:rPr lang="ko-KR" altLang="en-US" sz="1800" b="0" i="0" dirty="0">
                <a:effectLst/>
                <a:latin typeface="+mn-ea"/>
              </a:rPr>
              <a:t>개의 데이터 입력 라인 </a:t>
            </a:r>
            <a:r>
              <a:rPr lang="en-US" altLang="ko-KR" sz="1800" b="0" i="0" dirty="0">
                <a:effectLst/>
                <a:latin typeface="+mn-ea"/>
              </a:rPr>
              <a:t>(D0, D1, D2, ...)</a:t>
            </a:r>
          </a:p>
          <a:p>
            <a:pPr lvl="1"/>
            <a:r>
              <a:rPr lang="ko-KR" altLang="en-US" sz="1800" b="0" i="0" dirty="0">
                <a:effectLst/>
                <a:latin typeface="+mn-ea"/>
              </a:rPr>
              <a:t>선택 라인</a:t>
            </a:r>
            <a:r>
              <a:rPr lang="en-US" altLang="ko-KR" sz="1800" b="0" i="0" dirty="0">
                <a:effectLst/>
                <a:latin typeface="+mn-ea"/>
              </a:rPr>
              <a:t>: n</a:t>
            </a:r>
            <a:r>
              <a:rPr lang="ko-KR" altLang="en-US" sz="1800" b="0" i="0" dirty="0">
                <a:effectLst/>
                <a:latin typeface="+mn-ea"/>
              </a:rPr>
              <a:t>개의 선택 라인 </a:t>
            </a:r>
            <a:r>
              <a:rPr lang="en-US" altLang="ko-KR" sz="1800" b="0" i="0" dirty="0">
                <a:effectLst/>
                <a:latin typeface="+mn-ea"/>
              </a:rPr>
              <a:t>(S0, S1, ..., Sn-1)</a:t>
            </a:r>
          </a:p>
          <a:p>
            <a:pPr lvl="1"/>
            <a:r>
              <a:rPr lang="ko-KR" altLang="en-US" sz="1800" b="0" i="0" dirty="0">
                <a:effectLst/>
                <a:latin typeface="+mn-ea"/>
              </a:rPr>
              <a:t>출력</a:t>
            </a:r>
            <a:r>
              <a:rPr lang="en-US" altLang="ko-KR" sz="1800" b="0" i="0" dirty="0">
                <a:effectLst/>
                <a:latin typeface="+mn-ea"/>
              </a:rPr>
              <a:t>: </a:t>
            </a:r>
            <a:r>
              <a:rPr lang="ko-KR" altLang="en-US" sz="1800" b="0" i="0" dirty="0">
                <a:effectLst/>
                <a:latin typeface="+mn-ea"/>
              </a:rPr>
              <a:t>하나의 출력 라인 </a:t>
            </a:r>
            <a:r>
              <a:rPr lang="en-US" altLang="ko-KR" sz="1800" b="0" i="0" dirty="0">
                <a:effectLst/>
                <a:latin typeface="+mn-ea"/>
              </a:rPr>
              <a:t>(Y)</a:t>
            </a:r>
          </a:p>
          <a:p>
            <a:pPr lvl="1"/>
            <a:endParaRPr lang="en-US" altLang="ko-KR" sz="1200" b="0" i="0" dirty="0">
              <a:effectLst/>
              <a:latin typeface="+mn-ea"/>
            </a:endParaRPr>
          </a:p>
        </p:txBody>
      </p:sp>
      <p:pic>
        <p:nvPicPr>
          <p:cNvPr id="3" name="Picture 4" descr="Verilog를 통한 MUX회로 구현">
            <a:extLst>
              <a:ext uri="{FF2B5EF4-FFF2-40B4-BE49-F238E27FC236}">
                <a16:creationId xmlns:a16="http://schemas.microsoft.com/office/drawing/2014/main" id="{D22FBED8-1C8B-6611-10A0-763EC6033F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6689" y="3535345"/>
            <a:ext cx="3472543" cy="2510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8FC7652-09AC-4056-88D2-2A1A2FA74A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4035" y="3338513"/>
            <a:ext cx="3819525" cy="283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185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719E7E8F-46DD-7CED-EBA2-2414ECB52067}"/>
              </a:ext>
            </a:extLst>
          </p:cNvPr>
          <p:cNvSpPr txBox="1">
            <a:spLocks/>
          </p:cNvSpPr>
          <p:nvPr/>
        </p:nvSpPr>
        <p:spPr>
          <a:xfrm>
            <a:off x="838200" y="1120588"/>
            <a:ext cx="10515600" cy="5056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+mn-ea"/>
              </a:rPr>
              <a:t>GPIO</a:t>
            </a:r>
            <a:r>
              <a:rPr lang="ko-KR" altLang="en-US" sz="2400" dirty="0">
                <a:latin typeface="+mn-ea"/>
              </a:rPr>
              <a:t> </a:t>
            </a:r>
            <a:r>
              <a:rPr lang="en-US" altLang="ko-KR" sz="2400" dirty="0">
                <a:latin typeface="+mn-ea"/>
              </a:rPr>
              <a:t>Multiplexer</a:t>
            </a:r>
            <a:r>
              <a:rPr lang="ko-KR" altLang="en-US" sz="2400" dirty="0">
                <a:latin typeface="+mn-ea"/>
              </a:rPr>
              <a:t> </a:t>
            </a:r>
            <a:r>
              <a:rPr lang="en-US" altLang="ko-KR" sz="2400" dirty="0">
                <a:latin typeface="+mn-ea"/>
              </a:rPr>
              <a:t>Specification</a:t>
            </a:r>
            <a:endParaRPr lang="en-CA" sz="2000" dirty="0">
              <a:latin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9CE0A52-0F1E-F6F2-4817-2B28DEAB3C9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309001"/>
            <a:ext cx="10515600" cy="620713"/>
          </a:xfrm>
        </p:spPr>
        <p:txBody>
          <a:bodyPr>
            <a:normAutofit/>
          </a:bodyPr>
          <a:lstStyle/>
          <a:p>
            <a:r>
              <a:rPr lang="en-US" sz="3200" dirty="0"/>
              <a:t>LAB</a:t>
            </a:r>
            <a:r>
              <a:rPr lang="ko-KR" altLang="en-US" sz="3200" dirty="0"/>
              <a:t> </a:t>
            </a:r>
            <a:r>
              <a:rPr lang="en-US" altLang="ko-KR" sz="3200" dirty="0"/>
              <a:t>:</a:t>
            </a:r>
            <a:r>
              <a:rPr lang="ko-KR" altLang="en-US" sz="3200" dirty="0"/>
              <a:t> </a:t>
            </a:r>
            <a:r>
              <a:rPr lang="en-US" altLang="ko-KR" sz="3200" dirty="0"/>
              <a:t>Specification</a:t>
            </a:r>
            <a:endParaRPr lang="en-CA" sz="3200" dirty="0"/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F53E3049-A196-CAC5-32E6-7F4FC4F96C38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3258" y="2466321"/>
            <a:ext cx="4521200" cy="3170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9079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3D2A5D-7D2F-4C4F-BAD8-7DE349F6A6F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974EA-E266-46E5-B93E-1A12E099C41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10000" y="4961780"/>
            <a:ext cx="7688263" cy="500352"/>
          </a:xfrm>
        </p:spPr>
        <p:txBody>
          <a:bodyPr/>
          <a:lstStyle/>
          <a:p>
            <a:r>
              <a:rPr lang="en-US" dirty="0"/>
              <a:t>2. Encoder</a:t>
            </a:r>
          </a:p>
        </p:txBody>
      </p:sp>
    </p:spTree>
    <p:extLst>
      <p:ext uri="{BB962C8B-B14F-4D97-AF65-F5344CB8AC3E}">
        <p14:creationId xmlns:p14="http://schemas.microsoft.com/office/powerpoint/2010/main" val="2899170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62F8A-B37E-13D3-A30B-B73929F68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44C304-9062-DC35-F987-EB81E86A6B5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63325" y="309466"/>
            <a:ext cx="10515600" cy="620713"/>
          </a:xfrm>
        </p:spPr>
        <p:txBody>
          <a:bodyPr/>
          <a:lstStyle/>
          <a:p>
            <a:r>
              <a:rPr lang="en-US" sz="3200" dirty="0"/>
              <a:t>Encoder</a:t>
            </a:r>
            <a:endParaRPr lang="en-CA" sz="3200" dirty="0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2AFE0326-F388-35AD-5F2A-F1C39BEB64C2}"/>
              </a:ext>
            </a:extLst>
          </p:cNvPr>
          <p:cNvSpPr txBox="1">
            <a:spLocks/>
          </p:cNvSpPr>
          <p:nvPr/>
        </p:nvSpPr>
        <p:spPr>
          <a:xfrm>
            <a:off x="838200" y="1120588"/>
            <a:ext cx="10515600" cy="5056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2000" b="1" i="0" dirty="0">
                <a:effectLst/>
                <a:latin typeface="+mn-ea"/>
              </a:rPr>
              <a:t>인코더 </a:t>
            </a:r>
            <a:r>
              <a:rPr lang="en-US" altLang="ko-KR" sz="2000" b="1" i="0" dirty="0">
                <a:effectLst/>
                <a:latin typeface="+mn-ea"/>
              </a:rPr>
              <a:t>(Encoder)</a:t>
            </a:r>
          </a:p>
          <a:p>
            <a:pPr lvl="1"/>
            <a:r>
              <a:rPr lang="ko-KR" altLang="en-US" sz="1800" dirty="0"/>
              <a:t>인코더는 사람이 이해하기 쉬운 정보를 기계가 처리할 수 있는 </a:t>
            </a:r>
            <a:r>
              <a:rPr lang="ko-KR" altLang="en-US" sz="1800" dirty="0" err="1"/>
              <a:t>코드화된</a:t>
            </a:r>
            <a:r>
              <a:rPr lang="ko-KR" altLang="en-US" sz="1800" dirty="0"/>
              <a:t> 형식으로 변환하는 회로</a:t>
            </a:r>
            <a:r>
              <a:rPr lang="en-US" altLang="ko-KR" sz="1800" dirty="0"/>
              <a:t>.</a:t>
            </a:r>
          </a:p>
          <a:p>
            <a:pPr lvl="1"/>
            <a:r>
              <a:rPr lang="en-US" altLang="ko-KR" sz="1800" dirty="0"/>
              <a:t>2^n</a:t>
            </a:r>
            <a:r>
              <a:rPr lang="ko-KR" altLang="en-US" sz="1800" dirty="0"/>
              <a:t>개의 입력 라인을 </a:t>
            </a:r>
            <a:r>
              <a:rPr lang="en-US" altLang="ko-KR" sz="1800" dirty="0"/>
              <a:t>n</a:t>
            </a:r>
            <a:r>
              <a:rPr lang="ko-KR" altLang="en-US" sz="1800" dirty="0"/>
              <a:t>개의 출력 라인으로 변환</a:t>
            </a:r>
            <a:r>
              <a:rPr lang="en-US" altLang="ko-KR" sz="1800" dirty="0"/>
              <a:t>(</a:t>
            </a:r>
            <a:r>
              <a:rPr lang="ko-KR" altLang="en-US" sz="1800" dirty="0"/>
              <a:t>데이터를 더 작은 비트로 변환</a:t>
            </a:r>
            <a:r>
              <a:rPr lang="en-US" altLang="ko-KR" sz="1800" dirty="0"/>
              <a:t>)</a:t>
            </a:r>
          </a:p>
          <a:p>
            <a:pPr lvl="1"/>
            <a:r>
              <a:rPr lang="ko-KR" altLang="en-US" sz="1800" dirty="0"/>
              <a:t>일반적으로 한 번에 하나의 입력만 활성화</a:t>
            </a:r>
            <a:r>
              <a:rPr lang="en-US" altLang="ko-KR" sz="1800" b="0" i="0" dirty="0">
                <a:effectLst/>
                <a:latin typeface="+mn-ea"/>
              </a:rPr>
              <a:t>.</a:t>
            </a:r>
          </a:p>
          <a:p>
            <a:pPr lvl="1"/>
            <a:r>
              <a:rPr lang="ko-KR" altLang="en-US" sz="1800" b="0" i="0" dirty="0">
                <a:effectLst/>
                <a:latin typeface="+mn-ea"/>
              </a:rPr>
              <a:t>주요 유형</a:t>
            </a:r>
            <a:r>
              <a:rPr lang="en-US" altLang="ko-KR" sz="1800" b="0" i="0" dirty="0">
                <a:effectLst/>
                <a:latin typeface="+mn-ea"/>
              </a:rPr>
              <a:t>:</a:t>
            </a:r>
          </a:p>
          <a:p>
            <a:pPr marL="1200150" lvl="2" indent="-285750"/>
            <a:r>
              <a:rPr lang="en-US" altLang="ko-KR" sz="1600" b="0" i="0" dirty="0">
                <a:effectLst/>
                <a:latin typeface="+mn-ea"/>
              </a:rPr>
              <a:t>4-to-2 </a:t>
            </a:r>
            <a:r>
              <a:rPr lang="ko-KR" altLang="en-US" sz="1600" b="0" i="0" dirty="0">
                <a:effectLst/>
                <a:latin typeface="+mn-ea"/>
              </a:rPr>
              <a:t>인코더</a:t>
            </a:r>
          </a:p>
          <a:p>
            <a:pPr marL="1200150" lvl="2" indent="-285750"/>
            <a:r>
              <a:rPr lang="en-US" altLang="ko-KR" sz="1600" b="0" i="0" dirty="0">
                <a:effectLst/>
                <a:latin typeface="+mn-ea"/>
              </a:rPr>
              <a:t>8-to-3 </a:t>
            </a:r>
            <a:r>
              <a:rPr lang="ko-KR" altLang="en-US" sz="1600" b="0" i="0" dirty="0">
                <a:effectLst/>
                <a:latin typeface="+mn-ea"/>
              </a:rPr>
              <a:t>인코더 </a:t>
            </a:r>
            <a:r>
              <a:rPr lang="en-US" altLang="ko-KR" sz="1600" b="0" i="0" dirty="0">
                <a:effectLst/>
                <a:latin typeface="+mn-ea"/>
              </a:rPr>
              <a:t>(8</a:t>
            </a:r>
            <a:r>
              <a:rPr lang="ko-KR" altLang="en-US" sz="1600" b="0" i="0" dirty="0">
                <a:effectLst/>
                <a:latin typeface="+mn-ea"/>
              </a:rPr>
              <a:t>진 인코더</a:t>
            </a:r>
            <a:r>
              <a:rPr lang="en-US" altLang="ko-KR" sz="1600" b="0" i="0" dirty="0">
                <a:effectLst/>
                <a:latin typeface="+mn-ea"/>
              </a:rPr>
              <a:t>)</a:t>
            </a:r>
          </a:p>
          <a:p>
            <a:pPr marL="1200150" lvl="2" indent="-285750"/>
            <a:r>
              <a:rPr lang="en-US" altLang="ko-KR" sz="1600" b="0" i="0" dirty="0">
                <a:effectLst/>
                <a:latin typeface="+mn-ea"/>
              </a:rPr>
              <a:t>10</a:t>
            </a:r>
            <a:r>
              <a:rPr lang="ko-KR" altLang="en-US" sz="1600" b="0" i="0" dirty="0">
                <a:effectLst/>
                <a:latin typeface="+mn-ea"/>
              </a:rPr>
              <a:t>진수</a:t>
            </a:r>
            <a:r>
              <a:rPr lang="en-US" altLang="ko-KR" sz="1600" b="0" i="0" dirty="0">
                <a:effectLst/>
                <a:latin typeface="+mn-ea"/>
              </a:rPr>
              <a:t>-to-BCD </a:t>
            </a:r>
            <a:r>
              <a:rPr lang="ko-KR" altLang="en-US" sz="1600" b="0" i="0" dirty="0">
                <a:effectLst/>
                <a:latin typeface="+mn-ea"/>
              </a:rPr>
              <a:t>인코더</a:t>
            </a:r>
            <a:endParaRPr lang="en-CA" altLang="ko-KR" sz="1600" b="0" i="0" dirty="0">
              <a:effectLst/>
              <a:latin typeface="+mn-ea"/>
            </a:endParaRPr>
          </a:p>
          <a:p>
            <a:pPr marL="742950" lvl="1" indent="-285750"/>
            <a:r>
              <a:rPr lang="ko-KR" altLang="en-US" sz="1800" dirty="0">
                <a:latin typeface="+mn-ea"/>
              </a:rPr>
              <a:t>주요 사용 예</a:t>
            </a:r>
            <a:endParaRPr lang="en-CA" altLang="ko-KR" sz="1800" dirty="0">
              <a:latin typeface="+mn-ea"/>
            </a:endParaRPr>
          </a:p>
          <a:p>
            <a:pPr marL="1200150" lvl="2" indent="-285750"/>
            <a:r>
              <a:rPr lang="ko-KR" altLang="en-US" sz="1600" dirty="0" err="1"/>
              <a:t>키패드</a:t>
            </a:r>
            <a:r>
              <a:rPr lang="ko-KR" altLang="en-US" sz="1600" dirty="0"/>
              <a:t> 스캔 로직</a:t>
            </a:r>
            <a:endParaRPr lang="en-CA" altLang="ko-KR" sz="1600" dirty="0"/>
          </a:p>
          <a:p>
            <a:pPr marL="1200150" lvl="2" indent="-285750"/>
            <a:r>
              <a:rPr lang="ko-KR" altLang="en-US" sz="1600" b="0" i="0" dirty="0">
                <a:effectLst/>
                <a:latin typeface="+mn-ea"/>
              </a:rPr>
              <a:t>인터럽트 제어기</a:t>
            </a:r>
          </a:p>
          <a:p>
            <a:pPr lvl="1"/>
            <a:endParaRPr lang="en-US" altLang="ko-KR" sz="1200" b="0" i="0" dirty="0">
              <a:effectLst/>
              <a:latin typeface="+mn-ea"/>
            </a:endParaRPr>
          </a:p>
        </p:txBody>
      </p:sp>
      <p:pic>
        <p:nvPicPr>
          <p:cNvPr id="10242" name="Picture 2" descr="Encoder (digital) - Wikipedia">
            <a:extLst>
              <a:ext uri="{FF2B5EF4-FFF2-40B4-BE49-F238E27FC236}">
                <a16:creationId xmlns:a16="http://schemas.microsoft.com/office/drawing/2014/main" id="{6B6095AF-7C67-8A18-BCCE-873081FCAC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1330" y="3739683"/>
            <a:ext cx="4029075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639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0D9F3-B2C9-C499-C443-A9457AE51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9DA0B2-ABAC-9C72-6080-BDD718121DF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79228" y="555957"/>
            <a:ext cx="10515600" cy="620713"/>
          </a:xfrm>
        </p:spPr>
        <p:txBody>
          <a:bodyPr>
            <a:normAutofit/>
          </a:bodyPr>
          <a:lstStyle/>
          <a:p>
            <a:r>
              <a:rPr lang="en-US" sz="3200" dirty="0"/>
              <a:t>LAB</a:t>
            </a:r>
            <a:r>
              <a:rPr lang="ko-KR" altLang="en-US" sz="3200" dirty="0"/>
              <a:t> </a:t>
            </a:r>
            <a:r>
              <a:rPr lang="en-US" altLang="ko-KR" sz="3200" dirty="0"/>
              <a:t>:</a:t>
            </a:r>
            <a:r>
              <a:rPr lang="ko-KR" altLang="en-US" sz="3200" dirty="0"/>
              <a:t> </a:t>
            </a:r>
            <a:r>
              <a:rPr lang="en-US" altLang="ko-KR" sz="3200" dirty="0"/>
              <a:t>Specification</a:t>
            </a:r>
            <a:endParaRPr lang="en-CA" sz="3200" dirty="0"/>
          </a:p>
        </p:txBody>
      </p:sp>
      <p:pic>
        <p:nvPicPr>
          <p:cNvPr id="7169" name="Picture 1">
            <a:extLst>
              <a:ext uri="{FF2B5EF4-FFF2-40B4-BE49-F238E27FC236}">
                <a16:creationId xmlns:a16="http://schemas.microsoft.com/office/drawing/2014/main" id="{B967C5FB-C879-746B-A8E3-D4FF404AFAC6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4316" y="1740273"/>
            <a:ext cx="6753225" cy="424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35CACD5-6574-474D-ADF3-7C60D143237A}"/>
              </a:ext>
            </a:extLst>
          </p:cNvPr>
          <p:cNvSpPr txBox="1"/>
          <p:nvPr/>
        </p:nvSpPr>
        <p:spPr>
          <a:xfrm>
            <a:off x="3758268" y="1820411"/>
            <a:ext cx="156874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/>
              <a:t>인터럽트 처리 요청신호</a:t>
            </a:r>
            <a:endParaRPr lang="en-US" sz="9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46C9AC-F7A8-4E1C-A76C-91199AC4A9DF}"/>
              </a:ext>
            </a:extLst>
          </p:cNvPr>
          <p:cNvSpPr txBox="1"/>
          <p:nvPr/>
        </p:nvSpPr>
        <p:spPr>
          <a:xfrm>
            <a:off x="4991449" y="4295163"/>
            <a:ext cx="3853479" cy="1384995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400" dirty="0"/>
              <a:t>인터럽트가 발생하면 </a:t>
            </a:r>
            <a:r>
              <a:rPr lang="en-US" altLang="ko-KR" sz="1400" dirty="0"/>
              <a:t>CPU</a:t>
            </a:r>
            <a:r>
              <a:rPr lang="ko-KR" altLang="en-US" sz="1400" dirty="0"/>
              <a:t>로 인터럽트 처리 요청신호</a:t>
            </a:r>
            <a:r>
              <a:rPr lang="en-US" altLang="ko-KR" sz="1400" dirty="0"/>
              <a:t>(</a:t>
            </a:r>
            <a:r>
              <a:rPr lang="en-US" altLang="ko-KR" sz="1400" dirty="0" err="1"/>
              <a:t>o_int_req</a:t>
            </a:r>
            <a:r>
              <a:rPr lang="en-US" altLang="ko-KR" sz="1400" dirty="0"/>
              <a:t>)</a:t>
            </a:r>
            <a:r>
              <a:rPr lang="ko-KR" altLang="en-US" sz="1400" dirty="0"/>
              <a:t>를 전송</a:t>
            </a:r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인터럽트가 </a:t>
            </a:r>
            <a:r>
              <a:rPr lang="en-US" altLang="ko-KR" sz="1400" dirty="0"/>
              <a:t>CPU</a:t>
            </a:r>
            <a:r>
              <a:rPr lang="ko-KR" altLang="en-US" sz="1400" dirty="0"/>
              <a:t>에서 수신되면 전송완료신호</a:t>
            </a:r>
            <a:r>
              <a:rPr lang="en-US" altLang="ko-KR" sz="1400" dirty="0"/>
              <a:t>(</a:t>
            </a:r>
            <a:r>
              <a:rPr lang="en-US" altLang="ko-KR" sz="1400" dirty="0" err="1"/>
              <a:t>i_int_ack</a:t>
            </a:r>
            <a:r>
              <a:rPr lang="en-US" altLang="ko-KR" sz="1400" dirty="0"/>
              <a:t>)</a:t>
            </a:r>
            <a:r>
              <a:rPr lang="ko-KR" altLang="en-US" sz="1400" dirty="0"/>
              <a:t>가 모듈로 전송되고 새로운 인터럽트를 받아들일 준비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082909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3D2A5D-7D2F-4C4F-BAD8-7DE349F6A6F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974EA-E266-46E5-B93E-1A12E099C41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10000" y="4961780"/>
            <a:ext cx="7688263" cy="500352"/>
          </a:xfrm>
        </p:spPr>
        <p:txBody>
          <a:bodyPr/>
          <a:lstStyle/>
          <a:p>
            <a:r>
              <a:rPr lang="en-US" dirty="0"/>
              <a:t>3. Decoder</a:t>
            </a:r>
          </a:p>
        </p:txBody>
      </p:sp>
    </p:spTree>
    <p:extLst>
      <p:ext uri="{BB962C8B-B14F-4D97-AF65-F5344CB8AC3E}">
        <p14:creationId xmlns:p14="http://schemas.microsoft.com/office/powerpoint/2010/main" val="23885772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74727-40F9-5800-6B5E-500D88051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8CF3C1-B370-C19D-96D1-6F9499CB928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370680"/>
            <a:ext cx="10515600" cy="620713"/>
          </a:xfrm>
        </p:spPr>
        <p:txBody>
          <a:bodyPr/>
          <a:lstStyle/>
          <a:p>
            <a:r>
              <a:rPr lang="en-US" sz="2800" dirty="0"/>
              <a:t>Decoder</a:t>
            </a:r>
            <a:endParaRPr lang="en-CA" sz="2800" dirty="0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2E139F1D-A982-91F1-1D63-1DA008413050}"/>
              </a:ext>
            </a:extLst>
          </p:cNvPr>
          <p:cNvSpPr txBox="1">
            <a:spLocks/>
          </p:cNvSpPr>
          <p:nvPr/>
        </p:nvSpPr>
        <p:spPr>
          <a:xfrm>
            <a:off x="838200" y="1120588"/>
            <a:ext cx="10515600" cy="5056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2000" b="1" i="0" dirty="0" err="1">
                <a:effectLst/>
                <a:latin typeface="var(--font-fk-grotesk)"/>
              </a:rPr>
              <a:t>디코더</a:t>
            </a:r>
            <a:r>
              <a:rPr lang="ko-KR" altLang="en-US" sz="2000" b="1" i="0" dirty="0">
                <a:effectLst/>
                <a:latin typeface="var(--font-fk-grotesk)"/>
              </a:rPr>
              <a:t> </a:t>
            </a:r>
            <a:r>
              <a:rPr lang="en-US" altLang="ko-KR" sz="2000" b="1" i="0" dirty="0">
                <a:effectLst/>
                <a:latin typeface="var(--font-fk-grotesk)"/>
              </a:rPr>
              <a:t>(Decoder)</a:t>
            </a:r>
          </a:p>
          <a:p>
            <a:pPr lvl="1"/>
            <a:r>
              <a:rPr lang="ko-KR" altLang="en-US" sz="1800" b="0" i="0" dirty="0" err="1">
                <a:effectLst/>
                <a:latin typeface="fkGroteskNeue"/>
              </a:rPr>
              <a:t>디코더는</a:t>
            </a:r>
            <a:r>
              <a:rPr lang="ko-KR" altLang="en-US" sz="1800" b="0" i="0" dirty="0">
                <a:effectLst/>
                <a:latin typeface="fkGroteskNeue"/>
              </a:rPr>
              <a:t> 인코더의 반대 기능을 수행하며</a:t>
            </a:r>
            <a:r>
              <a:rPr lang="en-US" altLang="ko-KR" sz="1800" b="0" i="0" dirty="0">
                <a:effectLst/>
                <a:latin typeface="fkGroteskNeue"/>
              </a:rPr>
              <a:t>, </a:t>
            </a:r>
            <a:r>
              <a:rPr lang="ko-KR" altLang="en-US" sz="1800" b="0" i="0" dirty="0">
                <a:effectLst/>
                <a:latin typeface="fkGroteskNeue"/>
              </a:rPr>
              <a:t>코드화 된 입력을 원래의 형식으로 변환</a:t>
            </a:r>
            <a:r>
              <a:rPr lang="en-US" altLang="ko-KR" sz="1800" b="0" i="0" dirty="0">
                <a:effectLst/>
                <a:latin typeface="fkGroteskNeue"/>
              </a:rPr>
              <a:t>(</a:t>
            </a:r>
            <a:r>
              <a:rPr lang="ko-KR" altLang="en-US" sz="1800" b="0" i="0" dirty="0" err="1">
                <a:effectLst/>
                <a:latin typeface="fkGroteskNeue"/>
              </a:rPr>
              <a:t>코드화된</a:t>
            </a:r>
            <a:r>
              <a:rPr lang="ko-KR" altLang="en-US" sz="1800" b="0" i="0" dirty="0">
                <a:effectLst/>
                <a:latin typeface="fkGroteskNeue"/>
              </a:rPr>
              <a:t> 입력의 해석</a:t>
            </a:r>
            <a:r>
              <a:rPr lang="en-US" altLang="ko-KR" sz="1800" b="0" i="0" dirty="0">
                <a:effectLst/>
                <a:latin typeface="fkGroteskNeue"/>
              </a:rPr>
              <a:t>).</a:t>
            </a:r>
          </a:p>
          <a:p>
            <a:pPr lvl="1"/>
            <a:r>
              <a:rPr lang="en-US" altLang="ko-KR" sz="1800" b="0" i="0" dirty="0">
                <a:effectLst/>
                <a:latin typeface="fkGroteskNeue"/>
              </a:rPr>
              <a:t>n</a:t>
            </a:r>
            <a:r>
              <a:rPr lang="ko-KR" altLang="en-US" sz="1800" b="0" i="0" dirty="0">
                <a:effectLst/>
                <a:latin typeface="fkGroteskNeue"/>
              </a:rPr>
              <a:t>개의 입력 라인을 </a:t>
            </a:r>
            <a:r>
              <a:rPr lang="en-US" altLang="ko-KR" sz="1800" b="0" i="0" dirty="0">
                <a:effectLst/>
                <a:latin typeface="fkGroteskNeue"/>
              </a:rPr>
              <a:t>2^n</a:t>
            </a:r>
            <a:r>
              <a:rPr lang="ko-KR" altLang="en-US" sz="1800" b="0" i="0" dirty="0">
                <a:effectLst/>
                <a:latin typeface="fkGroteskNeue"/>
              </a:rPr>
              <a:t>개의 출력 라인으로 변환합니다</a:t>
            </a:r>
            <a:r>
              <a:rPr lang="en-US" altLang="ko-KR" sz="1800" b="0" i="0" dirty="0">
                <a:effectLst/>
                <a:latin typeface="fkGroteskNeue"/>
              </a:rPr>
              <a:t>.</a:t>
            </a:r>
          </a:p>
          <a:p>
            <a:pPr lvl="1"/>
            <a:r>
              <a:rPr lang="ko-KR" altLang="en-US" sz="1800" b="0" i="0" dirty="0">
                <a:effectLst/>
                <a:latin typeface="fkGroteskNeue"/>
              </a:rPr>
              <a:t>입력 코드에 따라 하나의 출력만 활성화됩니다</a:t>
            </a:r>
            <a:r>
              <a:rPr lang="en-US" altLang="ko-KR" sz="1800" b="0" i="0" dirty="0">
                <a:effectLst/>
                <a:latin typeface="fkGroteskNeue"/>
              </a:rPr>
              <a:t>.</a:t>
            </a:r>
          </a:p>
          <a:p>
            <a:pPr lvl="1"/>
            <a:r>
              <a:rPr lang="ko-KR" altLang="en-US" sz="1800" b="0" i="0" dirty="0">
                <a:effectLst/>
                <a:latin typeface="fkGroteskNeue"/>
              </a:rPr>
              <a:t>주요 유형</a:t>
            </a:r>
            <a:r>
              <a:rPr lang="en-US" altLang="ko-KR" sz="1800" b="0" i="0" dirty="0">
                <a:effectLst/>
                <a:latin typeface="fkGroteskNeue"/>
              </a:rPr>
              <a:t>:</a:t>
            </a:r>
          </a:p>
          <a:p>
            <a:pPr marL="1200150" lvl="2" indent="-285750"/>
            <a:r>
              <a:rPr lang="en-US" altLang="ko-KR" sz="1600" b="0" i="0" dirty="0">
                <a:effectLst/>
                <a:latin typeface="fkGroteskNeue"/>
              </a:rPr>
              <a:t>2-to-4 </a:t>
            </a:r>
            <a:r>
              <a:rPr lang="ko-KR" altLang="en-US" sz="1600" b="0" i="0" dirty="0" err="1">
                <a:effectLst/>
                <a:latin typeface="fkGroteskNeue"/>
              </a:rPr>
              <a:t>디코더</a:t>
            </a:r>
            <a:endParaRPr lang="ko-KR" altLang="en-US" sz="1600" b="0" i="0" dirty="0">
              <a:effectLst/>
              <a:latin typeface="fkGroteskNeue"/>
            </a:endParaRPr>
          </a:p>
          <a:p>
            <a:pPr marL="1200150" lvl="2" indent="-285750"/>
            <a:r>
              <a:rPr lang="en-US" altLang="ko-KR" sz="1600" b="0" i="0" dirty="0">
                <a:effectLst/>
                <a:latin typeface="fkGroteskNeue"/>
              </a:rPr>
              <a:t>3-to-8 </a:t>
            </a:r>
            <a:r>
              <a:rPr lang="ko-KR" altLang="en-US" sz="1600" b="0" i="0" dirty="0" err="1">
                <a:effectLst/>
                <a:latin typeface="fkGroteskNeue"/>
              </a:rPr>
              <a:t>디코더</a:t>
            </a:r>
            <a:endParaRPr lang="ko-KR" altLang="en-US" sz="1600" b="0" i="0" dirty="0">
              <a:effectLst/>
              <a:latin typeface="fkGroteskNeue"/>
            </a:endParaRPr>
          </a:p>
          <a:p>
            <a:pPr marL="1200150" lvl="2" indent="-285750"/>
            <a:r>
              <a:rPr lang="en-US" altLang="ko-KR" sz="1600" b="0" i="0" dirty="0">
                <a:effectLst/>
                <a:latin typeface="fkGroteskNeue"/>
              </a:rPr>
              <a:t>4-to-16 </a:t>
            </a:r>
            <a:r>
              <a:rPr lang="ko-KR" altLang="en-US" sz="1600" b="0" i="0" dirty="0" err="1">
                <a:effectLst/>
                <a:latin typeface="fkGroteskNeue"/>
              </a:rPr>
              <a:t>디코더</a:t>
            </a:r>
            <a:endParaRPr lang="ko-KR" altLang="en-US" sz="1600" b="0" i="0" dirty="0">
              <a:effectLst/>
              <a:latin typeface="fkGroteskNeue"/>
            </a:endParaRPr>
          </a:p>
          <a:p>
            <a:pPr marL="1200150" lvl="2" indent="-285750"/>
            <a:r>
              <a:rPr lang="en-US" altLang="ko-KR" sz="1600" b="0" i="0" dirty="0">
                <a:effectLst/>
                <a:latin typeface="fkGroteskNeue"/>
              </a:rPr>
              <a:t>BCD-to-7</a:t>
            </a:r>
            <a:r>
              <a:rPr lang="ko-KR" altLang="en-US" sz="1600" b="0" i="0" dirty="0">
                <a:effectLst/>
                <a:latin typeface="fkGroteskNeue"/>
              </a:rPr>
              <a:t>세그먼트 </a:t>
            </a:r>
            <a:r>
              <a:rPr lang="ko-KR" altLang="en-US" sz="1600" b="0" i="0" dirty="0" err="1">
                <a:effectLst/>
                <a:latin typeface="fkGroteskNeue"/>
              </a:rPr>
              <a:t>디코더</a:t>
            </a:r>
            <a:endParaRPr lang="ko-KR" altLang="en-US" sz="1600" b="0" i="0" dirty="0">
              <a:effectLst/>
              <a:latin typeface="fkGroteskNeue"/>
            </a:endParaRPr>
          </a:p>
          <a:p>
            <a:pPr marL="0" indent="0" algn="l">
              <a:buNone/>
            </a:pPr>
            <a:endParaRPr lang="en-US" altLang="ko-KR" b="0" i="0" dirty="0">
              <a:effectLst/>
              <a:latin typeface="+mn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AE3A1C2-EA68-F839-83FA-06385841C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560" y="3429000"/>
            <a:ext cx="3743847" cy="22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979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0D9F3-B2C9-C499-C443-A9457AE51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9DA0B2-ABAC-9C72-6080-BDD718121DF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79228" y="555957"/>
            <a:ext cx="10515600" cy="620713"/>
          </a:xfrm>
        </p:spPr>
        <p:txBody>
          <a:bodyPr>
            <a:normAutofit/>
          </a:bodyPr>
          <a:lstStyle/>
          <a:p>
            <a:r>
              <a:rPr lang="en-US" sz="3200" dirty="0"/>
              <a:t>LAB</a:t>
            </a:r>
            <a:r>
              <a:rPr lang="ko-KR" altLang="en-US" sz="3200" dirty="0"/>
              <a:t> </a:t>
            </a:r>
            <a:r>
              <a:rPr lang="en-US" altLang="ko-KR" sz="3200" dirty="0"/>
              <a:t>:</a:t>
            </a:r>
            <a:r>
              <a:rPr lang="ko-KR" altLang="en-US" sz="3200" dirty="0"/>
              <a:t> </a:t>
            </a:r>
            <a:r>
              <a:rPr lang="en-US" altLang="ko-KR" sz="3200" dirty="0"/>
              <a:t>Specification</a:t>
            </a:r>
            <a:endParaRPr lang="en-CA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0688BA-ACA6-486C-9715-A505CB32E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9801" y="1632295"/>
            <a:ext cx="4371975" cy="2162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3A5C50-BB3B-4D23-860A-3634A0569B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1774" y="4187106"/>
            <a:ext cx="2952750" cy="1314450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385EEAD-E4B5-4902-86C6-728E0F3520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6248736"/>
              </p:ext>
            </p:extLst>
          </p:nvPr>
        </p:nvGraphicFramePr>
        <p:xfrm>
          <a:off x="7304599" y="2281404"/>
          <a:ext cx="3657600" cy="24860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443240772"/>
                    </a:ext>
                  </a:extLst>
                </a:gridCol>
                <a:gridCol w="1288111">
                  <a:extLst>
                    <a:ext uri="{9D8B030D-6E8A-4147-A177-3AD203B41FA5}">
                      <a16:colId xmlns:a16="http://schemas.microsoft.com/office/drawing/2014/main" val="1802099796"/>
                    </a:ext>
                  </a:extLst>
                </a:gridCol>
                <a:gridCol w="1150289">
                  <a:extLst>
                    <a:ext uri="{9D8B030D-6E8A-4147-A177-3AD203B41FA5}">
                      <a16:colId xmlns:a16="http://schemas.microsoft.com/office/drawing/2014/main" val="1991897117"/>
                    </a:ext>
                  </a:extLst>
                </a:gridCol>
              </a:tblGrid>
              <a:tr h="2762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BCD</a:t>
                      </a:r>
                      <a:r>
                        <a:rPr lang="en-US" sz="1200" b="1" u="none" strike="noStrike" dirty="0">
                          <a:effectLst/>
                        </a:rPr>
                        <a:t> Data(4bits)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u="none" strike="noStrike">
                          <a:effectLst/>
                        </a:rPr>
                        <a:t>7-segment(7bits)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u="none" strike="noStrike" dirty="0">
                          <a:effectLst/>
                        </a:rPr>
                        <a:t>display number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8637458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4'b0000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7'b1111110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4121980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4'b0001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7'b0110000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954326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4'b0010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7'b1101101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4501763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4'b0011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7'b1111001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5467496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4'b0100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7'b0110011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9033006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4'b0101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7'b1011011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938619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4'b0110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7'b1011111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4908591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4'b0111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7'b1110000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8324996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4'b1000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7'b1111111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3925192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4'b1001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7'b1111011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5398026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u="none" strike="noStrike">
                          <a:effectLst/>
                        </a:rPr>
                        <a:t>그 외</a:t>
                      </a:r>
                      <a:r>
                        <a:rPr lang="en-US" altLang="ko-KR" sz="1200" u="none" strike="noStrike">
                          <a:effectLst/>
                        </a:rPr>
                        <a:t>(</a:t>
                      </a:r>
                      <a:r>
                        <a:rPr lang="en-US" sz="1200" u="none" strike="noStrike">
                          <a:effectLst/>
                        </a:rPr>
                        <a:t>default)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7'b0000000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off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69089020"/>
                  </a:ext>
                </a:extLst>
              </a:tr>
            </a:tbl>
          </a:graphicData>
        </a:graphic>
      </p:graphicFrame>
      <p:sp>
        <p:nvSpPr>
          <p:cNvPr id="9" name="Arrow: Right 8">
            <a:extLst>
              <a:ext uri="{FF2B5EF4-FFF2-40B4-BE49-F238E27FC236}">
                <a16:creationId xmlns:a16="http://schemas.microsoft.com/office/drawing/2014/main" id="{CC420C7F-1AE1-4724-89D1-CFA45991521A}"/>
              </a:ext>
            </a:extLst>
          </p:cNvPr>
          <p:cNvSpPr/>
          <p:nvPr/>
        </p:nvSpPr>
        <p:spPr>
          <a:xfrm>
            <a:off x="6337190" y="3363402"/>
            <a:ext cx="445273" cy="4532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B3407BE-8ED9-4D59-8323-74B643816D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472" y="3917037"/>
            <a:ext cx="2238166" cy="218656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D8BE771-918E-40D3-9F1A-C35A057A31A2}"/>
              </a:ext>
            </a:extLst>
          </p:cNvPr>
          <p:cNvSpPr txBox="1"/>
          <p:nvPr/>
        </p:nvSpPr>
        <p:spPr>
          <a:xfrm>
            <a:off x="779228" y="6055822"/>
            <a:ext cx="26345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2">
                    <a:lumMod val="75000"/>
                  </a:schemeClr>
                </a:solidFill>
              </a:rPr>
              <a:t>Source: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VISHAY Semiconductor</a:t>
            </a:r>
            <a:endParaRPr lang="en-US" sz="1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627C1FE-7E31-44C5-BD88-39E2D21F4833}"/>
              </a:ext>
            </a:extLst>
          </p:cNvPr>
          <p:cNvSpPr/>
          <p:nvPr/>
        </p:nvSpPr>
        <p:spPr>
          <a:xfrm>
            <a:off x="7097086" y="1996580"/>
            <a:ext cx="1468074" cy="2944536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4AA876AB-5E43-4735-A306-96873EC35AFA}"/>
              </a:ext>
            </a:extLst>
          </p:cNvPr>
          <p:cNvCxnSpPr>
            <a:stCxn id="3" idx="2"/>
          </p:cNvCxnSpPr>
          <p:nvPr/>
        </p:nvCxnSpPr>
        <p:spPr>
          <a:xfrm>
            <a:off x="7831123" y="4941116"/>
            <a:ext cx="213919" cy="4697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FA0EC49-564E-4741-A129-C62957AA55A5}"/>
              </a:ext>
            </a:extLst>
          </p:cNvPr>
          <p:cNvSpPr txBox="1"/>
          <p:nvPr/>
        </p:nvSpPr>
        <p:spPr>
          <a:xfrm>
            <a:off x="8237989" y="5276675"/>
            <a:ext cx="2238166" cy="523220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BCD Encoding</a:t>
            </a:r>
            <a:r>
              <a:rPr lang="ko-KR" altLang="en-US" sz="1400" dirty="0"/>
              <a:t>의 특징은 무엇인가</a:t>
            </a:r>
            <a:r>
              <a:rPr lang="en-US" altLang="ko-KR" sz="1400" dirty="0"/>
              <a:t>?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51072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3D2A5D-7D2F-4C4F-BAD8-7DE349F6A6F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974EA-E266-46E5-B93E-1A12E099C41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10000" y="4961780"/>
            <a:ext cx="7688263" cy="500352"/>
          </a:xfrm>
        </p:spPr>
        <p:txBody>
          <a:bodyPr/>
          <a:lstStyle/>
          <a:p>
            <a:r>
              <a:rPr lang="en-US" dirty="0"/>
              <a:t>3. Comparator</a:t>
            </a:r>
          </a:p>
        </p:txBody>
      </p:sp>
    </p:spTree>
    <p:extLst>
      <p:ext uri="{BB962C8B-B14F-4D97-AF65-F5344CB8AC3E}">
        <p14:creationId xmlns:p14="http://schemas.microsoft.com/office/powerpoint/2010/main" val="31413745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8D1034-DC6C-4ADF-A220-DE457D2E9CD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87229" y="365592"/>
            <a:ext cx="10515600" cy="620713"/>
          </a:xfrm>
        </p:spPr>
        <p:txBody>
          <a:bodyPr>
            <a:normAutofit/>
          </a:bodyPr>
          <a:lstStyle/>
          <a:p>
            <a:r>
              <a:rPr lang="en-US" sz="3200" dirty="0"/>
              <a:t>Comparator</a:t>
            </a:r>
            <a:endParaRPr lang="en-CA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6759A5-C135-1606-9E12-74F9D2ED7CB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46620" y="1078830"/>
            <a:ext cx="10515600" cy="5056188"/>
          </a:xfrm>
        </p:spPr>
        <p:txBody>
          <a:bodyPr>
            <a:normAutofit/>
          </a:bodyPr>
          <a:lstStyle/>
          <a:p>
            <a:r>
              <a:rPr lang="ko-KR" altLang="en-US" sz="2000" b="1" dirty="0"/>
              <a:t>비교기 </a:t>
            </a:r>
            <a:r>
              <a:rPr lang="en-US" altLang="ko-KR" sz="2000" b="1" dirty="0"/>
              <a:t>(comparator)</a:t>
            </a:r>
          </a:p>
          <a:p>
            <a:pPr lvl="1"/>
            <a:r>
              <a:rPr lang="ko-KR" altLang="en-US" sz="1800" b="0" i="0" dirty="0">
                <a:effectLst/>
                <a:latin typeface="fkGroteskNeue"/>
              </a:rPr>
              <a:t>두 개의 </a:t>
            </a:r>
            <a:r>
              <a:rPr lang="en-US" altLang="ko-KR" sz="1800" b="0" i="0" dirty="0">
                <a:effectLst/>
                <a:latin typeface="fkGroteskNeue"/>
              </a:rPr>
              <a:t>n</a:t>
            </a:r>
            <a:r>
              <a:rPr lang="ko-KR" altLang="en-US" sz="1800" b="0" i="0" dirty="0">
                <a:effectLst/>
                <a:latin typeface="fkGroteskNeue"/>
              </a:rPr>
              <a:t>비트 이진수 입력 </a:t>
            </a:r>
            <a:r>
              <a:rPr lang="en-US" altLang="ko-KR" sz="1800" b="0" i="0" dirty="0">
                <a:effectLst/>
                <a:latin typeface="fkGroteskNeue"/>
              </a:rPr>
              <a:t>(A</a:t>
            </a:r>
            <a:r>
              <a:rPr lang="ko-KR" altLang="en-US" sz="1800" b="0" i="0" dirty="0">
                <a:effectLst/>
                <a:latin typeface="fkGroteskNeue"/>
              </a:rPr>
              <a:t>와 </a:t>
            </a:r>
            <a:r>
              <a:rPr lang="en-US" altLang="ko-KR" sz="1800" b="0" i="0" dirty="0">
                <a:effectLst/>
                <a:latin typeface="fkGroteskNeue"/>
              </a:rPr>
              <a:t>B) </a:t>
            </a:r>
            <a:r>
              <a:rPr lang="ko-KR" altLang="en-US" sz="1800" b="0" i="0" dirty="0">
                <a:effectLst/>
                <a:latin typeface="fkGroteskNeue"/>
              </a:rPr>
              <a:t>크기를 비교</a:t>
            </a:r>
            <a:endParaRPr lang="en-US" altLang="ko-KR" sz="1800" b="0" i="0" dirty="0">
              <a:effectLst/>
              <a:latin typeface="fkGroteskNeue"/>
            </a:endParaRPr>
          </a:p>
          <a:p>
            <a:pPr lvl="1"/>
            <a:r>
              <a:rPr lang="ko-KR" altLang="en-US" sz="1800" b="0" i="0" dirty="0">
                <a:effectLst/>
                <a:latin typeface="fkGroteskNeue"/>
              </a:rPr>
              <a:t>세 개의 출력</a:t>
            </a:r>
            <a:r>
              <a:rPr lang="en-US" altLang="ko-KR" sz="1800" b="0" i="0" dirty="0">
                <a:effectLst/>
                <a:latin typeface="fkGroteskNeue"/>
              </a:rPr>
              <a:t>: A &gt; B, A = B, A &lt; B</a:t>
            </a:r>
          </a:p>
          <a:p>
            <a:pPr lvl="1"/>
            <a:r>
              <a:rPr lang="ko-KR" altLang="en-US" sz="1800" b="0" i="0" dirty="0">
                <a:effectLst/>
                <a:latin typeface="var(--font-fk-grotesk)"/>
              </a:rPr>
              <a:t>동작 원리</a:t>
            </a:r>
          </a:p>
          <a:p>
            <a:pPr lvl="2"/>
            <a:r>
              <a:rPr lang="ko-KR" altLang="en-US" sz="1600" b="0" i="0" dirty="0">
                <a:effectLst/>
                <a:latin typeface="fkGroteskNeue"/>
              </a:rPr>
              <a:t>입력된 두 이진수를 </a:t>
            </a:r>
            <a:r>
              <a:rPr lang="ko-KR" altLang="en-US" sz="1600" b="1" i="0" dirty="0">
                <a:effectLst/>
                <a:latin typeface="fkGroteskNeue"/>
              </a:rPr>
              <a:t>비트 단위로 비교</a:t>
            </a:r>
            <a:endParaRPr lang="en-US" altLang="ko-KR" sz="1600" b="0" i="0" dirty="0">
              <a:effectLst/>
              <a:latin typeface="fkGroteskNeue"/>
            </a:endParaRPr>
          </a:p>
          <a:p>
            <a:pPr lvl="2"/>
            <a:r>
              <a:rPr lang="ko-KR" altLang="en-US" sz="1600" b="0" i="0" dirty="0">
                <a:effectLst/>
                <a:latin typeface="fkGroteskNeue"/>
              </a:rPr>
              <a:t>최상위 비트</a:t>
            </a:r>
            <a:r>
              <a:rPr lang="en-US" altLang="ko-KR" sz="1600" b="0" i="0" dirty="0">
                <a:effectLst/>
                <a:latin typeface="fkGroteskNeue"/>
              </a:rPr>
              <a:t>(MSB)</a:t>
            </a:r>
            <a:r>
              <a:rPr lang="ko-KR" altLang="en-US" sz="1600" b="0" i="0" dirty="0">
                <a:effectLst/>
                <a:latin typeface="fkGroteskNeue"/>
              </a:rPr>
              <a:t>부터 시작하여 하위 비트로 순차적으로 비교</a:t>
            </a:r>
            <a:endParaRPr lang="en-US" altLang="ko-KR" sz="1600" b="0" i="0" dirty="0">
              <a:effectLst/>
              <a:latin typeface="fkGroteskNeue"/>
            </a:endParaRPr>
          </a:p>
          <a:p>
            <a:pPr lvl="2"/>
            <a:r>
              <a:rPr lang="ko-KR" altLang="en-US" sz="1600" b="0" i="0" dirty="0">
                <a:effectLst/>
                <a:latin typeface="fkGroteskNeue"/>
              </a:rPr>
              <a:t>첫 </a:t>
            </a:r>
            <a:r>
              <a:rPr lang="ko-KR" altLang="en-US" sz="1600" b="0" i="0" dirty="0" err="1">
                <a:effectLst/>
                <a:latin typeface="fkGroteskNeue"/>
              </a:rPr>
              <a:t>번째로</a:t>
            </a:r>
            <a:r>
              <a:rPr lang="ko-KR" altLang="en-US" sz="1600" b="0" i="0" dirty="0">
                <a:effectLst/>
                <a:latin typeface="fkGroteskNeue"/>
              </a:rPr>
              <a:t> 다른 비트가 발견되면</a:t>
            </a:r>
            <a:r>
              <a:rPr lang="en-US" altLang="ko-KR" sz="1600" b="0" i="0" dirty="0">
                <a:effectLst/>
                <a:latin typeface="fkGroteskNeue"/>
              </a:rPr>
              <a:t>, </a:t>
            </a:r>
            <a:r>
              <a:rPr lang="ko-KR" altLang="en-US" sz="1600" b="0" i="0" dirty="0">
                <a:effectLst/>
                <a:latin typeface="fkGroteskNeue"/>
              </a:rPr>
              <a:t>그 비트의 값에 따라 크기를 결정</a:t>
            </a:r>
            <a:endParaRPr lang="en-US" altLang="ko-KR" sz="1600" b="0" i="0" dirty="0">
              <a:effectLst/>
              <a:latin typeface="fkGroteskNeue"/>
            </a:endParaRPr>
          </a:p>
          <a:p>
            <a:pPr lvl="1"/>
            <a:endParaRPr lang="en-US" altLang="ko-KR" dirty="0"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C5B198C7-44C4-2261-4FAE-4EBEFA28D3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4810" y="3727012"/>
            <a:ext cx="2773829" cy="2131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84491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1E0FC-94ED-B832-754D-493F79443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76ED58-CBD3-DC81-7992-42858A33A24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79425" y="392361"/>
            <a:ext cx="11233150" cy="65405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200" dirty="0"/>
              <a:t>Comparator</a:t>
            </a:r>
          </a:p>
        </p:txBody>
      </p:sp>
      <p:sp>
        <p:nvSpPr>
          <p:cNvPr id="25" name="내용 개체 틀 2">
            <a:extLst>
              <a:ext uri="{FF2B5EF4-FFF2-40B4-BE49-F238E27FC236}">
                <a16:creationId xmlns:a16="http://schemas.microsoft.com/office/drawing/2014/main" id="{CB7F9CC2-4522-7D1A-6EDB-B60870BAB1A2}"/>
              </a:ext>
            </a:extLst>
          </p:cNvPr>
          <p:cNvSpPr txBox="1">
            <a:spLocks/>
          </p:cNvSpPr>
          <p:nvPr/>
        </p:nvSpPr>
        <p:spPr>
          <a:xfrm>
            <a:off x="357505" y="1274785"/>
            <a:ext cx="11233150" cy="4948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72783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47103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93178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518603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dirty="0">
                <a:solidFill>
                  <a:schemeClr val="tx1"/>
                </a:solidFill>
                <a:latin typeface="+mn-ea"/>
              </a:rPr>
              <a:t>데이터 정렬 및 검색</a:t>
            </a:r>
            <a:endParaRPr lang="en-US" altLang="ko-KR" sz="2000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ko-KR" altLang="en-US" sz="1800" dirty="0">
                <a:solidFill>
                  <a:schemeClr val="tx1"/>
                </a:solidFill>
                <a:latin typeface="+mn-ea"/>
              </a:rPr>
              <a:t>메모리 관리 유닛</a:t>
            </a:r>
            <a:r>
              <a:rPr lang="en-US" altLang="ko-KR" sz="1800" dirty="0">
                <a:solidFill>
                  <a:schemeClr val="tx1"/>
                </a:solidFill>
                <a:latin typeface="+mn-ea"/>
              </a:rPr>
              <a:t>(MMU)</a:t>
            </a:r>
            <a:r>
              <a:rPr lang="ko-KR" altLang="en-US" sz="1800" dirty="0">
                <a:solidFill>
                  <a:schemeClr val="tx1"/>
                </a:solidFill>
                <a:latin typeface="+mn-ea"/>
              </a:rPr>
              <a:t>에서 주소 비교</a:t>
            </a:r>
          </a:p>
          <a:p>
            <a:pPr lvl="1"/>
            <a:r>
              <a:rPr lang="ko-KR" altLang="en-US" sz="1800" dirty="0">
                <a:solidFill>
                  <a:schemeClr val="tx1"/>
                </a:solidFill>
                <a:latin typeface="+mn-ea"/>
              </a:rPr>
              <a:t>캐시 메모리의 태그 비교</a:t>
            </a:r>
          </a:p>
          <a:p>
            <a:r>
              <a:rPr lang="en-US" altLang="ko-KR" sz="2000" dirty="0">
                <a:solidFill>
                  <a:schemeClr val="tx1"/>
                </a:solidFill>
                <a:latin typeface="+mn-ea"/>
              </a:rPr>
              <a:t>ADC </a:t>
            </a:r>
            <a:r>
              <a:rPr lang="ko-KR" altLang="en-US" sz="2000" dirty="0">
                <a:solidFill>
                  <a:schemeClr val="tx1"/>
                </a:solidFill>
                <a:latin typeface="+mn-ea"/>
              </a:rPr>
              <a:t>인터페이스</a:t>
            </a:r>
            <a:endParaRPr lang="en-US" altLang="ko-KR" sz="2000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en-US" altLang="ko-KR" sz="1800" dirty="0">
                <a:solidFill>
                  <a:schemeClr val="tx1"/>
                </a:solidFill>
                <a:latin typeface="+mn-ea"/>
              </a:rPr>
              <a:t>ADC </a:t>
            </a:r>
            <a:r>
              <a:rPr lang="ko-KR" altLang="en-US" sz="1800" dirty="0" err="1">
                <a:solidFill>
                  <a:schemeClr val="tx1"/>
                </a:solidFill>
                <a:latin typeface="+mn-ea"/>
              </a:rPr>
              <a:t>출력값과</a:t>
            </a:r>
            <a:r>
              <a:rPr lang="ko-KR" altLang="en-US" sz="18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800" dirty="0" err="1">
                <a:solidFill>
                  <a:schemeClr val="tx1"/>
                </a:solidFill>
                <a:latin typeface="+mn-ea"/>
              </a:rPr>
              <a:t>기준값</a:t>
            </a:r>
            <a:r>
              <a:rPr lang="ko-KR" altLang="en-US" sz="1800" dirty="0">
                <a:solidFill>
                  <a:schemeClr val="tx1"/>
                </a:solidFill>
                <a:latin typeface="+mn-ea"/>
              </a:rPr>
              <a:t> 비교</a:t>
            </a:r>
          </a:p>
          <a:p>
            <a:r>
              <a:rPr lang="ko-KR" altLang="en-US" sz="2000" dirty="0">
                <a:solidFill>
                  <a:schemeClr val="tx1"/>
                </a:solidFill>
                <a:latin typeface="+mn-ea"/>
              </a:rPr>
              <a:t>타이머</a:t>
            </a:r>
            <a:r>
              <a:rPr lang="en-US" altLang="ko-KR" sz="200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2000" dirty="0">
                <a:solidFill>
                  <a:schemeClr val="tx1"/>
                </a:solidFill>
                <a:latin typeface="+mn-ea"/>
              </a:rPr>
              <a:t>카운터 모듈</a:t>
            </a:r>
            <a:endParaRPr lang="en-US" altLang="ko-KR" sz="2000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ko-KR" altLang="en-US" sz="1800" dirty="0">
                <a:solidFill>
                  <a:schemeClr val="tx1"/>
                </a:solidFill>
                <a:latin typeface="+mn-ea"/>
              </a:rPr>
              <a:t>카운트 값과 </a:t>
            </a:r>
            <a:r>
              <a:rPr lang="ko-KR" altLang="en-US" sz="1800" dirty="0" err="1">
                <a:solidFill>
                  <a:schemeClr val="tx1"/>
                </a:solidFill>
                <a:latin typeface="+mn-ea"/>
              </a:rPr>
              <a:t>설정값</a:t>
            </a:r>
            <a:r>
              <a:rPr lang="ko-KR" altLang="en-US" sz="1800" dirty="0">
                <a:solidFill>
                  <a:schemeClr val="tx1"/>
                </a:solidFill>
                <a:latin typeface="+mn-ea"/>
              </a:rPr>
              <a:t> 비교</a:t>
            </a:r>
          </a:p>
          <a:p>
            <a:r>
              <a:rPr lang="ko-KR" altLang="en-US" sz="2000" dirty="0">
                <a:solidFill>
                  <a:schemeClr val="tx1"/>
                </a:solidFill>
                <a:latin typeface="+mn-ea"/>
              </a:rPr>
              <a:t>전력 관리</a:t>
            </a:r>
            <a:endParaRPr lang="en-US" altLang="ko-KR" sz="2000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ko-KR" altLang="en-US" sz="1800" dirty="0">
                <a:solidFill>
                  <a:schemeClr val="tx1"/>
                </a:solidFill>
                <a:latin typeface="+mn-ea"/>
              </a:rPr>
              <a:t>전압 레벨 모니터링 및 비교</a:t>
            </a:r>
          </a:p>
          <a:p>
            <a:endParaRPr lang="en-CA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9C2498-779E-4B8C-9C20-09B5B4CEB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4080" y="1605006"/>
            <a:ext cx="5010500" cy="3807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8290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719E7E8F-46DD-7CED-EBA2-2414ECB52067}"/>
              </a:ext>
            </a:extLst>
          </p:cNvPr>
          <p:cNvSpPr txBox="1">
            <a:spLocks/>
          </p:cNvSpPr>
          <p:nvPr/>
        </p:nvSpPr>
        <p:spPr>
          <a:xfrm>
            <a:off x="838200" y="1120588"/>
            <a:ext cx="10515600" cy="5056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+mn-ea"/>
              </a:rPr>
              <a:t>4-bit Comparator</a:t>
            </a:r>
            <a:endParaRPr lang="en-CA" sz="2000" dirty="0">
              <a:latin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9CE0A52-0F1E-F6F2-4817-2B28DEAB3C9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309001"/>
            <a:ext cx="10515600" cy="620713"/>
          </a:xfrm>
        </p:spPr>
        <p:txBody>
          <a:bodyPr>
            <a:normAutofit/>
          </a:bodyPr>
          <a:lstStyle/>
          <a:p>
            <a:r>
              <a:rPr lang="en-US" sz="3200" dirty="0"/>
              <a:t>LAB</a:t>
            </a:r>
            <a:r>
              <a:rPr lang="ko-KR" altLang="en-US" sz="3200" dirty="0"/>
              <a:t> </a:t>
            </a:r>
            <a:r>
              <a:rPr lang="en-US" altLang="ko-KR" sz="3200" dirty="0"/>
              <a:t>:</a:t>
            </a:r>
            <a:r>
              <a:rPr lang="ko-KR" altLang="en-US" sz="3200" dirty="0"/>
              <a:t> </a:t>
            </a:r>
            <a:r>
              <a:rPr lang="en-US" altLang="ko-KR" sz="3200" dirty="0"/>
              <a:t>Specification</a:t>
            </a:r>
            <a:endParaRPr lang="en-CA" sz="3200" dirty="0"/>
          </a:p>
        </p:txBody>
      </p:sp>
      <p:pic>
        <p:nvPicPr>
          <p:cNvPr id="6" name="Picture 1">
            <a:extLst>
              <a:ext uri="{FF2B5EF4-FFF2-40B4-BE49-F238E27FC236}">
                <a16:creationId xmlns:a16="http://schemas.microsoft.com/office/drawing/2014/main" id="{908DB90E-1E0A-43C6-A139-066C716492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7747" y="2347912"/>
            <a:ext cx="4381500" cy="2162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8A50167-0218-4523-88DE-AE01ED506338}"/>
              </a:ext>
            </a:extLst>
          </p:cNvPr>
          <p:cNvSpPr txBox="1"/>
          <p:nvPr/>
        </p:nvSpPr>
        <p:spPr>
          <a:xfrm>
            <a:off x="5100506" y="3105833"/>
            <a:ext cx="1510019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4-bit </a:t>
            </a:r>
          </a:p>
          <a:p>
            <a:r>
              <a:rPr lang="en-US" dirty="0"/>
              <a:t>Comparator</a:t>
            </a:r>
          </a:p>
        </p:txBody>
      </p:sp>
    </p:spTree>
    <p:extLst>
      <p:ext uri="{BB962C8B-B14F-4D97-AF65-F5344CB8AC3E}">
        <p14:creationId xmlns:p14="http://schemas.microsoft.com/office/powerpoint/2010/main" val="34431372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3D2A5D-7D2F-4C4F-BAD8-7DE349F6A6F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974EA-E266-46E5-B93E-1A12E099C41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10000" y="4961780"/>
            <a:ext cx="7688263" cy="500352"/>
          </a:xfrm>
        </p:spPr>
        <p:txBody>
          <a:bodyPr/>
          <a:lstStyle/>
          <a:p>
            <a:r>
              <a:rPr lang="en-US" dirty="0"/>
              <a:t>4. 3-State Bus</a:t>
            </a:r>
          </a:p>
        </p:txBody>
      </p:sp>
    </p:spTree>
    <p:extLst>
      <p:ext uri="{BB962C8B-B14F-4D97-AF65-F5344CB8AC3E}">
        <p14:creationId xmlns:p14="http://schemas.microsoft.com/office/powerpoint/2010/main" val="10036869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407BFE-8A8F-F8E6-AC38-3162D9AE81F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620713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 </a:t>
            </a:r>
            <a:r>
              <a:rPr lang="en-US" altLang="ko-KR" sz="3600" dirty="0"/>
              <a:t>Tri State Bus</a:t>
            </a:r>
            <a:endParaRPr lang="en-CA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D24B02-8983-F316-FA65-5F33B543E86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52973" y="1078675"/>
            <a:ext cx="10515600" cy="5056188"/>
          </a:xfrm>
        </p:spPr>
        <p:txBody>
          <a:bodyPr/>
          <a:lstStyle/>
          <a:p>
            <a:r>
              <a:rPr lang="en-US" altLang="ko-KR" sz="2000" b="1" dirty="0"/>
              <a:t>3</a:t>
            </a:r>
            <a:r>
              <a:rPr lang="ko-KR" altLang="en-US" sz="2000" b="1" dirty="0"/>
              <a:t>상태 버스 드라이버</a:t>
            </a:r>
            <a:r>
              <a:rPr lang="en-US" altLang="ko-KR" sz="2000" b="1" dirty="0"/>
              <a:t>(Tri State Bus)</a:t>
            </a:r>
          </a:p>
          <a:p>
            <a:pPr lvl="1"/>
            <a:r>
              <a:rPr lang="ko-KR" altLang="en-US" sz="1800" dirty="0"/>
              <a:t>다수의 신호원들이 공동으로 사용하는 버스 </a:t>
            </a:r>
            <a:r>
              <a:rPr lang="en-US" altLang="ko-KR" sz="1800" dirty="0"/>
              <a:t>(bus)</a:t>
            </a:r>
            <a:r>
              <a:rPr lang="ko-KR" altLang="en-US" sz="1800" dirty="0"/>
              <a:t>에 데이터를 보내거나  또는 신호원과 버스를 격리시켜 </a:t>
            </a:r>
            <a:r>
              <a:rPr lang="en-US" altLang="ko-KR" sz="1800" dirty="0"/>
              <a:t>high-impedance </a:t>
            </a:r>
            <a:r>
              <a:rPr lang="ko-KR" altLang="en-US" sz="1800" dirty="0"/>
              <a:t>상태로 만드는 회로</a:t>
            </a:r>
          </a:p>
          <a:p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BA6E0C-1914-4634-9082-E54663B572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5807" y="2661054"/>
            <a:ext cx="5353577" cy="3226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2088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719E7E8F-46DD-7CED-EBA2-2414ECB52067}"/>
              </a:ext>
            </a:extLst>
          </p:cNvPr>
          <p:cNvSpPr txBox="1">
            <a:spLocks/>
          </p:cNvSpPr>
          <p:nvPr/>
        </p:nvSpPr>
        <p:spPr>
          <a:xfrm>
            <a:off x="838200" y="1120588"/>
            <a:ext cx="10515600" cy="5056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+mn-ea"/>
              </a:rPr>
              <a:t>Data Bus Driver</a:t>
            </a:r>
            <a:endParaRPr lang="en-CA" sz="2000" dirty="0">
              <a:latin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9CE0A52-0F1E-F6F2-4817-2B28DEAB3C9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309001"/>
            <a:ext cx="10515600" cy="620713"/>
          </a:xfrm>
        </p:spPr>
        <p:txBody>
          <a:bodyPr>
            <a:normAutofit/>
          </a:bodyPr>
          <a:lstStyle/>
          <a:p>
            <a:r>
              <a:rPr lang="en-US" sz="3200" dirty="0"/>
              <a:t>LAB1</a:t>
            </a:r>
            <a:r>
              <a:rPr lang="ko-KR" altLang="en-US" sz="3200" dirty="0"/>
              <a:t> </a:t>
            </a:r>
            <a:r>
              <a:rPr lang="en-US" altLang="ko-KR" sz="3200" dirty="0"/>
              <a:t>:</a:t>
            </a:r>
            <a:r>
              <a:rPr lang="ko-KR" altLang="en-US" sz="3200" dirty="0"/>
              <a:t> </a:t>
            </a:r>
            <a:r>
              <a:rPr lang="en-US" altLang="ko-KR" sz="3200" dirty="0"/>
              <a:t>Specification</a:t>
            </a:r>
            <a:endParaRPr lang="en-CA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BB2794-A8B8-4AC9-87E6-67CE37EC3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486" y="1871106"/>
            <a:ext cx="4178018" cy="253420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C362260-C94C-420B-8C07-E2E0A4E78F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486" y="4721225"/>
            <a:ext cx="9172575" cy="177165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056E48A6-EBB1-461C-A897-C8DD53C98A8A}"/>
              </a:ext>
            </a:extLst>
          </p:cNvPr>
          <p:cNvSpPr/>
          <p:nvPr/>
        </p:nvSpPr>
        <p:spPr>
          <a:xfrm>
            <a:off x="7675927" y="5125673"/>
            <a:ext cx="1384183" cy="131410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09523656-C24B-4DA8-A4F9-2621112BF813}"/>
              </a:ext>
            </a:extLst>
          </p:cNvPr>
          <p:cNvCxnSpPr/>
          <p:nvPr/>
        </p:nvCxnSpPr>
        <p:spPr>
          <a:xfrm flipV="1">
            <a:off x="8347046" y="4320330"/>
            <a:ext cx="0" cy="805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8AD5B66-EE37-4B66-AFB6-5C6D287272C7}"/>
              </a:ext>
            </a:extLst>
          </p:cNvPr>
          <p:cNvSpPr txBox="1"/>
          <p:nvPr/>
        </p:nvSpPr>
        <p:spPr>
          <a:xfrm>
            <a:off x="6809409" y="3778439"/>
            <a:ext cx="3137485" cy="523220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ko-KR" altLang="en-US" sz="1400" dirty="0"/>
              <a:t>다음 구간의 문제점은</a:t>
            </a:r>
            <a:r>
              <a:rPr lang="en-US" altLang="ko-KR" sz="1400" dirty="0"/>
              <a:t>? </a:t>
            </a:r>
            <a:r>
              <a:rPr lang="ko-KR" altLang="en-US" sz="1400" dirty="0"/>
              <a:t>어떻게 해결할 수 있을 것인가</a:t>
            </a:r>
            <a:r>
              <a:rPr lang="en-US" altLang="ko-KR" sz="1400" dirty="0"/>
              <a:t>?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5252280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719E7E8F-46DD-7CED-EBA2-2414ECB52067}"/>
              </a:ext>
            </a:extLst>
          </p:cNvPr>
          <p:cNvSpPr txBox="1">
            <a:spLocks/>
          </p:cNvSpPr>
          <p:nvPr/>
        </p:nvSpPr>
        <p:spPr>
          <a:xfrm>
            <a:off x="838200" y="1120588"/>
            <a:ext cx="10515600" cy="5056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+mn-ea"/>
              </a:rPr>
              <a:t>Multiplexed Bus Driver : Tri State Bus</a:t>
            </a:r>
            <a:r>
              <a:rPr lang="ko-KR" altLang="en-US" sz="2400" dirty="0">
                <a:latin typeface="+mn-ea"/>
              </a:rPr>
              <a:t>의 충돌방지를 구현</a:t>
            </a:r>
            <a:r>
              <a:rPr lang="en-US" sz="2400" dirty="0">
                <a:latin typeface="+mn-ea"/>
              </a:rPr>
              <a:t> </a:t>
            </a:r>
            <a:endParaRPr lang="en-CA" sz="2000" dirty="0">
              <a:latin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9CE0A52-0F1E-F6F2-4817-2B28DEAB3C9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309001"/>
            <a:ext cx="10515600" cy="620713"/>
          </a:xfrm>
        </p:spPr>
        <p:txBody>
          <a:bodyPr>
            <a:normAutofit/>
          </a:bodyPr>
          <a:lstStyle/>
          <a:p>
            <a:r>
              <a:rPr lang="en-US" sz="3200" dirty="0"/>
              <a:t>LAB2</a:t>
            </a:r>
            <a:r>
              <a:rPr lang="ko-KR" altLang="en-US" sz="3200" dirty="0"/>
              <a:t> </a:t>
            </a:r>
            <a:r>
              <a:rPr lang="en-US" altLang="ko-KR" sz="3200" dirty="0"/>
              <a:t>:</a:t>
            </a:r>
            <a:r>
              <a:rPr lang="ko-KR" altLang="en-US" sz="3200" dirty="0"/>
              <a:t> </a:t>
            </a:r>
            <a:r>
              <a:rPr lang="en-US" altLang="ko-KR" sz="3200" dirty="0"/>
              <a:t>Specification</a:t>
            </a:r>
            <a:endParaRPr lang="en-CA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1FDDD-BECE-4E66-8642-4FFBAFA73B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8702" y="2260263"/>
            <a:ext cx="5620623" cy="3153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0834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719E7E8F-46DD-7CED-EBA2-2414ECB52067}"/>
              </a:ext>
            </a:extLst>
          </p:cNvPr>
          <p:cNvSpPr txBox="1">
            <a:spLocks/>
          </p:cNvSpPr>
          <p:nvPr/>
        </p:nvSpPr>
        <p:spPr>
          <a:xfrm>
            <a:off x="838200" y="1120588"/>
            <a:ext cx="10515600" cy="5056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+mn-ea"/>
              </a:rPr>
              <a:t>Bidirectional Bus Driver</a:t>
            </a:r>
          </a:p>
          <a:p>
            <a:pPr lvl="1"/>
            <a:r>
              <a:rPr lang="ko-KR" altLang="en-US" sz="1600" dirty="0">
                <a:latin typeface="+mn-ea"/>
              </a:rPr>
              <a:t>보내기와 받기를 동시에 처리</a:t>
            </a:r>
            <a:endParaRPr lang="en-US" altLang="ko-KR" sz="1600" dirty="0">
              <a:latin typeface="+mn-ea"/>
            </a:endParaRPr>
          </a:p>
          <a:p>
            <a:pPr lvl="1"/>
            <a:r>
              <a:rPr lang="en-US" sz="1600" dirty="0" err="1">
                <a:latin typeface="+mn-ea"/>
              </a:rPr>
              <a:t>bus_data</a:t>
            </a:r>
            <a:r>
              <a:rPr lang="en-US" sz="1600" dirty="0">
                <a:latin typeface="+mn-ea"/>
              </a:rPr>
              <a:t> Port</a:t>
            </a:r>
            <a:r>
              <a:rPr lang="ko-KR" altLang="en-US" sz="1600" dirty="0">
                <a:latin typeface="+mn-ea"/>
              </a:rPr>
              <a:t>는 </a:t>
            </a:r>
            <a:r>
              <a:rPr lang="en-US" altLang="ko-KR" sz="1600" dirty="0" err="1">
                <a:latin typeface="+mn-ea"/>
              </a:rPr>
              <a:t>inout</a:t>
            </a:r>
            <a:r>
              <a:rPr lang="ko-KR" altLang="en-US" sz="1600" dirty="0">
                <a:latin typeface="+mn-ea"/>
              </a:rPr>
              <a:t>으로 선언</a:t>
            </a:r>
            <a:endParaRPr lang="en-CA" sz="1600" dirty="0">
              <a:latin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9CE0A52-0F1E-F6F2-4817-2B28DEAB3C9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309001"/>
            <a:ext cx="10515600" cy="620713"/>
          </a:xfrm>
        </p:spPr>
        <p:txBody>
          <a:bodyPr>
            <a:normAutofit/>
          </a:bodyPr>
          <a:lstStyle/>
          <a:p>
            <a:r>
              <a:rPr lang="en-US" sz="3200" dirty="0"/>
              <a:t>LAB3</a:t>
            </a:r>
            <a:r>
              <a:rPr lang="ko-KR" altLang="en-US" sz="3200" dirty="0"/>
              <a:t> </a:t>
            </a:r>
            <a:r>
              <a:rPr lang="en-US" altLang="ko-KR" sz="3200" dirty="0"/>
              <a:t>:</a:t>
            </a:r>
            <a:r>
              <a:rPr lang="ko-KR" altLang="en-US" sz="3200" dirty="0"/>
              <a:t> </a:t>
            </a:r>
            <a:r>
              <a:rPr lang="en-US" altLang="ko-KR" sz="3200" dirty="0"/>
              <a:t>Specification</a:t>
            </a:r>
            <a:endParaRPr lang="en-CA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621E47-87BD-4828-A6BE-B836F2F692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3761" y="2598384"/>
            <a:ext cx="6330849" cy="3312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27864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9777</TotalTime>
  <Words>569</Words>
  <Application>Microsoft Office PowerPoint</Application>
  <PresentationFormat>와이드스크린</PresentationFormat>
  <Paragraphs>143</Paragraphs>
  <Slides>21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8" baseType="lpstr">
      <vt:lpstr>fkGroteskNeue</vt:lpstr>
      <vt:lpstr>맑은 고딕</vt:lpstr>
      <vt:lpstr>var(--font-fk-grotesk)</vt:lpstr>
      <vt:lpstr>나눔스퀘어 네오 Regular</vt:lpstr>
      <vt:lpstr>Arial</vt:lpstr>
      <vt:lpstr>Calibri</vt:lpstr>
      <vt:lpstr>Office 테마</vt:lpstr>
      <vt:lpstr>SoC 102: Design </vt:lpstr>
      <vt:lpstr>PowerPoint 프레젠테이션</vt:lpstr>
      <vt:lpstr>SoC Basic Combinational Logic</vt:lpstr>
      <vt:lpstr>PowerPoint 프레젠테이션</vt:lpstr>
      <vt:lpstr>Multiplexer</vt:lpstr>
      <vt:lpstr>LAB : Specification</vt:lpstr>
      <vt:lpstr>PowerPoint 프레젠테이션</vt:lpstr>
      <vt:lpstr>Encoder</vt:lpstr>
      <vt:lpstr>LAB : Specification</vt:lpstr>
      <vt:lpstr>PowerPoint 프레젠테이션</vt:lpstr>
      <vt:lpstr>Decoder</vt:lpstr>
      <vt:lpstr>LAB : Specification</vt:lpstr>
      <vt:lpstr>PowerPoint 프레젠테이션</vt:lpstr>
      <vt:lpstr>Comparator</vt:lpstr>
      <vt:lpstr>Comparator</vt:lpstr>
      <vt:lpstr>LAB : Specification</vt:lpstr>
      <vt:lpstr>PowerPoint 프레젠테이션</vt:lpstr>
      <vt:lpstr> Tri State Bus</vt:lpstr>
      <vt:lpstr>LAB1 : Specification</vt:lpstr>
      <vt:lpstr>LAB2 : Specification</vt:lpstr>
      <vt:lpstr>LAB3 : Specification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 Control with FPGA</dc:title>
  <dc:creator>Seungan Woo</dc:creator>
  <cp:lastModifiedBy> 우승안</cp:lastModifiedBy>
  <cp:revision>547</cp:revision>
  <dcterms:created xsi:type="dcterms:W3CDTF">2024-09-20T05:42:48Z</dcterms:created>
  <dcterms:modified xsi:type="dcterms:W3CDTF">2026-07-05T10:53:05Z</dcterms:modified>
</cp:coreProperties>
</file>