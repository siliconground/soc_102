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70" r:id="rId2"/>
    <p:sldId id="257" r:id="rId3"/>
    <p:sldId id="258" r:id="rId4"/>
    <p:sldId id="259" r:id="rId5"/>
    <p:sldId id="261" r:id="rId6"/>
    <p:sldId id="269" r:id="rId7"/>
    <p:sldId id="262" r:id="rId8"/>
    <p:sldId id="263" r:id="rId9"/>
    <p:sldId id="265" r:id="rId10"/>
    <p:sldId id="266" r:id="rId11"/>
    <p:sldId id="267" r:id="rId12"/>
    <p:sldId id="268" r:id="rId13"/>
    <p:sldId id="264" r:id="rId14"/>
    <p:sldId id="14911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7ED1"/>
    <a:srgbClr val="147BD1"/>
    <a:srgbClr val="EBEBE9"/>
    <a:srgbClr val="1DCAD3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49" autoAdjust="0"/>
    <p:restoredTop sz="82762" autoAdjust="0"/>
  </p:normalViewPr>
  <p:slideViewPr>
    <p:cSldViewPr snapToGrid="0" showGuides="1">
      <p:cViewPr varScale="1">
        <p:scale>
          <a:sx n="109" d="100"/>
          <a:sy n="109" d="100"/>
        </p:scale>
        <p:origin x="114" y="552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2192000" cy="687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600">
                <a:solidFill>
                  <a:srgbClr val="434343"/>
                </a:solidFill>
              </a:defRPr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571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  <p:sldLayoutId id="2147483673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6.jpg"/><Relationship Id="rId4" Type="http://schemas.openxmlformats.org/officeDocument/2006/relationships/image" Target="../media/image45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fif"/><Relationship Id="rId2" Type="http://schemas.openxmlformats.org/officeDocument/2006/relationships/image" Target="../media/image53.jfif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7"/>
            <a:ext cx="9733566" cy="747774"/>
          </a:xfrm>
        </p:spPr>
        <p:txBody>
          <a:bodyPr/>
          <a:lstStyle/>
          <a:p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SoC</a:t>
            </a:r>
            <a:r>
              <a:rPr lang="en-US" altLang="ko-KR" sz="3600" b="1" dirty="0">
                <a:latin typeface="Arial" panose="020B0604020202020204" pitchFamily="34" charset="0"/>
                <a:cs typeface="Arial" panose="020B0604020202020204" pitchFamily="34" charset="0"/>
              </a:rPr>
              <a:t> 102: Design</a:t>
            </a:r>
            <a:endParaRPr lang="ko-KR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6156" y="3959455"/>
            <a:ext cx="7517406" cy="1157668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altLang="ko-KR" b="1" dirty="0"/>
              <a:t>Session1</a:t>
            </a:r>
            <a:r>
              <a:rPr lang="en-US" altLang="ko-KR" dirty="0"/>
              <a:t> : </a:t>
            </a:r>
            <a:r>
              <a:rPr lang="en-US" altLang="ko-KR" b="1" dirty="0"/>
              <a:t>S</a:t>
            </a:r>
            <a:r>
              <a:rPr lang="en-US" altLang="ko-KR" dirty="0"/>
              <a:t>ocio-economical </a:t>
            </a:r>
            <a:r>
              <a:rPr lang="en-US" altLang="ko-KR" b="1" dirty="0"/>
              <a:t>B</a:t>
            </a:r>
            <a:r>
              <a:rPr lang="en-US" altLang="ko-KR" dirty="0"/>
              <a:t>ackground of </a:t>
            </a:r>
          </a:p>
          <a:p>
            <a:pPr>
              <a:lnSpc>
                <a:spcPct val="170000"/>
              </a:lnSpc>
            </a:pPr>
            <a:r>
              <a:rPr lang="en-US" altLang="ko-KR" b="1" dirty="0"/>
              <a:t>S</a:t>
            </a:r>
            <a:r>
              <a:rPr lang="en-US" altLang="ko-KR" dirty="0"/>
              <a:t>emiconductor </a:t>
            </a:r>
            <a:r>
              <a:rPr lang="en-US" altLang="ko-KR" b="1" dirty="0"/>
              <a:t>D</a:t>
            </a:r>
            <a:r>
              <a:rPr lang="en-US" altLang="ko-KR" dirty="0"/>
              <a:t>esign </a:t>
            </a:r>
            <a:r>
              <a:rPr lang="en-US" altLang="ko-KR" b="1" dirty="0"/>
              <a:t>D</a:t>
            </a:r>
            <a:r>
              <a:rPr lang="en-US" altLang="ko-KR" dirty="0"/>
              <a:t>evelopment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29762" y="382709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CHIP WAR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672E82-B3FE-76EA-80B9-BDF165D6E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541" y="1569608"/>
            <a:ext cx="2464707" cy="3745755"/>
          </a:xfrm>
          <a:prstGeom prst="rect">
            <a:avLst/>
          </a:prstGeom>
        </p:spPr>
      </p:pic>
      <p:pic>
        <p:nvPicPr>
          <p:cNvPr id="5" name="그림 5">
            <a:extLst>
              <a:ext uri="{FF2B5EF4-FFF2-40B4-BE49-F238E27FC236}">
                <a16:creationId xmlns:a16="http://schemas.microsoft.com/office/drawing/2014/main" id="{CCD65AA7-0187-B027-7A5C-36FE8B146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467" y="1569608"/>
            <a:ext cx="6174941" cy="378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747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45123" y="409087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Economics of Scale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312C54-9A53-FC5B-3E4D-2A2291E65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1" y="1676837"/>
            <a:ext cx="4123833" cy="31447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67CB87-6347-9AC0-6DB1-00A9B1AB4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5995" y="1676837"/>
            <a:ext cx="4776804" cy="31447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50085" y="4895064"/>
            <a:ext cx="1210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Source : IBM</a:t>
            </a:r>
          </a:p>
        </p:txBody>
      </p:sp>
    </p:spTree>
    <p:extLst>
      <p:ext uri="{BB962C8B-B14F-4D97-AF65-F5344CB8AC3E}">
        <p14:creationId xmlns:p14="http://schemas.microsoft.com/office/powerpoint/2010/main" val="3812006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13105" y="444255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Moore’s Law</a:t>
            </a:r>
          </a:p>
        </p:txBody>
      </p:sp>
      <p:pic>
        <p:nvPicPr>
          <p:cNvPr id="8" name="그림 3">
            <a:extLst>
              <a:ext uri="{FF2B5EF4-FFF2-40B4-BE49-F238E27FC236}">
                <a16:creationId xmlns:a16="http://schemas.microsoft.com/office/drawing/2014/main" id="{08C35440-DB0D-0CCF-91F4-70C90BF2F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83" y="1611040"/>
            <a:ext cx="4917685" cy="3308897"/>
          </a:xfrm>
          <a:prstGeom prst="rect">
            <a:avLst/>
          </a:prstGeom>
        </p:spPr>
      </p:pic>
      <p:pic>
        <p:nvPicPr>
          <p:cNvPr id="9" name="그림 5">
            <a:extLst>
              <a:ext uri="{FF2B5EF4-FFF2-40B4-BE49-F238E27FC236}">
                <a16:creationId xmlns:a16="http://schemas.microsoft.com/office/drawing/2014/main" id="{A4DC1021-2A9B-4081-5A07-82026955B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937" y="1611040"/>
            <a:ext cx="5028867" cy="330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673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7242" y="497009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Drive momentum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F780FA-22DE-4787-D159-7E371EF6C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780" y="2768600"/>
            <a:ext cx="1802853" cy="18028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8B8D48-327C-125A-3547-B93EA685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210" y="2828810"/>
            <a:ext cx="1911581" cy="1911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4001E2-26B1-245C-E493-FB306B7C1F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6367" y="2828809"/>
            <a:ext cx="2032000" cy="2032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43900" y="2460509"/>
            <a:ext cx="2799200" cy="27686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92419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28158" y="417509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Early Designer : Handcrafting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557" y="1445867"/>
            <a:ext cx="7050231" cy="4203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F70732-DEC9-D4DA-4F5F-5D68DB2FA137}"/>
              </a:ext>
            </a:extLst>
          </p:cNvPr>
          <p:cNvSpPr txBox="1"/>
          <p:nvPr/>
        </p:nvSpPr>
        <p:spPr>
          <a:xfrm>
            <a:off x="9800265" y="6019252"/>
            <a:ext cx="19980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Source: General Motors</a:t>
            </a:r>
            <a:endParaRPr lang="ko-KR" altLang="en-US" sz="1200"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436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71500" y="322222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Early Designer : Schematic Capture</a:t>
            </a:r>
          </a:p>
        </p:txBody>
      </p:sp>
      <p:pic>
        <p:nvPicPr>
          <p:cNvPr id="8" name="Picture 3" descr="A close-up of a diagram&#10;&#10;Description automatically generated">
            <a:extLst>
              <a:ext uri="{FF2B5EF4-FFF2-40B4-BE49-F238E27FC236}">
                <a16:creationId xmlns:a16="http://schemas.microsoft.com/office/drawing/2014/main" id="{0386B14D-7475-7BEA-A473-2A591458E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937" y="1356967"/>
            <a:ext cx="7439540" cy="42641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F70732-DEC9-D4DA-4F5F-5D68DB2FA137}"/>
              </a:ext>
            </a:extLst>
          </p:cNvPr>
          <p:cNvSpPr txBox="1"/>
          <p:nvPr/>
        </p:nvSpPr>
        <p:spPr>
          <a:xfrm>
            <a:off x="7653964" y="5892251"/>
            <a:ext cx="4253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Source: Intel 4004(Memory Block, Hand Written Schematic, 1 of 3 pages, drawn by Federico</a:t>
            </a:r>
            <a:endParaRPr lang="ko-KR" altLang="en-US" sz="1200"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222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71500" y="426671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Early EDA System</a:t>
            </a:r>
          </a:p>
        </p:txBody>
      </p:sp>
      <p:pic>
        <p:nvPicPr>
          <p:cNvPr id="5" name="Picture 16" descr="A person and person working on a computer&#10;&#10;Description automatically generated">
            <a:extLst>
              <a:ext uri="{FF2B5EF4-FFF2-40B4-BE49-F238E27FC236}">
                <a16:creationId xmlns:a16="http://schemas.microsoft.com/office/drawing/2014/main" id="{F579F2C4-F05F-3520-972C-631C76DE0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91" y="1446994"/>
            <a:ext cx="3943157" cy="3943157"/>
          </a:xfrm>
          <a:prstGeom prst="rect">
            <a:avLst/>
          </a:prstGeom>
        </p:spPr>
      </p:pic>
      <p:pic>
        <p:nvPicPr>
          <p:cNvPr id="6" name="Picture 18" descr="A hand holding a device&#10;&#10;Description automatically generated">
            <a:extLst>
              <a:ext uri="{FF2B5EF4-FFF2-40B4-BE49-F238E27FC236}">
                <a16:creationId xmlns:a16="http://schemas.microsoft.com/office/drawing/2014/main" id="{9FE6FBA3-B3D9-50BE-6243-D57B2F3AB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929" y="1455174"/>
            <a:ext cx="4275665" cy="39349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B394D1-55D1-4666-00D3-15D5898ED692}"/>
              </a:ext>
            </a:extLst>
          </p:cNvPr>
          <p:cNvSpPr txBox="1"/>
          <p:nvPr/>
        </p:nvSpPr>
        <p:spPr>
          <a:xfrm>
            <a:off x="2243136" y="5480178"/>
            <a:ext cx="256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1966, IBM360/37 mainframe-powered CAD at Fairchild</a:t>
            </a:r>
            <a:endParaRPr lang="ko-KR" altLang="en-US" sz="1200"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2CF8B2-F43C-2F72-D5C2-742327EF9C60}"/>
              </a:ext>
            </a:extLst>
          </p:cNvPr>
          <p:cNvSpPr txBox="1"/>
          <p:nvPr/>
        </p:nvSpPr>
        <p:spPr>
          <a:xfrm>
            <a:off x="7741359" y="5480178"/>
            <a:ext cx="256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Mask layout drawing hand digitizing system at Intel</a:t>
            </a:r>
            <a:endParaRPr lang="ko-KR" altLang="en-US" sz="1200"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158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83577" y="295925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Software Revolution</a:t>
            </a:r>
          </a:p>
        </p:txBody>
      </p:sp>
      <p:pic>
        <p:nvPicPr>
          <p:cNvPr id="3" name="그림 3">
            <a:extLst>
              <a:ext uri="{FF2B5EF4-FFF2-40B4-BE49-F238E27FC236}">
                <a16:creationId xmlns:a16="http://schemas.microsoft.com/office/drawing/2014/main" id="{7F676E68-7497-69EE-F767-DD972DBB2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06" y="1356967"/>
            <a:ext cx="5907876" cy="3653237"/>
          </a:xfrm>
          <a:prstGeom prst="rect">
            <a:avLst/>
          </a:prstGeom>
        </p:spPr>
      </p:pic>
      <p:pic>
        <p:nvPicPr>
          <p:cNvPr id="4" name="그림 5">
            <a:extLst>
              <a:ext uri="{FF2B5EF4-FFF2-40B4-BE49-F238E27FC236}">
                <a16:creationId xmlns:a16="http://schemas.microsoft.com/office/drawing/2014/main" id="{6EB539D4-89B7-F7EB-D7EA-5AA3514F6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052" y="1356967"/>
            <a:ext cx="2493049" cy="2534600"/>
          </a:xfrm>
          <a:prstGeom prst="rect">
            <a:avLst/>
          </a:prstGeom>
        </p:spPr>
      </p:pic>
      <p:pic>
        <p:nvPicPr>
          <p:cNvPr id="5" name="그림 7">
            <a:extLst>
              <a:ext uri="{FF2B5EF4-FFF2-40B4-BE49-F238E27FC236}">
                <a16:creationId xmlns:a16="http://schemas.microsoft.com/office/drawing/2014/main" id="{EBFEB934-66D2-C042-B105-FD7B321E6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052" y="4076315"/>
            <a:ext cx="3343949" cy="23563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7E3C88-5114-DCBA-3670-6623D034FF29}"/>
              </a:ext>
            </a:extLst>
          </p:cNvPr>
          <p:cNvSpPr txBox="1"/>
          <p:nvPr/>
        </p:nvSpPr>
        <p:spPr>
          <a:xfrm>
            <a:off x="9817100" y="3358087"/>
            <a:ext cx="2565400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33" dirty="0"/>
              <a:t>TCPL: The C Programming Language</a:t>
            </a:r>
            <a:endParaRPr lang="ko-KR" altLang="en-US" sz="1333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136823-06F5-6F5C-F637-C3A8E436760D}"/>
              </a:ext>
            </a:extLst>
          </p:cNvPr>
          <p:cNvSpPr txBox="1"/>
          <p:nvPr/>
        </p:nvSpPr>
        <p:spPr>
          <a:xfrm>
            <a:off x="9817100" y="6432674"/>
            <a:ext cx="25654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33" dirty="0"/>
              <a:t>UNIX running on PDP-11</a:t>
            </a:r>
            <a:endParaRPr lang="ko-KR" altLang="en-US" sz="1333" dirty="0"/>
          </a:p>
        </p:txBody>
      </p:sp>
    </p:spTree>
    <p:extLst>
      <p:ext uri="{BB962C8B-B14F-4D97-AF65-F5344CB8AC3E}">
        <p14:creationId xmlns:p14="http://schemas.microsoft.com/office/powerpoint/2010/main" val="2864083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27539" y="319713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Contribution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F87F60-CA8E-E86F-4831-C991323E7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1" y="1257300"/>
            <a:ext cx="9073865" cy="4899193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5803901" y="3175001"/>
            <a:ext cx="876300" cy="765601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179650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65993" y="505802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Early ECAD System</a:t>
            </a:r>
          </a:p>
        </p:txBody>
      </p:sp>
      <p:pic>
        <p:nvPicPr>
          <p:cNvPr id="3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9CA54DA-12ED-3D0C-8C7C-7482FB1B9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65" y="2266534"/>
            <a:ext cx="5619635" cy="3073237"/>
          </a:xfrm>
          <a:prstGeom prst="rect">
            <a:avLst/>
          </a:prstGeom>
        </p:spPr>
      </p:pic>
      <p:pic>
        <p:nvPicPr>
          <p:cNvPr id="4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486A991F-34FD-D851-205F-400216EE7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870" y="2266534"/>
            <a:ext cx="5619631" cy="307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784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78069" y="453048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Hardware Descriptive Language</a:t>
            </a:r>
          </a:p>
        </p:txBody>
      </p:sp>
      <p:pic>
        <p:nvPicPr>
          <p:cNvPr id="3" name="Picture 9" descr="A black and red book cover&#10;&#10;Description automatically generated">
            <a:extLst>
              <a:ext uri="{FF2B5EF4-FFF2-40B4-BE49-F238E27FC236}">
                <a16:creationId xmlns:a16="http://schemas.microsoft.com/office/drawing/2014/main" id="{7B814A94-4EF6-F97C-DD2D-840D47730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137" y="1445262"/>
            <a:ext cx="3832945" cy="5032925"/>
          </a:xfrm>
          <a:prstGeom prst="rect">
            <a:avLst/>
          </a:prstGeom>
        </p:spPr>
      </p:pic>
      <p:pic>
        <p:nvPicPr>
          <p:cNvPr id="4" name="Picture 13" descr="A white cover with black text&#10;&#10;Description automatically generated">
            <a:extLst>
              <a:ext uri="{FF2B5EF4-FFF2-40B4-BE49-F238E27FC236}">
                <a16:creationId xmlns:a16="http://schemas.microsoft.com/office/drawing/2014/main" id="{6DDDAF4E-392F-703B-2567-944320FF8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678" y="1356967"/>
            <a:ext cx="3942796" cy="524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348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30823" y="406400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Semiconductor Fabrication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5C802F-F244-DF2D-CA16-E1036EA04E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8" r="2408"/>
          <a:stretch>
            <a:fillRect/>
          </a:stretch>
        </p:blipFill>
        <p:spPr>
          <a:xfrm>
            <a:off x="227544" y="2559369"/>
            <a:ext cx="11519957" cy="28770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74442C-1E84-5CA7-49B2-01E1A63B3824}"/>
              </a:ext>
            </a:extLst>
          </p:cNvPr>
          <p:cNvSpPr txBox="1"/>
          <p:nvPr/>
        </p:nvSpPr>
        <p:spPr>
          <a:xfrm>
            <a:off x="6096001" y="1356967"/>
            <a:ext cx="38851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733" b="1" dirty="0">
                <a:solidFill>
                  <a:schemeClr val="tx2">
                    <a:lumMod val="75000"/>
                  </a:schemeClr>
                </a:solidFill>
              </a:rPr>
              <a:t>Full-custom IC </a:t>
            </a:r>
          </a:p>
          <a:p>
            <a:r>
              <a:rPr lang="en-US" sz="2667" b="1" dirty="0">
                <a:solidFill>
                  <a:schemeClr val="tx2">
                    <a:lumMod val="75000"/>
                  </a:schemeClr>
                </a:solidFill>
              </a:rPr>
              <a:t>Analog 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8A5C5E-9288-8983-B2DE-F03568C8BFEA}"/>
              </a:ext>
            </a:extLst>
          </p:cNvPr>
          <p:cNvSpPr txBox="1"/>
          <p:nvPr/>
        </p:nvSpPr>
        <p:spPr>
          <a:xfrm>
            <a:off x="706692" y="4976779"/>
            <a:ext cx="38851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733" b="1" dirty="0">
                <a:solidFill>
                  <a:schemeClr val="tx2">
                    <a:lumMod val="75000"/>
                  </a:schemeClr>
                </a:solidFill>
              </a:rPr>
              <a:t>Semi-custom IC </a:t>
            </a:r>
          </a:p>
          <a:p>
            <a:r>
              <a:rPr lang="en-US" sz="2667" b="1" dirty="0">
                <a:solidFill>
                  <a:schemeClr val="tx2">
                    <a:lumMod val="75000"/>
                  </a:schemeClr>
                </a:solidFill>
              </a:rPr>
              <a:t>Digital 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1532" y="4852875"/>
            <a:ext cx="4195509" cy="15987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266715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09954" y="438434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Diverse Viewpoint to view semiconductor</a:t>
            </a: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D84FF414-F07A-C318-1E76-701B55A68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568" y="2118960"/>
            <a:ext cx="4759096" cy="3570339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2E4D16-1F31-0A42-A542-F24FA26047FB}"/>
              </a:ext>
            </a:extLst>
          </p:cNvPr>
          <p:cNvCxnSpPr/>
          <p:nvPr/>
        </p:nvCxnSpPr>
        <p:spPr>
          <a:xfrm flipV="1">
            <a:off x="1130300" y="1877361"/>
            <a:ext cx="1496" cy="405354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FC0A584-FF10-D9BB-08AD-F2EC16DB53AA}"/>
              </a:ext>
            </a:extLst>
          </p:cNvPr>
          <p:cNvSpPr txBox="1"/>
          <p:nvPr/>
        </p:nvSpPr>
        <p:spPr>
          <a:xfrm>
            <a:off x="585724" y="3555317"/>
            <a:ext cx="1840752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67" i="1" dirty="0"/>
              <a:t>Abstraction Level</a:t>
            </a:r>
            <a:endParaRPr lang="ko-KR" altLang="en-US" sz="1867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97E67F-3951-4002-B92F-D717EFD687CA}"/>
              </a:ext>
            </a:extLst>
          </p:cNvPr>
          <p:cNvSpPr txBox="1"/>
          <p:nvPr/>
        </p:nvSpPr>
        <p:spPr>
          <a:xfrm>
            <a:off x="834691" y="1596643"/>
            <a:ext cx="968516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67" i="1" dirty="0"/>
              <a:t>High</a:t>
            </a:r>
            <a:endParaRPr lang="ko-KR" altLang="en-US" sz="1867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292E5F-B4FF-C55F-54B4-688B98AA9696}"/>
              </a:ext>
            </a:extLst>
          </p:cNvPr>
          <p:cNvSpPr txBox="1"/>
          <p:nvPr/>
        </p:nvSpPr>
        <p:spPr>
          <a:xfrm>
            <a:off x="834690" y="5930900"/>
            <a:ext cx="968516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67" i="1" dirty="0"/>
              <a:t>Low</a:t>
            </a:r>
            <a:endParaRPr lang="ko-KR" altLang="en-US" sz="1867" i="1" dirty="0"/>
          </a:p>
        </p:txBody>
      </p:sp>
      <p:sp>
        <p:nvSpPr>
          <p:cNvPr id="17" name="Rounded Rectangle 16"/>
          <p:cNvSpPr/>
          <p:nvPr/>
        </p:nvSpPr>
        <p:spPr>
          <a:xfrm>
            <a:off x="4907633" y="2844855"/>
            <a:ext cx="1861468" cy="1142947"/>
          </a:xfrm>
          <a:prstGeom prst="round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TextBox 4"/>
          <p:cNvSpPr txBox="1"/>
          <p:nvPr/>
        </p:nvSpPr>
        <p:spPr>
          <a:xfrm>
            <a:off x="7010401" y="2418141"/>
            <a:ext cx="4813300" cy="3264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Device Level : </a:t>
            </a:r>
            <a:r>
              <a:rPr lang="ko-KR" altLang="en-US" sz="2000" dirty="0"/>
              <a:t>소자의 연구</a:t>
            </a:r>
            <a:endParaRPr lang="en-US" altLang="ko-KR" sz="2000" dirty="0"/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Circuit Level : TR </a:t>
            </a:r>
            <a:r>
              <a:rPr lang="ko-KR" altLang="en-US" sz="2000" dirty="0"/>
              <a:t>기반의 회로설계</a:t>
            </a:r>
            <a:endParaRPr lang="en-US" altLang="ko-KR" sz="2000" dirty="0"/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Gate Level : Logic Gate </a:t>
            </a:r>
            <a:r>
              <a:rPr lang="en-US" sz="2000" dirty="0" err="1"/>
              <a:t>Netlist</a:t>
            </a:r>
            <a:endParaRPr lang="en-US" sz="2000" dirty="0"/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RTL Level : </a:t>
            </a:r>
            <a:r>
              <a:rPr lang="ko-KR" altLang="en-US" sz="2000" dirty="0"/>
              <a:t>레지스터간 데이터 흐름</a:t>
            </a:r>
            <a:r>
              <a:rPr lang="en-US" altLang="ko-KR" sz="2000" dirty="0"/>
              <a:t>/</a:t>
            </a:r>
            <a:r>
              <a:rPr lang="ko-KR" altLang="en-US" sz="2000" dirty="0"/>
              <a:t>논리연산모델링기반 설계</a:t>
            </a:r>
            <a:endParaRPr lang="en-US" altLang="ko-KR" sz="2000" dirty="0"/>
          </a:p>
          <a:p>
            <a:pPr marL="380990" indent="-38099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System Level : </a:t>
            </a:r>
            <a:r>
              <a:rPr lang="ko-KR" altLang="en-US" sz="2000" dirty="0"/>
              <a:t>시스템 모듈 및 인터페이스를 통한 전체 시스템 설계</a:t>
            </a:r>
            <a:endParaRPr lang="en-US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ABA819-0F3C-4732-AC5D-EC9D2C54E3EB}"/>
              </a:ext>
            </a:extLst>
          </p:cNvPr>
          <p:cNvSpPr/>
          <p:nvPr/>
        </p:nvSpPr>
        <p:spPr>
          <a:xfrm>
            <a:off x="6928338" y="3888805"/>
            <a:ext cx="4813300" cy="867833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83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95086" y="373917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Full Custom Design(1)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D9BD1-8D8E-F9DC-D707-4F5D96AEE729}"/>
              </a:ext>
            </a:extLst>
          </p:cNvPr>
          <p:cNvSpPr txBox="1">
            <a:spLocks/>
          </p:cNvSpPr>
          <p:nvPr/>
        </p:nvSpPr>
        <p:spPr>
          <a:xfrm>
            <a:off x="595086" y="1463041"/>
            <a:ext cx="6682015" cy="1115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en-US" altLang="ko-KR" sz="1600" dirty="0"/>
              <a:t>Full Custom IC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sz="1867" dirty="0"/>
              <a:t>Circuit Level</a:t>
            </a:r>
            <a:r>
              <a:rPr lang="ko-KR" altLang="en-US" sz="1867" dirty="0"/>
              <a:t> </a:t>
            </a:r>
            <a:r>
              <a:rPr lang="en-US" altLang="ko-KR" sz="1867" dirty="0"/>
              <a:t>Design(Handcraft)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sz="1867" dirty="0"/>
              <a:t>Transistor / Resistor / Capacitor </a:t>
            </a:r>
            <a:r>
              <a:rPr lang="ko-KR" altLang="en-US" sz="1867" dirty="0"/>
              <a:t>기반</a:t>
            </a:r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89036E3-AA34-E1D4-61C2-42C859A0C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00" y="2684175"/>
            <a:ext cx="4417181" cy="26876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CDD077-AE87-2CFF-97FC-E3F8B69ABA3D}"/>
              </a:ext>
            </a:extLst>
          </p:cNvPr>
          <p:cNvSpPr txBox="1"/>
          <p:nvPr/>
        </p:nvSpPr>
        <p:spPr>
          <a:xfrm>
            <a:off x="2295647" y="5477871"/>
            <a:ext cx="2462715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133" dirty="0"/>
              <a:t>Logic</a:t>
            </a:r>
            <a:r>
              <a:rPr lang="ko-KR" altLang="en-US" sz="2133" dirty="0"/>
              <a:t> </a:t>
            </a:r>
            <a:r>
              <a:rPr lang="en-US" altLang="ko-KR" sz="2133" dirty="0"/>
              <a:t>Design</a:t>
            </a:r>
            <a:endParaRPr lang="ko-KR" altLang="en-US" sz="2133" dirty="0"/>
          </a:p>
        </p:txBody>
      </p:sp>
      <p:pic>
        <p:nvPicPr>
          <p:cNvPr id="6" name="Picture 5" descr="A computer screen shot of a computer program&#10;&#10;Description automatically generated">
            <a:extLst>
              <a:ext uri="{FF2B5EF4-FFF2-40B4-BE49-F238E27FC236}">
                <a16:creationId xmlns:a16="http://schemas.microsoft.com/office/drawing/2014/main" id="{63ED5E18-DF8A-A27B-A5C3-39C67A575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557" y="1903156"/>
            <a:ext cx="3892585" cy="3468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EC78A3-7354-A526-2E70-DBC3D1A5BAE8}"/>
              </a:ext>
            </a:extLst>
          </p:cNvPr>
          <p:cNvSpPr txBox="1"/>
          <p:nvPr/>
        </p:nvSpPr>
        <p:spPr>
          <a:xfrm>
            <a:off x="6654800" y="5466581"/>
            <a:ext cx="43942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133" dirty="0"/>
              <a:t>Physical Implementation: Layout</a:t>
            </a:r>
            <a:endParaRPr lang="ko-KR" altLang="en-US" sz="2133" dirty="0"/>
          </a:p>
        </p:txBody>
      </p:sp>
      <p:sp>
        <p:nvSpPr>
          <p:cNvPr id="8" name="Right Arrow 7"/>
          <p:cNvSpPr/>
          <p:nvPr/>
        </p:nvSpPr>
        <p:spPr>
          <a:xfrm>
            <a:off x="5764853" y="3772943"/>
            <a:ext cx="746015" cy="680524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4718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18746" y="494397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Full Custom Design(2)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674F30-A357-D9FE-AF6A-16EE0BDAA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77" y="1468360"/>
            <a:ext cx="3190288" cy="45134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6E5331-4C58-6926-18A2-4762FF66F3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559" y="1455549"/>
            <a:ext cx="7014920" cy="453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858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62707" y="464079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Semi Custom Design(1)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F7082C24-B52D-9292-8D47-8DD9104BCC39}"/>
              </a:ext>
            </a:extLst>
          </p:cNvPr>
          <p:cNvSpPr txBox="1">
            <a:spLocks/>
          </p:cNvSpPr>
          <p:nvPr/>
        </p:nvSpPr>
        <p:spPr>
          <a:xfrm>
            <a:off x="688219" y="1463042"/>
            <a:ext cx="5323115" cy="113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en-US" altLang="ko-KR" sz="1600" dirty="0"/>
              <a:t>Semi Custom IC(Cell Based Design)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sz="1867" dirty="0"/>
              <a:t>RTL Level</a:t>
            </a:r>
            <a:r>
              <a:rPr lang="ko-KR" altLang="en-US" sz="1867" dirty="0"/>
              <a:t>에서 설계 진행</a:t>
            </a:r>
            <a:endParaRPr lang="en-US" altLang="ko-KR" sz="1867" dirty="0"/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sz="1867" dirty="0"/>
              <a:t>Standard Cell </a:t>
            </a:r>
            <a:r>
              <a:rPr lang="ko-KR" altLang="en-US" sz="1867" dirty="0"/>
              <a:t>기반</a:t>
            </a:r>
            <a:endParaRPr lang="en-US" altLang="ko-KR" sz="1867" dirty="0"/>
          </a:p>
          <a:p>
            <a:pPr marL="795847" lvl="1" indent="0">
              <a:buNone/>
            </a:pPr>
            <a:endParaRPr lang="en-US" altLang="ko-KR" sz="1867" dirty="0"/>
          </a:p>
        </p:txBody>
      </p:sp>
      <p:pic>
        <p:nvPicPr>
          <p:cNvPr id="4" name="Picture 3" descr="A close-up of a chip&#10;&#10;Description automatically generated">
            <a:extLst>
              <a:ext uri="{FF2B5EF4-FFF2-40B4-BE49-F238E27FC236}">
                <a16:creationId xmlns:a16="http://schemas.microsoft.com/office/drawing/2014/main" id="{56FCC463-636C-B1EB-7C61-5367594A6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355" y="1536861"/>
            <a:ext cx="4823956" cy="40934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D7591A-9966-2F7A-BB61-938C0CFFEFBF}"/>
              </a:ext>
            </a:extLst>
          </p:cNvPr>
          <p:cNvSpPr txBox="1"/>
          <p:nvPr/>
        </p:nvSpPr>
        <p:spPr>
          <a:xfrm>
            <a:off x="9219906" y="5661821"/>
            <a:ext cx="183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Source: IBM</a:t>
            </a:r>
            <a:endParaRPr lang="ko-KR" altLang="en-US" sz="1200"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740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15462" y="543737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Semi Custom Design(2)</a:t>
            </a:r>
          </a:p>
        </p:txBody>
      </p:sp>
      <p:pic>
        <p:nvPicPr>
          <p:cNvPr id="12" name="Picture 11" descr="A diagram of a circuit&#10;&#10;Description automatically generated">
            <a:extLst>
              <a:ext uri="{FF2B5EF4-FFF2-40B4-BE49-F238E27FC236}">
                <a16:creationId xmlns:a16="http://schemas.microsoft.com/office/drawing/2014/main" id="{AC293521-2895-C5F1-8F1F-AFF4621C2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649" y="2027045"/>
            <a:ext cx="1456024" cy="991387"/>
          </a:xfrm>
          <a:prstGeom prst="rect">
            <a:avLst/>
          </a:prstGeom>
        </p:spPr>
      </p:pic>
      <p:pic>
        <p:nvPicPr>
          <p:cNvPr id="13" name="Picture 12" descr="A group of colored symbols&#10;&#10;Description automatically generated with medium confidence">
            <a:extLst>
              <a:ext uri="{FF2B5EF4-FFF2-40B4-BE49-F238E27FC236}">
                <a16:creationId xmlns:a16="http://schemas.microsoft.com/office/drawing/2014/main" id="{CAFA3FC8-8C74-79EB-37ED-B90334B7E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649" y="3789018"/>
            <a:ext cx="1456024" cy="11920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B65D3BC-BB7D-AB81-38FC-9B2E586BAF19}"/>
              </a:ext>
            </a:extLst>
          </p:cNvPr>
          <p:cNvSpPr txBox="1"/>
          <p:nvPr/>
        </p:nvSpPr>
        <p:spPr>
          <a:xfrm>
            <a:off x="1989533" y="5361836"/>
            <a:ext cx="1857319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133" dirty="0"/>
              <a:t>Standard Cell Library</a:t>
            </a:r>
            <a:endParaRPr lang="ko-KR" altLang="en-US" sz="2133" dirty="0"/>
          </a:p>
        </p:txBody>
      </p:sp>
      <p:pic>
        <p:nvPicPr>
          <p:cNvPr id="16" name="Picture 15" descr="A diagram of a clock and data&#10;&#10;Description automatically generated">
            <a:extLst>
              <a:ext uri="{FF2B5EF4-FFF2-40B4-BE49-F238E27FC236}">
                <a16:creationId xmlns:a16="http://schemas.microsoft.com/office/drawing/2014/main" id="{FFE4F9F7-6C12-CDC5-9F23-314150449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107" y="2074412"/>
            <a:ext cx="2805960" cy="290884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D6C20D0-94BA-3292-8010-937D195D2284}"/>
              </a:ext>
            </a:extLst>
          </p:cNvPr>
          <p:cNvSpPr txBox="1"/>
          <p:nvPr/>
        </p:nvSpPr>
        <p:spPr>
          <a:xfrm>
            <a:off x="4709992" y="5407913"/>
            <a:ext cx="2359675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133" dirty="0"/>
              <a:t>Logic HW Design</a:t>
            </a:r>
            <a:endParaRPr lang="ko-KR" altLang="en-US" sz="2133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D3CEA8-91D5-7FA2-256F-C903630E1728}"/>
              </a:ext>
            </a:extLst>
          </p:cNvPr>
          <p:cNvSpPr txBox="1"/>
          <p:nvPr/>
        </p:nvSpPr>
        <p:spPr>
          <a:xfrm>
            <a:off x="8670454" y="5236584"/>
            <a:ext cx="2997916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133" dirty="0"/>
              <a:t>Implementation: Auto Place &amp; Route(APR)</a:t>
            </a:r>
            <a:endParaRPr lang="ko-KR" altLang="en-US" sz="2133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91F40CB-6E0E-0449-9BFA-BC1BFF765D2B}"/>
              </a:ext>
            </a:extLst>
          </p:cNvPr>
          <p:cNvSpPr/>
          <p:nvPr/>
        </p:nvSpPr>
        <p:spPr>
          <a:xfrm>
            <a:off x="10169413" y="4479255"/>
            <a:ext cx="242353" cy="276588"/>
          </a:xfrm>
          <a:prstGeom prst="rightArrow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21" name="Picture 20" descr="A close-up of a computer chip&#10;&#10;Description automatically generated">
            <a:extLst>
              <a:ext uri="{FF2B5EF4-FFF2-40B4-BE49-F238E27FC236}">
                <a16:creationId xmlns:a16="http://schemas.microsoft.com/office/drawing/2014/main" id="{F4FA497E-5A65-BC09-AD16-FFCCE0772F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767" y="2044506"/>
            <a:ext cx="3177767" cy="2894391"/>
          </a:xfrm>
          <a:prstGeom prst="rect">
            <a:avLst/>
          </a:prstGeom>
        </p:spPr>
      </p:pic>
      <p:sp>
        <p:nvSpPr>
          <p:cNvPr id="23" name="Right Arrow 22"/>
          <p:cNvSpPr/>
          <p:nvPr/>
        </p:nvSpPr>
        <p:spPr>
          <a:xfrm>
            <a:off x="3694954" y="3373907"/>
            <a:ext cx="597583" cy="258543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5" name="Right Arrow 24"/>
          <p:cNvSpPr/>
          <p:nvPr/>
        </p:nvSpPr>
        <p:spPr>
          <a:xfrm>
            <a:off x="7525562" y="3403725"/>
            <a:ext cx="597583" cy="258543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6" name="Right Arrow 25"/>
          <p:cNvSpPr/>
          <p:nvPr/>
        </p:nvSpPr>
        <p:spPr>
          <a:xfrm rot="5400000">
            <a:off x="2595511" y="3274454"/>
            <a:ext cx="385021" cy="258543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43509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62708" y="361619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Semi Custom Design(3)</a:t>
            </a:r>
          </a:p>
        </p:txBody>
      </p:sp>
      <p:pic>
        <p:nvPicPr>
          <p:cNvPr id="3" name="Picture 2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5907EAC8-A51D-DAF5-A8A1-13110BFA9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33" y="1898427"/>
            <a:ext cx="3688200" cy="2350643"/>
          </a:xfrm>
          <a:prstGeom prst="rect">
            <a:avLst/>
          </a:prstGeom>
        </p:spPr>
      </p:pic>
      <p:pic>
        <p:nvPicPr>
          <p:cNvPr id="4" name="Picture 3" descr="A diagram of a circuit&#10;&#10;Description automatically generated">
            <a:extLst>
              <a:ext uri="{FF2B5EF4-FFF2-40B4-BE49-F238E27FC236}">
                <a16:creationId xmlns:a16="http://schemas.microsoft.com/office/drawing/2014/main" id="{FC511CF1-F3B2-00B3-D110-C1811D021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517" y="1898427"/>
            <a:ext cx="2264833" cy="2383204"/>
          </a:xfrm>
          <a:prstGeom prst="rect">
            <a:avLst/>
          </a:prstGeom>
        </p:spPr>
      </p:pic>
      <p:pic>
        <p:nvPicPr>
          <p:cNvPr id="5" name="Picture 4" descr="A computer screen shot of a computer screen&#10;&#10;Description automatically generated">
            <a:extLst>
              <a:ext uri="{FF2B5EF4-FFF2-40B4-BE49-F238E27FC236}">
                <a16:creationId xmlns:a16="http://schemas.microsoft.com/office/drawing/2014/main" id="{EFF95C75-AEF6-5A84-8E34-E8494334C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3533" y="1898428"/>
            <a:ext cx="3044001" cy="24213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65D3BC-BB7D-AB81-38FC-9B2E586BAF19}"/>
              </a:ext>
            </a:extLst>
          </p:cNvPr>
          <p:cNvSpPr txBox="1"/>
          <p:nvPr/>
        </p:nvSpPr>
        <p:spPr>
          <a:xfrm>
            <a:off x="1524001" y="4319794"/>
            <a:ext cx="2415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HDL Logic Design</a:t>
            </a:r>
            <a:endParaRPr lang="ko-KR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5D3BC-BB7D-AB81-38FC-9B2E586BAF19}"/>
              </a:ext>
            </a:extLst>
          </p:cNvPr>
          <p:cNvSpPr txBox="1"/>
          <p:nvPr/>
        </p:nvSpPr>
        <p:spPr>
          <a:xfrm>
            <a:off x="5109516" y="4319794"/>
            <a:ext cx="2415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Logic Synthesis</a:t>
            </a:r>
            <a:endParaRPr lang="ko-KR" altLang="en-US" sz="2400" dirty="0"/>
          </a:p>
        </p:txBody>
      </p:sp>
      <p:sp>
        <p:nvSpPr>
          <p:cNvPr id="8" name="Right Arrow 7"/>
          <p:cNvSpPr/>
          <p:nvPr/>
        </p:nvSpPr>
        <p:spPr>
          <a:xfrm>
            <a:off x="4436134" y="2960757"/>
            <a:ext cx="597583" cy="258543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ight Arrow 8"/>
          <p:cNvSpPr/>
          <p:nvPr/>
        </p:nvSpPr>
        <p:spPr>
          <a:xfrm>
            <a:off x="7450150" y="2979839"/>
            <a:ext cx="597583" cy="258543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65D3BC-BB7D-AB81-38FC-9B2E586BAF19}"/>
              </a:ext>
            </a:extLst>
          </p:cNvPr>
          <p:cNvSpPr txBox="1"/>
          <p:nvPr/>
        </p:nvSpPr>
        <p:spPr>
          <a:xfrm>
            <a:off x="8305447" y="4330053"/>
            <a:ext cx="3098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Physical Implementation : Auto Place &amp; Route</a:t>
            </a:r>
            <a:endParaRPr lang="ko-KR" altLang="en-US" sz="2400" dirty="0"/>
          </a:p>
        </p:txBody>
      </p:sp>
      <p:sp>
        <p:nvSpPr>
          <p:cNvPr id="11" name="Rounded Rectangle 10"/>
          <p:cNvSpPr/>
          <p:nvPr/>
        </p:nvSpPr>
        <p:spPr>
          <a:xfrm>
            <a:off x="435292" y="1356967"/>
            <a:ext cx="7298267" cy="4398552"/>
          </a:xfrm>
          <a:prstGeom prst="round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227ED2-3AB3-D34A-D21D-1FCDC0750305}"/>
              </a:ext>
            </a:extLst>
          </p:cNvPr>
          <p:cNvSpPr txBox="1"/>
          <p:nvPr/>
        </p:nvSpPr>
        <p:spPr>
          <a:xfrm>
            <a:off x="6054355" y="5442243"/>
            <a:ext cx="13199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i="1" dirty="0"/>
              <a:t>Front End</a:t>
            </a:r>
            <a:endParaRPr lang="ko-KR" altLang="en-US" sz="1600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4DEFE2-CF7A-2740-274F-4CF6476CF59C}"/>
              </a:ext>
            </a:extLst>
          </p:cNvPr>
          <p:cNvSpPr txBox="1"/>
          <p:nvPr/>
        </p:nvSpPr>
        <p:spPr>
          <a:xfrm>
            <a:off x="10084252" y="1443031"/>
            <a:ext cx="13199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i="1" dirty="0"/>
              <a:t>Back End</a:t>
            </a:r>
            <a:endParaRPr lang="ko-KR" altLang="en-US" sz="1600" b="1" i="1" dirty="0"/>
          </a:p>
        </p:txBody>
      </p:sp>
    </p:spTree>
    <p:extLst>
      <p:ext uri="{BB962C8B-B14F-4D97-AF65-F5344CB8AC3E}">
        <p14:creationId xmlns:p14="http://schemas.microsoft.com/office/powerpoint/2010/main" val="16229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27539" y="451155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Semiconductor Fabrication</a:t>
            </a:r>
          </a:p>
        </p:txBody>
      </p:sp>
      <p:pic>
        <p:nvPicPr>
          <p:cNvPr id="3" name="Content Placeholder 12">
            <a:extLst>
              <a:ext uri="{FF2B5EF4-FFF2-40B4-BE49-F238E27FC236}">
                <a16:creationId xmlns:a16="http://schemas.microsoft.com/office/drawing/2014/main" id="{F027ADB3-38F9-9E5B-4A98-1F67D4271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620" y="1461383"/>
            <a:ext cx="8204848" cy="446528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D7591A-9966-2F7A-BB61-938C0CFFEFBF}"/>
              </a:ext>
            </a:extLst>
          </p:cNvPr>
          <p:cNvSpPr txBox="1"/>
          <p:nvPr/>
        </p:nvSpPr>
        <p:spPr>
          <a:xfrm>
            <a:off x="9162765" y="5950289"/>
            <a:ext cx="183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Source: Cadence</a:t>
            </a:r>
            <a:endParaRPr lang="ko-KR" altLang="en-US" sz="1200" b="1" dirty="0"/>
          </a:p>
        </p:txBody>
      </p:sp>
      <p:sp>
        <p:nvSpPr>
          <p:cNvPr id="5" name="Rectangle 4"/>
          <p:cNvSpPr/>
          <p:nvPr/>
        </p:nvSpPr>
        <p:spPr>
          <a:xfrm>
            <a:off x="1938867" y="2438400"/>
            <a:ext cx="3335867" cy="189653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B7B74E-06A6-5DD2-6270-16B7E5935E7C}"/>
              </a:ext>
            </a:extLst>
          </p:cNvPr>
          <p:cNvSpPr txBox="1"/>
          <p:nvPr/>
        </p:nvSpPr>
        <p:spPr>
          <a:xfrm>
            <a:off x="134140" y="3282372"/>
            <a:ext cx="4233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Design Spec &amp; Logic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1938867" y="4334933"/>
            <a:ext cx="3335867" cy="1405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B7B74E-06A6-5DD2-6270-16B7E5935E7C}"/>
              </a:ext>
            </a:extLst>
          </p:cNvPr>
          <p:cNvSpPr txBox="1"/>
          <p:nvPr/>
        </p:nvSpPr>
        <p:spPr>
          <a:xfrm>
            <a:off x="796882" y="5009628"/>
            <a:ext cx="2987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Front 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B7B74E-06A6-5DD2-6270-16B7E5935E7C}"/>
              </a:ext>
            </a:extLst>
          </p:cNvPr>
          <p:cNvSpPr txBox="1"/>
          <p:nvPr/>
        </p:nvSpPr>
        <p:spPr>
          <a:xfrm>
            <a:off x="9750406" y="3821503"/>
            <a:ext cx="2987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Back 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379134"/>
            <a:ext cx="2990565" cy="322329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338416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06751" y="690440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Full Custom </a:t>
            </a:r>
            <a:r>
              <a:rPr lang="en-US" sz="3600" b="1" dirty="0"/>
              <a:t>vs</a:t>
            </a:r>
            <a:r>
              <a:rPr lang="en-US" sz="3600" b="1" dirty="0">
                <a:latin typeface="+mj-lt"/>
              </a:rPr>
              <a:t> Semi Custom</a:t>
            </a:r>
          </a:p>
        </p:txBody>
      </p:sp>
      <p:pic>
        <p:nvPicPr>
          <p:cNvPr id="3" name="그림 5">
            <a:extLst>
              <a:ext uri="{FF2B5EF4-FFF2-40B4-BE49-F238E27FC236}">
                <a16:creationId xmlns:a16="http://schemas.microsoft.com/office/drawing/2014/main" id="{2C3B2CE9-513A-1C97-C4B3-507FECF77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751" y="2179829"/>
            <a:ext cx="4671183" cy="2600515"/>
          </a:xfrm>
          <a:prstGeom prst="rect">
            <a:avLst/>
          </a:prstGeom>
        </p:spPr>
      </p:pic>
      <p:pic>
        <p:nvPicPr>
          <p:cNvPr id="4" name="그림 9">
            <a:extLst>
              <a:ext uri="{FF2B5EF4-FFF2-40B4-BE49-F238E27FC236}">
                <a16:creationId xmlns:a16="http://schemas.microsoft.com/office/drawing/2014/main" id="{F3126D53-AFFF-B5DB-7C9D-D89474EEE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668" y="2179829"/>
            <a:ext cx="4878641" cy="26005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AA3E78-540B-2CFC-4FCC-6481D92F0D6B}"/>
              </a:ext>
            </a:extLst>
          </p:cNvPr>
          <p:cNvSpPr txBox="1"/>
          <p:nvPr/>
        </p:nvSpPr>
        <p:spPr>
          <a:xfrm>
            <a:off x="8484705" y="4859867"/>
            <a:ext cx="43290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Source:</a:t>
            </a:r>
            <a:r>
              <a:rPr lang="ko-KR" altLang="en-US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Global</a:t>
            </a:r>
            <a:r>
              <a:rPr lang="ko-KR" altLang="en-US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Science</a:t>
            </a:r>
            <a:r>
              <a:rPr lang="ko-KR" altLang="en-US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2">
                    <a:lumMod val="65000"/>
                    <a:lumOff val="35000"/>
                  </a:schemeClr>
                </a:solidFill>
              </a:rPr>
              <a:t>Network</a:t>
            </a:r>
            <a:endParaRPr lang="en-US" sz="1200" dirty="0">
              <a:solidFill>
                <a:schemeClr val="bg2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353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89085" y="497775"/>
            <a:ext cx="10271125" cy="7635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+mj-lt"/>
              </a:rPr>
              <a:t>Field Programmable Gate Array(FPGA)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D5A082B4-DAC4-B1CF-A120-DED239FC6165}"/>
              </a:ext>
            </a:extLst>
          </p:cNvPr>
          <p:cNvSpPr txBox="1">
            <a:spLocks/>
          </p:cNvSpPr>
          <p:nvPr/>
        </p:nvSpPr>
        <p:spPr>
          <a:xfrm>
            <a:off x="669366" y="1356967"/>
            <a:ext cx="5181101" cy="1136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en-US" altLang="ko-KR" sz="1600" dirty="0"/>
              <a:t>FPGA(Field Programmable Gate Array)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sz="1600" dirty="0"/>
              <a:t>Cell Based Design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sz="1600" dirty="0"/>
              <a:t>Reusable Circuit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sz="1600" dirty="0"/>
              <a:t>Emulation / Prototyping</a:t>
            </a:r>
          </a:p>
          <a:p>
            <a:endParaRPr lang="ko-KR" altLang="en-US" sz="1600" dirty="0"/>
          </a:p>
        </p:txBody>
      </p:sp>
      <p:pic>
        <p:nvPicPr>
          <p:cNvPr id="4" name="Picture 3" descr="A diagram of a machine&#10;&#10;Description automatically generated">
            <a:extLst>
              <a:ext uri="{FF2B5EF4-FFF2-40B4-BE49-F238E27FC236}">
                <a16:creationId xmlns:a16="http://schemas.microsoft.com/office/drawing/2014/main" id="{3E57A9EA-CD57-6B88-AF06-1AC7BF059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073" y="2738871"/>
            <a:ext cx="3722595" cy="3239560"/>
          </a:xfrm>
          <a:prstGeom prst="rect">
            <a:avLst/>
          </a:prstGeom>
        </p:spPr>
      </p:pic>
      <p:pic>
        <p:nvPicPr>
          <p:cNvPr id="5" name="Picture 4" descr="A diagram of a diagram of a diagram&#10;&#10;Description automatically generated">
            <a:extLst>
              <a:ext uri="{FF2B5EF4-FFF2-40B4-BE49-F238E27FC236}">
                <a16:creationId xmlns:a16="http://schemas.microsoft.com/office/drawing/2014/main" id="{9971FA5B-C297-FEB1-1A96-FC903F2D5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109" y="2738871"/>
            <a:ext cx="5759825" cy="323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9770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13657</TotalTime>
  <Words>298</Words>
  <Application>Microsoft Office PowerPoint</Application>
  <PresentationFormat>와이드스크린</PresentationFormat>
  <Paragraphs>70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0" baseType="lpstr">
      <vt:lpstr>Arimo</vt:lpstr>
      <vt:lpstr>Darker Grotesque SemiBold</vt:lpstr>
      <vt:lpstr>맑은 고딕</vt:lpstr>
      <vt:lpstr>Open Sans</vt:lpstr>
      <vt:lpstr>나눔스퀘어 네오 Regular</vt:lpstr>
      <vt:lpstr>Arial</vt:lpstr>
      <vt:lpstr>Wingdings</vt:lpstr>
      <vt:lpstr>Office 테마</vt:lpstr>
      <vt:lpstr>SoC 102: Design</vt:lpstr>
      <vt:lpstr>CHIP WAR</vt:lpstr>
      <vt:lpstr>Economics of Scale</vt:lpstr>
      <vt:lpstr>Moore’s Law</vt:lpstr>
      <vt:lpstr>Drive momentum</vt:lpstr>
      <vt:lpstr>Early Designer : Handcrafting</vt:lpstr>
      <vt:lpstr>Early Designer : Schematic Capture</vt:lpstr>
      <vt:lpstr>Early EDA System</vt:lpstr>
      <vt:lpstr>Software Revolution</vt:lpstr>
      <vt:lpstr>Contribution</vt:lpstr>
      <vt:lpstr>Early ECAD System</vt:lpstr>
      <vt:lpstr>Hardware Descriptive Language</vt:lpstr>
      <vt:lpstr>Semiconductor Fabrication</vt:lpstr>
      <vt:lpstr>Diverse Viewpoint to view semiconductor</vt:lpstr>
      <vt:lpstr>Full Custom Design(1)</vt:lpstr>
      <vt:lpstr>Full Custom Design(2)</vt:lpstr>
      <vt:lpstr>Semi Custom Design(1)</vt:lpstr>
      <vt:lpstr>Semi Custom Design(2)</vt:lpstr>
      <vt:lpstr>Semi Custom Design(3)</vt:lpstr>
      <vt:lpstr>Semiconductor Fabrication</vt:lpstr>
      <vt:lpstr>Full Custom vs Semi Custom</vt:lpstr>
      <vt:lpstr>Field Programmable Gate Array(FPGA)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PS Part</dc:title>
  <dc:creator>예빈 문</dc:creator>
  <cp:lastModifiedBy> 우승안</cp:lastModifiedBy>
  <cp:revision>704</cp:revision>
  <dcterms:created xsi:type="dcterms:W3CDTF">2024-09-20T05:42:48Z</dcterms:created>
  <dcterms:modified xsi:type="dcterms:W3CDTF">2026-07-05T10:52:07Z</dcterms:modified>
</cp:coreProperties>
</file>