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0" r:id="rId2"/>
    <p:sldId id="14910" r:id="rId3"/>
    <p:sldId id="14773" r:id="rId4"/>
    <p:sldId id="14800" r:id="rId5"/>
    <p:sldId id="14872" r:id="rId6"/>
    <p:sldId id="14873" r:id="rId7"/>
    <p:sldId id="14911" r:id="rId8"/>
    <p:sldId id="14874" r:id="rId9"/>
    <p:sldId id="14875" r:id="rId10"/>
    <p:sldId id="14876" r:id="rId11"/>
    <p:sldId id="14877" r:id="rId12"/>
    <p:sldId id="14878" r:id="rId13"/>
    <p:sldId id="14879" r:id="rId14"/>
    <p:sldId id="14880" r:id="rId15"/>
    <p:sldId id="14940" r:id="rId16"/>
    <p:sldId id="14943" r:id="rId17"/>
    <p:sldId id="14941" r:id="rId18"/>
    <p:sldId id="14942" r:id="rId19"/>
    <p:sldId id="14944" r:id="rId20"/>
    <p:sldId id="1493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2D0B2C-464E-418E-82B6-883B454E2342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3" csCatId="colorful" phldr="1"/>
      <dgm:spPr/>
    </dgm:pt>
    <dgm:pt modelId="{397A96D5-FEDC-4D33-A4C3-AF1F5BE7177D}">
      <dgm:prSet phldrT="[Text]"/>
      <dgm:spPr/>
      <dgm:t>
        <a:bodyPr/>
        <a:lstStyle/>
        <a:p>
          <a:pPr latinLnBrk="1"/>
          <a:r>
            <a:rPr lang="en-US" altLang="ko-KR" b="1" i="1" dirty="0"/>
            <a:t>Compile</a:t>
          </a:r>
          <a:endParaRPr lang="ko-KR" altLang="en-US" b="1" i="1" dirty="0"/>
        </a:p>
      </dgm:t>
    </dgm:pt>
    <dgm:pt modelId="{794496D5-59FA-4317-BE76-EA0DCB08859E}" type="parTrans" cxnId="{0CDD8104-3CAA-4CED-B303-C8A9BB4D9DCC}">
      <dgm:prSet/>
      <dgm:spPr/>
      <dgm:t>
        <a:bodyPr/>
        <a:lstStyle/>
        <a:p>
          <a:pPr latinLnBrk="1"/>
          <a:endParaRPr lang="ko-KR" altLang="en-US"/>
        </a:p>
      </dgm:t>
    </dgm:pt>
    <dgm:pt modelId="{678D16B0-6F14-4189-8D63-E1BF15A58A15}" type="sibTrans" cxnId="{0CDD8104-3CAA-4CED-B303-C8A9BB4D9DCC}">
      <dgm:prSet/>
      <dgm:spPr/>
      <dgm:t>
        <a:bodyPr/>
        <a:lstStyle/>
        <a:p>
          <a:pPr latinLnBrk="1"/>
          <a:endParaRPr lang="ko-KR" altLang="en-US"/>
        </a:p>
      </dgm:t>
    </dgm:pt>
    <dgm:pt modelId="{036A84FF-1681-44B0-A447-9A32078DD456}">
      <dgm:prSet phldrT="[Text]"/>
      <dgm:spPr/>
      <dgm:t>
        <a:bodyPr/>
        <a:lstStyle/>
        <a:p>
          <a:pPr latinLnBrk="1"/>
          <a:r>
            <a:rPr lang="en-US" altLang="ko-KR" b="1" i="1" dirty="0"/>
            <a:t>Elaboration</a:t>
          </a:r>
          <a:endParaRPr lang="ko-KR" altLang="en-US" b="1" i="1" dirty="0"/>
        </a:p>
      </dgm:t>
    </dgm:pt>
    <dgm:pt modelId="{316061B9-C214-4DB4-8DE5-8F59D16A3E50}" type="parTrans" cxnId="{73142556-1B1E-47BC-A99D-C7851180DA4E}">
      <dgm:prSet/>
      <dgm:spPr/>
      <dgm:t>
        <a:bodyPr/>
        <a:lstStyle/>
        <a:p>
          <a:pPr latinLnBrk="1"/>
          <a:endParaRPr lang="ko-KR" altLang="en-US"/>
        </a:p>
      </dgm:t>
    </dgm:pt>
    <dgm:pt modelId="{03C71FB0-F275-4F3C-86A5-FBAC60D10C2E}" type="sibTrans" cxnId="{73142556-1B1E-47BC-A99D-C7851180DA4E}">
      <dgm:prSet/>
      <dgm:spPr/>
      <dgm:t>
        <a:bodyPr/>
        <a:lstStyle/>
        <a:p>
          <a:pPr latinLnBrk="1"/>
          <a:endParaRPr lang="ko-KR" altLang="en-US"/>
        </a:p>
      </dgm:t>
    </dgm:pt>
    <dgm:pt modelId="{5F7A1CC5-1C85-4A03-9871-219FA936D73A}">
      <dgm:prSet phldrT="[Text]"/>
      <dgm:spPr/>
      <dgm:t>
        <a:bodyPr/>
        <a:lstStyle/>
        <a:p>
          <a:pPr latinLnBrk="1"/>
          <a:r>
            <a:rPr lang="en-US" altLang="ko-KR" b="1" i="1" dirty="0"/>
            <a:t>Simulation</a:t>
          </a:r>
          <a:endParaRPr lang="ko-KR" altLang="en-US" b="1" i="1" dirty="0"/>
        </a:p>
      </dgm:t>
    </dgm:pt>
    <dgm:pt modelId="{D8A2E69E-E1CD-4417-A6FB-7B72FFE61278}" type="parTrans" cxnId="{2E3D6FB8-23BC-480E-A063-5F1D018504C4}">
      <dgm:prSet/>
      <dgm:spPr/>
      <dgm:t>
        <a:bodyPr/>
        <a:lstStyle/>
        <a:p>
          <a:pPr latinLnBrk="1"/>
          <a:endParaRPr lang="ko-KR" altLang="en-US"/>
        </a:p>
      </dgm:t>
    </dgm:pt>
    <dgm:pt modelId="{C3E5DF9D-DE22-4A17-8958-B14BD9F44B24}" type="sibTrans" cxnId="{2E3D6FB8-23BC-480E-A063-5F1D018504C4}">
      <dgm:prSet/>
      <dgm:spPr/>
      <dgm:t>
        <a:bodyPr/>
        <a:lstStyle/>
        <a:p>
          <a:pPr latinLnBrk="1"/>
          <a:endParaRPr lang="ko-KR" altLang="en-US"/>
        </a:p>
      </dgm:t>
    </dgm:pt>
    <dgm:pt modelId="{A073C266-4787-4428-8876-0C6E2F555EDF}" type="pres">
      <dgm:prSet presAssocID="{0F2D0B2C-464E-418E-82B6-883B454E2342}" presName="Name0" presStyleCnt="0">
        <dgm:presLayoutVars>
          <dgm:dir/>
          <dgm:resizeHandles val="exact"/>
        </dgm:presLayoutVars>
      </dgm:prSet>
      <dgm:spPr/>
    </dgm:pt>
    <dgm:pt modelId="{1EEB0A03-6D55-48A1-A15A-21B8016B38A5}" type="pres">
      <dgm:prSet presAssocID="{397A96D5-FEDC-4D33-A4C3-AF1F5BE7177D}" presName="composite" presStyleCnt="0"/>
      <dgm:spPr/>
    </dgm:pt>
    <dgm:pt modelId="{3A93190F-A579-4AA5-8222-8EB58B87CC3F}" type="pres">
      <dgm:prSet presAssocID="{397A96D5-FEDC-4D33-A4C3-AF1F5BE7177D}" presName="bgChev" presStyleLbl="node1" presStyleIdx="0" presStyleCnt="3"/>
      <dgm:spPr/>
    </dgm:pt>
    <dgm:pt modelId="{2CF3A8E4-85AD-4BCE-B8D4-885FB8CF1892}" type="pres">
      <dgm:prSet presAssocID="{397A96D5-FEDC-4D33-A4C3-AF1F5BE7177D}" presName="txNode" presStyleLbl="fgAcc1" presStyleIdx="0" presStyleCnt="3" custScaleX="100001">
        <dgm:presLayoutVars>
          <dgm:bulletEnabled val="1"/>
        </dgm:presLayoutVars>
      </dgm:prSet>
      <dgm:spPr/>
    </dgm:pt>
    <dgm:pt modelId="{B54EC7BF-5D4B-4132-A9DA-E5B092A19599}" type="pres">
      <dgm:prSet presAssocID="{678D16B0-6F14-4189-8D63-E1BF15A58A15}" presName="compositeSpace" presStyleCnt="0"/>
      <dgm:spPr/>
    </dgm:pt>
    <dgm:pt modelId="{9963AFE4-CCB7-4922-AD86-0839EDA6FE89}" type="pres">
      <dgm:prSet presAssocID="{036A84FF-1681-44B0-A447-9A32078DD456}" presName="composite" presStyleCnt="0"/>
      <dgm:spPr/>
    </dgm:pt>
    <dgm:pt modelId="{B234F4B6-EEE9-4A55-AF2F-66F957280FD4}" type="pres">
      <dgm:prSet presAssocID="{036A84FF-1681-44B0-A447-9A32078DD456}" presName="bgChev" presStyleLbl="node1" presStyleIdx="1" presStyleCnt="3"/>
      <dgm:spPr/>
    </dgm:pt>
    <dgm:pt modelId="{1CFAEF81-7E0C-4C8C-B9DB-29E080B3AA67}" type="pres">
      <dgm:prSet presAssocID="{036A84FF-1681-44B0-A447-9A32078DD456}" presName="txNode" presStyleLbl="fgAcc1" presStyleIdx="1" presStyleCnt="3">
        <dgm:presLayoutVars>
          <dgm:bulletEnabled val="1"/>
        </dgm:presLayoutVars>
      </dgm:prSet>
      <dgm:spPr/>
    </dgm:pt>
    <dgm:pt modelId="{E47F33B0-7B54-404D-803B-62F6DA25EDD2}" type="pres">
      <dgm:prSet presAssocID="{03C71FB0-F275-4F3C-86A5-FBAC60D10C2E}" presName="compositeSpace" presStyleCnt="0"/>
      <dgm:spPr/>
    </dgm:pt>
    <dgm:pt modelId="{852D21CF-948C-4918-95A0-2AC6EC9167DE}" type="pres">
      <dgm:prSet presAssocID="{5F7A1CC5-1C85-4A03-9871-219FA936D73A}" presName="composite" presStyleCnt="0"/>
      <dgm:spPr/>
    </dgm:pt>
    <dgm:pt modelId="{6AECD294-60DA-46F3-8035-BD131CC4E8D4}" type="pres">
      <dgm:prSet presAssocID="{5F7A1CC5-1C85-4A03-9871-219FA936D73A}" presName="bgChev" presStyleLbl="node1" presStyleIdx="2" presStyleCnt="3"/>
      <dgm:spPr/>
    </dgm:pt>
    <dgm:pt modelId="{47255C83-70C6-41BC-ACFC-9FB847F78447}" type="pres">
      <dgm:prSet presAssocID="{5F7A1CC5-1C85-4A03-9871-219FA936D73A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0CDD8104-3CAA-4CED-B303-C8A9BB4D9DCC}" srcId="{0F2D0B2C-464E-418E-82B6-883B454E2342}" destId="{397A96D5-FEDC-4D33-A4C3-AF1F5BE7177D}" srcOrd="0" destOrd="0" parTransId="{794496D5-59FA-4317-BE76-EA0DCB08859E}" sibTransId="{678D16B0-6F14-4189-8D63-E1BF15A58A15}"/>
    <dgm:cxn modelId="{E0F28407-30D5-41FE-AA2D-FEB7BEE40993}" type="presOf" srcId="{5F7A1CC5-1C85-4A03-9871-219FA936D73A}" destId="{47255C83-70C6-41BC-ACFC-9FB847F78447}" srcOrd="0" destOrd="0" presId="urn:microsoft.com/office/officeart/2005/8/layout/chevronAccent+Icon"/>
    <dgm:cxn modelId="{87733E21-83C2-462C-AF20-7287B13039DF}" type="presOf" srcId="{036A84FF-1681-44B0-A447-9A32078DD456}" destId="{1CFAEF81-7E0C-4C8C-B9DB-29E080B3AA67}" srcOrd="0" destOrd="0" presId="urn:microsoft.com/office/officeart/2005/8/layout/chevronAccent+Icon"/>
    <dgm:cxn modelId="{88F6A027-1DDF-4107-8FD9-514058623F2D}" type="presOf" srcId="{0F2D0B2C-464E-418E-82B6-883B454E2342}" destId="{A073C266-4787-4428-8876-0C6E2F555EDF}" srcOrd="0" destOrd="0" presId="urn:microsoft.com/office/officeart/2005/8/layout/chevronAccent+Icon"/>
    <dgm:cxn modelId="{73142556-1B1E-47BC-A99D-C7851180DA4E}" srcId="{0F2D0B2C-464E-418E-82B6-883B454E2342}" destId="{036A84FF-1681-44B0-A447-9A32078DD456}" srcOrd="1" destOrd="0" parTransId="{316061B9-C214-4DB4-8DE5-8F59D16A3E50}" sibTransId="{03C71FB0-F275-4F3C-86A5-FBAC60D10C2E}"/>
    <dgm:cxn modelId="{38D16E8C-08E8-4932-AE4B-F938E9C421C9}" type="presOf" srcId="{397A96D5-FEDC-4D33-A4C3-AF1F5BE7177D}" destId="{2CF3A8E4-85AD-4BCE-B8D4-885FB8CF1892}" srcOrd="0" destOrd="0" presId="urn:microsoft.com/office/officeart/2005/8/layout/chevronAccent+Icon"/>
    <dgm:cxn modelId="{2E3D6FB8-23BC-480E-A063-5F1D018504C4}" srcId="{0F2D0B2C-464E-418E-82B6-883B454E2342}" destId="{5F7A1CC5-1C85-4A03-9871-219FA936D73A}" srcOrd="2" destOrd="0" parTransId="{D8A2E69E-E1CD-4417-A6FB-7B72FFE61278}" sibTransId="{C3E5DF9D-DE22-4A17-8958-B14BD9F44B24}"/>
    <dgm:cxn modelId="{AFDC95C0-8609-4720-B054-8573A48973D9}" type="presParOf" srcId="{A073C266-4787-4428-8876-0C6E2F555EDF}" destId="{1EEB0A03-6D55-48A1-A15A-21B8016B38A5}" srcOrd="0" destOrd="0" presId="urn:microsoft.com/office/officeart/2005/8/layout/chevronAccent+Icon"/>
    <dgm:cxn modelId="{92C54405-45EA-455A-8538-D7D499858A4C}" type="presParOf" srcId="{1EEB0A03-6D55-48A1-A15A-21B8016B38A5}" destId="{3A93190F-A579-4AA5-8222-8EB58B87CC3F}" srcOrd="0" destOrd="0" presId="urn:microsoft.com/office/officeart/2005/8/layout/chevronAccent+Icon"/>
    <dgm:cxn modelId="{D3719355-C306-4292-96F9-D5056D0B7B0B}" type="presParOf" srcId="{1EEB0A03-6D55-48A1-A15A-21B8016B38A5}" destId="{2CF3A8E4-85AD-4BCE-B8D4-885FB8CF1892}" srcOrd="1" destOrd="0" presId="urn:microsoft.com/office/officeart/2005/8/layout/chevronAccent+Icon"/>
    <dgm:cxn modelId="{FAC36C04-AFE9-468F-9DB6-116D98082177}" type="presParOf" srcId="{A073C266-4787-4428-8876-0C6E2F555EDF}" destId="{B54EC7BF-5D4B-4132-A9DA-E5B092A19599}" srcOrd="1" destOrd="0" presId="urn:microsoft.com/office/officeart/2005/8/layout/chevronAccent+Icon"/>
    <dgm:cxn modelId="{894A3C4A-6C67-4C7E-B992-9DF0628FB09F}" type="presParOf" srcId="{A073C266-4787-4428-8876-0C6E2F555EDF}" destId="{9963AFE4-CCB7-4922-AD86-0839EDA6FE89}" srcOrd="2" destOrd="0" presId="urn:microsoft.com/office/officeart/2005/8/layout/chevronAccent+Icon"/>
    <dgm:cxn modelId="{9A80B46F-C67E-47E6-8AD7-3A996296AA23}" type="presParOf" srcId="{9963AFE4-CCB7-4922-AD86-0839EDA6FE89}" destId="{B234F4B6-EEE9-4A55-AF2F-66F957280FD4}" srcOrd="0" destOrd="0" presId="urn:microsoft.com/office/officeart/2005/8/layout/chevronAccent+Icon"/>
    <dgm:cxn modelId="{068BD0E8-8847-4C9E-9E15-C2E48658DEA8}" type="presParOf" srcId="{9963AFE4-CCB7-4922-AD86-0839EDA6FE89}" destId="{1CFAEF81-7E0C-4C8C-B9DB-29E080B3AA67}" srcOrd="1" destOrd="0" presId="urn:microsoft.com/office/officeart/2005/8/layout/chevronAccent+Icon"/>
    <dgm:cxn modelId="{C43D9206-773B-4233-B98F-92FE2B1F9D63}" type="presParOf" srcId="{A073C266-4787-4428-8876-0C6E2F555EDF}" destId="{E47F33B0-7B54-404D-803B-62F6DA25EDD2}" srcOrd="3" destOrd="0" presId="urn:microsoft.com/office/officeart/2005/8/layout/chevronAccent+Icon"/>
    <dgm:cxn modelId="{887424DA-2023-4B9E-9345-B0F815DCE469}" type="presParOf" srcId="{A073C266-4787-4428-8876-0C6E2F555EDF}" destId="{852D21CF-948C-4918-95A0-2AC6EC9167DE}" srcOrd="4" destOrd="0" presId="urn:microsoft.com/office/officeart/2005/8/layout/chevronAccent+Icon"/>
    <dgm:cxn modelId="{412E3210-45D3-4B5A-A7AA-D1A7B42E54C2}" type="presParOf" srcId="{852D21CF-948C-4918-95A0-2AC6EC9167DE}" destId="{6AECD294-60DA-46F3-8035-BD131CC4E8D4}" srcOrd="0" destOrd="0" presId="urn:microsoft.com/office/officeart/2005/8/layout/chevronAccent+Icon"/>
    <dgm:cxn modelId="{8A3CCCD9-AA88-4DAF-A51B-7E6D4FB691D7}" type="presParOf" srcId="{852D21CF-948C-4918-95A0-2AC6EC9167DE}" destId="{47255C83-70C6-41BC-ACFC-9FB847F78447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6A7CAE-EA86-4576-98C0-57C69A21638D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pPr latinLnBrk="1"/>
          <a:endParaRPr lang="ko-KR" altLang="en-US"/>
        </a:p>
      </dgm:t>
    </dgm:pt>
    <dgm:pt modelId="{DD0AE09E-EA35-4794-B605-F12F401B3241}">
      <dgm:prSet phldrT="[Text]" custT="1"/>
      <dgm:spPr/>
      <dgm:t>
        <a:bodyPr/>
        <a:lstStyle/>
        <a:p>
          <a:pPr latinLnBrk="1"/>
          <a:r>
            <a:rPr lang="en-US" altLang="ko-KR" sz="1400" b="1" dirty="0" err="1"/>
            <a:t>xmvlog</a:t>
          </a:r>
          <a:r>
            <a:rPr lang="en-US" altLang="ko-KR" sz="1400" dirty="0"/>
            <a:t> : compile source file</a:t>
          </a:r>
          <a:endParaRPr lang="ko-KR" altLang="en-US" sz="1400" dirty="0"/>
        </a:p>
      </dgm:t>
    </dgm:pt>
    <dgm:pt modelId="{FCA211BF-4158-4EF0-84BD-AAA1986861F4}" type="parTrans" cxnId="{87A049AA-7087-4851-9F54-111424E1E2C6}">
      <dgm:prSet/>
      <dgm:spPr/>
      <dgm:t>
        <a:bodyPr/>
        <a:lstStyle/>
        <a:p>
          <a:pPr latinLnBrk="1"/>
          <a:endParaRPr lang="ko-KR" altLang="en-US"/>
        </a:p>
      </dgm:t>
    </dgm:pt>
    <dgm:pt modelId="{4387ED60-207F-437D-888C-689793B03F42}" type="sibTrans" cxnId="{87A049AA-7087-4851-9F54-111424E1E2C6}">
      <dgm:prSet/>
      <dgm:spPr/>
      <dgm:t>
        <a:bodyPr/>
        <a:lstStyle/>
        <a:p>
          <a:pPr latinLnBrk="1"/>
          <a:endParaRPr lang="ko-KR" altLang="en-US"/>
        </a:p>
      </dgm:t>
    </dgm:pt>
    <dgm:pt modelId="{92C68CE0-D1B5-4D65-A372-6F0E9922C596}">
      <dgm:prSet phldrT="[Text]" custT="1"/>
      <dgm:spPr/>
      <dgm:t>
        <a:bodyPr/>
        <a:lstStyle/>
        <a:p>
          <a:pPr latinLnBrk="1"/>
          <a:r>
            <a:rPr lang="en-US" altLang="ko-KR" sz="1400" b="1" dirty="0" err="1"/>
            <a:t>xmelab</a:t>
          </a:r>
          <a:r>
            <a:rPr lang="en-US" altLang="ko-KR" sz="1400" dirty="0"/>
            <a:t>: elaborate the design</a:t>
          </a:r>
          <a:endParaRPr lang="ko-KR" altLang="en-US" sz="1400" dirty="0"/>
        </a:p>
      </dgm:t>
    </dgm:pt>
    <dgm:pt modelId="{87BF42EE-A398-4443-B6FA-67C75AE4117F}" type="parTrans" cxnId="{5E6F6666-8785-4185-8628-AC22BFE74481}">
      <dgm:prSet/>
      <dgm:spPr/>
      <dgm:t>
        <a:bodyPr/>
        <a:lstStyle/>
        <a:p>
          <a:pPr latinLnBrk="1"/>
          <a:endParaRPr lang="ko-KR" altLang="en-US"/>
        </a:p>
      </dgm:t>
    </dgm:pt>
    <dgm:pt modelId="{C94FBD84-BD8B-4982-A5D3-04AD9364E571}" type="sibTrans" cxnId="{5E6F6666-8785-4185-8628-AC22BFE74481}">
      <dgm:prSet/>
      <dgm:spPr/>
      <dgm:t>
        <a:bodyPr/>
        <a:lstStyle/>
        <a:p>
          <a:pPr latinLnBrk="1"/>
          <a:endParaRPr lang="ko-KR" altLang="en-US"/>
        </a:p>
      </dgm:t>
    </dgm:pt>
    <dgm:pt modelId="{F88C960A-558C-4978-B476-462B12E4FB68}">
      <dgm:prSet phldrT="[Text]" custT="1"/>
      <dgm:spPr/>
      <dgm:t>
        <a:bodyPr/>
        <a:lstStyle/>
        <a:p>
          <a:pPr latinLnBrk="1"/>
          <a:r>
            <a:rPr lang="en-US" altLang="ko-KR" sz="1400" b="1" dirty="0" err="1"/>
            <a:t>xmsim</a:t>
          </a:r>
          <a:r>
            <a:rPr lang="en-US" altLang="ko-KR" sz="1400" dirty="0"/>
            <a:t>: start simulation</a:t>
          </a:r>
          <a:endParaRPr lang="ko-KR" altLang="en-US" sz="1400" dirty="0"/>
        </a:p>
      </dgm:t>
    </dgm:pt>
    <dgm:pt modelId="{40867B6E-6DD9-4636-812D-A2E1421EB389}" type="parTrans" cxnId="{578DBB02-115E-42B8-A942-0D45B6889B92}">
      <dgm:prSet/>
      <dgm:spPr/>
      <dgm:t>
        <a:bodyPr/>
        <a:lstStyle/>
        <a:p>
          <a:pPr latinLnBrk="1"/>
          <a:endParaRPr lang="ko-KR" altLang="en-US"/>
        </a:p>
      </dgm:t>
    </dgm:pt>
    <dgm:pt modelId="{558A22C1-C86B-465E-8A32-8DBCEF8B5958}" type="sibTrans" cxnId="{578DBB02-115E-42B8-A942-0D45B6889B92}">
      <dgm:prSet/>
      <dgm:spPr/>
      <dgm:t>
        <a:bodyPr/>
        <a:lstStyle/>
        <a:p>
          <a:pPr latinLnBrk="1"/>
          <a:endParaRPr lang="ko-KR" altLang="en-US"/>
        </a:p>
      </dgm:t>
    </dgm:pt>
    <dgm:pt modelId="{222E2370-D0B1-45BD-9EDD-5729840853E4}">
      <dgm:prSet phldrT="[Text]" custT="1"/>
      <dgm:spPr/>
      <dgm:t>
        <a:bodyPr/>
        <a:lstStyle/>
        <a:p>
          <a:pPr latinLnBrk="1"/>
          <a:r>
            <a:rPr lang="en-US" altLang="ko-KR" sz="1400" b="1" dirty="0"/>
            <a:t>Design Setup</a:t>
          </a:r>
          <a:r>
            <a:rPr lang="en-US" altLang="ko-KR" sz="1400" dirty="0"/>
            <a:t>: library &amp; setting file</a:t>
          </a:r>
          <a:endParaRPr lang="ko-KR" altLang="en-US" sz="1400" dirty="0"/>
        </a:p>
      </dgm:t>
    </dgm:pt>
    <dgm:pt modelId="{90A2913B-C886-4B20-8F9F-7A50A6BF8667}" type="parTrans" cxnId="{5819F9B8-B3E8-43BE-9E65-A3032D5B563E}">
      <dgm:prSet/>
      <dgm:spPr/>
      <dgm:t>
        <a:bodyPr/>
        <a:lstStyle/>
        <a:p>
          <a:endParaRPr lang="en-US"/>
        </a:p>
      </dgm:t>
    </dgm:pt>
    <dgm:pt modelId="{0059CD92-72E8-4645-ACA0-FDC9270A8057}" type="sibTrans" cxnId="{5819F9B8-B3E8-43BE-9E65-A3032D5B563E}">
      <dgm:prSet/>
      <dgm:spPr/>
      <dgm:t>
        <a:bodyPr/>
        <a:lstStyle/>
        <a:p>
          <a:endParaRPr lang="en-US"/>
        </a:p>
      </dgm:t>
    </dgm:pt>
    <dgm:pt modelId="{F7AB2F1A-309B-4431-A1A8-A47B5BEDCCD4}" type="pres">
      <dgm:prSet presAssocID="{5B6A7CAE-EA86-4576-98C0-57C69A21638D}" presName="linear" presStyleCnt="0">
        <dgm:presLayoutVars>
          <dgm:dir/>
          <dgm:animLvl val="lvl"/>
          <dgm:resizeHandles val="exact"/>
        </dgm:presLayoutVars>
      </dgm:prSet>
      <dgm:spPr/>
    </dgm:pt>
    <dgm:pt modelId="{3F44195D-3885-45D0-BB8E-4E203B8783FC}" type="pres">
      <dgm:prSet presAssocID="{222E2370-D0B1-45BD-9EDD-5729840853E4}" presName="parentLin" presStyleCnt="0"/>
      <dgm:spPr/>
    </dgm:pt>
    <dgm:pt modelId="{E3CD2412-8540-4439-926D-99C0AC63D60B}" type="pres">
      <dgm:prSet presAssocID="{222E2370-D0B1-45BD-9EDD-5729840853E4}" presName="parentLeftMargin" presStyleLbl="node1" presStyleIdx="0" presStyleCnt="4"/>
      <dgm:spPr/>
    </dgm:pt>
    <dgm:pt modelId="{23168E0F-596D-4ABF-93C2-1D2B68FD0E4F}" type="pres">
      <dgm:prSet presAssocID="{222E2370-D0B1-45BD-9EDD-5729840853E4}" presName="parentText" presStyleLbl="node1" presStyleIdx="0" presStyleCnt="4" custScaleX="107854">
        <dgm:presLayoutVars>
          <dgm:chMax val="0"/>
          <dgm:bulletEnabled val="1"/>
        </dgm:presLayoutVars>
      </dgm:prSet>
      <dgm:spPr/>
    </dgm:pt>
    <dgm:pt modelId="{45BBF3DB-777B-4EBC-B95B-4D5C8163BC3B}" type="pres">
      <dgm:prSet presAssocID="{222E2370-D0B1-45BD-9EDD-5729840853E4}" presName="negativeSpace" presStyleCnt="0"/>
      <dgm:spPr/>
    </dgm:pt>
    <dgm:pt modelId="{38AF75F7-5C96-4440-AD33-7BBF6AD63C0B}" type="pres">
      <dgm:prSet presAssocID="{222E2370-D0B1-45BD-9EDD-5729840853E4}" presName="childText" presStyleLbl="conFgAcc1" presStyleIdx="0" presStyleCnt="4">
        <dgm:presLayoutVars>
          <dgm:bulletEnabled val="1"/>
        </dgm:presLayoutVars>
      </dgm:prSet>
      <dgm:spPr/>
    </dgm:pt>
    <dgm:pt modelId="{0D141D88-98A6-47E3-986D-381F7E6EAD49}" type="pres">
      <dgm:prSet presAssocID="{0059CD92-72E8-4645-ACA0-FDC9270A8057}" presName="spaceBetweenRectangles" presStyleCnt="0"/>
      <dgm:spPr/>
    </dgm:pt>
    <dgm:pt modelId="{B2D239A0-18B9-4C5A-8A0E-CBF968C17BD6}" type="pres">
      <dgm:prSet presAssocID="{DD0AE09E-EA35-4794-B605-F12F401B3241}" presName="parentLin" presStyleCnt="0"/>
      <dgm:spPr/>
    </dgm:pt>
    <dgm:pt modelId="{24EC8F96-3A39-418B-AD87-328AD69066E4}" type="pres">
      <dgm:prSet presAssocID="{DD0AE09E-EA35-4794-B605-F12F401B3241}" presName="parentLeftMargin" presStyleLbl="node1" presStyleIdx="0" presStyleCnt="4"/>
      <dgm:spPr/>
    </dgm:pt>
    <dgm:pt modelId="{F588998D-8DB9-4114-B47B-2D5FE993341B}" type="pres">
      <dgm:prSet presAssocID="{DD0AE09E-EA35-4794-B605-F12F401B3241}" presName="parentText" presStyleLbl="node1" presStyleIdx="1" presStyleCnt="4" custScaleX="106865" custScaleY="89455">
        <dgm:presLayoutVars>
          <dgm:chMax val="0"/>
          <dgm:bulletEnabled val="1"/>
        </dgm:presLayoutVars>
      </dgm:prSet>
      <dgm:spPr/>
    </dgm:pt>
    <dgm:pt modelId="{63154474-A864-4BDB-B708-1A1E2C283E74}" type="pres">
      <dgm:prSet presAssocID="{DD0AE09E-EA35-4794-B605-F12F401B3241}" presName="negativeSpace" presStyleCnt="0"/>
      <dgm:spPr/>
    </dgm:pt>
    <dgm:pt modelId="{CBF1E85E-35DB-4268-8C7A-931CA26FF531}" type="pres">
      <dgm:prSet presAssocID="{DD0AE09E-EA35-4794-B605-F12F401B3241}" presName="childText" presStyleLbl="conFgAcc1" presStyleIdx="1" presStyleCnt="4">
        <dgm:presLayoutVars>
          <dgm:bulletEnabled val="1"/>
        </dgm:presLayoutVars>
      </dgm:prSet>
      <dgm:spPr/>
    </dgm:pt>
    <dgm:pt modelId="{171DE41C-99DB-4D45-8A08-DC6523428146}" type="pres">
      <dgm:prSet presAssocID="{4387ED60-207F-437D-888C-689793B03F42}" presName="spaceBetweenRectangles" presStyleCnt="0"/>
      <dgm:spPr/>
    </dgm:pt>
    <dgm:pt modelId="{0BDF6E01-8ED9-43AA-87B5-1EC212A66508}" type="pres">
      <dgm:prSet presAssocID="{92C68CE0-D1B5-4D65-A372-6F0E9922C596}" presName="parentLin" presStyleCnt="0"/>
      <dgm:spPr/>
    </dgm:pt>
    <dgm:pt modelId="{BF8EB746-7BC1-4A8E-8291-199BDA411BFF}" type="pres">
      <dgm:prSet presAssocID="{92C68CE0-D1B5-4D65-A372-6F0E9922C596}" presName="parentLeftMargin" presStyleLbl="node1" presStyleIdx="1" presStyleCnt="4"/>
      <dgm:spPr/>
    </dgm:pt>
    <dgm:pt modelId="{7A57A846-9269-40CE-B607-819B58FAC766}" type="pres">
      <dgm:prSet presAssocID="{92C68CE0-D1B5-4D65-A372-6F0E9922C596}" presName="parentText" presStyleLbl="node1" presStyleIdx="2" presStyleCnt="4" custScaleX="108161" custLinFactNeighborX="0">
        <dgm:presLayoutVars>
          <dgm:chMax val="0"/>
          <dgm:bulletEnabled val="1"/>
        </dgm:presLayoutVars>
      </dgm:prSet>
      <dgm:spPr/>
    </dgm:pt>
    <dgm:pt modelId="{4713607F-D914-4E38-81EC-63EBD5B4044B}" type="pres">
      <dgm:prSet presAssocID="{92C68CE0-D1B5-4D65-A372-6F0E9922C596}" presName="negativeSpace" presStyleCnt="0"/>
      <dgm:spPr/>
    </dgm:pt>
    <dgm:pt modelId="{14F38B85-1494-4CED-8C6F-5087E504D5A6}" type="pres">
      <dgm:prSet presAssocID="{92C68CE0-D1B5-4D65-A372-6F0E9922C596}" presName="childText" presStyleLbl="conFgAcc1" presStyleIdx="2" presStyleCnt="4">
        <dgm:presLayoutVars>
          <dgm:bulletEnabled val="1"/>
        </dgm:presLayoutVars>
      </dgm:prSet>
      <dgm:spPr/>
    </dgm:pt>
    <dgm:pt modelId="{797FA0FD-773F-4737-98D4-8E9F7433AB3A}" type="pres">
      <dgm:prSet presAssocID="{C94FBD84-BD8B-4982-A5D3-04AD9364E571}" presName="spaceBetweenRectangles" presStyleCnt="0"/>
      <dgm:spPr/>
    </dgm:pt>
    <dgm:pt modelId="{B07C3916-928F-469F-9663-97E54D97B13E}" type="pres">
      <dgm:prSet presAssocID="{F88C960A-558C-4978-B476-462B12E4FB68}" presName="parentLin" presStyleCnt="0"/>
      <dgm:spPr/>
    </dgm:pt>
    <dgm:pt modelId="{25D386C9-15C3-4644-9B93-08C75209CF66}" type="pres">
      <dgm:prSet presAssocID="{F88C960A-558C-4978-B476-462B12E4FB68}" presName="parentLeftMargin" presStyleLbl="node1" presStyleIdx="2" presStyleCnt="4"/>
      <dgm:spPr/>
    </dgm:pt>
    <dgm:pt modelId="{D98F4F75-A09D-431B-87F5-396E80786E89}" type="pres">
      <dgm:prSet presAssocID="{F88C960A-558C-4978-B476-462B12E4FB68}" presName="parentText" presStyleLbl="node1" presStyleIdx="3" presStyleCnt="4" custScaleX="110124">
        <dgm:presLayoutVars>
          <dgm:chMax val="0"/>
          <dgm:bulletEnabled val="1"/>
        </dgm:presLayoutVars>
      </dgm:prSet>
      <dgm:spPr/>
    </dgm:pt>
    <dgm:pt modelId="{4CBA75D6-23BC-4FA0-A858-5EE483953F18}" type="pres">
      <dgm:prSet presAssocID="{F88C960A-558C-4978-B476-462B12E4FB68}" presName="negativeSpace" presStyleCnt="0"/>
      <dgm:spPr/>
    </dgm:pt>
    <dgm:pt modelId="{FBA1622E-6556-41E1-BC23-2A03CDCAC4F8}" type="pres">
      <dgm:prSet presAssocID="{F88C960A-558C-4978-B476-462B12E4FB6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78DBB02-115E-42B8-A942-0D45B6889B92}" srcId="{5B6A7CAE-EA86-4576-98C0-57C69A21638D}" destId="{F88C960A-558C-4978-B476-462B12E4FB68}" srcOrd="3" destOrd="0" parTransId="{40867B6E-6DD9-4636-812D-A2E1421EB389}" sibTransId="{558A22C1-C86B-465E-8A32-8DBCEF8B5958}"/>
    <dgm:cxn modelId="{F90F7E05-1172-4740-A00F-A14F42ECCA26}" type="presOf" srcId="{F88C960A-558C-4978-B476-462B12E4FB68}" destId="{25D386C9-15C3-4644-9B93-08C75209CF66}" srcOrd="0" destOrd="0" presId="urn:microsoft.com/office/officeart/2005/8/layout/list1"/>
    <dgm:cxn modelId="{621DCF5E-338E-49C3-823D-D4579AB7005C}" type="presOf" srcId="{5B6A7CAE-EA86-4576-98C0-57C69A21638D}" destId="{F7AB2F1A-309B-4431-A1A8-A47B5BEDCCD4}" srcOrd="0" destOrd="0" presId="urn:microsoft.com/office/officeart/2005/8/layout/list1"/>
    <dgm:cxn modelId="{9A178845-D33C-4BDC-BC07-8CFB1F22909C}" type="presOf" srcId="{222E2370-D0B1-45BD-9EDD-5729840853E4}" destId="{23168E0F-596D-4ABF-93C2-1D2B68FD0E4F}" srcOrd="1" destOrd="0" presId="urn:microsoft.com/office/officeart/2005/8/layout/list1"/>
    <dgm:cxn modelId="{5E6F6666-8785-4185-8628-AC22BFE74481}" srcId="{5B6A7CAE-EA86-4576-98C0-57C69A21638D}" destId="{92C68CE0-D1B5-4D65-A372-6F0E9922C596}" srcOrd="2" destOrd="0" parTransId="{87BF42EE-A398-4443-B6FA-67C75AE4117F}" sibTransId="{C94FBD84-BD8B-4982-A5D3-04AD9364E571}"/>
    <dgm:cxn modelId="{E763E849-B103-4C29-8AD3-6FEBC77A0DFC}" type="presOf" srcId="{92C68CE0-D1B5-4D65-A372-6F0E9922C596}" destId="{7A57A846-9269-40CE-B607-819B58FAC766}" srcOrd="1" destOrd="0" presId="urn:microsoft.com/office/officeart/2005/8/layout/list1"/>
    <dgm:cxn modelId="{39347170-C178-434D-8751-8DED6F154328}" type="presOf" srcId="{92C68CE0-D1B5-4D65-A372-6F0E9922C596}" destId="{BF8EB746-7BC1-4A8E-8291-199BDA411BFF}" srcOrd="0" destOrd="0" presId="urn:microsoft.com/office/officeart/2005/8/layout/list1"/>
    <dgm:cxn modelId="{F5D33A7F-2586-4DF7-B13A-1C040D9A51F7}" type="presOf" srcId="{DD0AE09E-EA35-4794-B605-F12F401B3241}" destId="{24EC8F96-3A39-418B-AD87-328AD69066E4}" srcOrd="0" destOrd="0" presId="urn:microsoft.com/office/officeart/2005/8/layout/list1"/>
    <dgm:cxn modelId="{D4D6038E-58C4-4962-9089-554433B76CF8}" type="presOf" srcId="{DD0AE09E-EA35-4794-B605-F12F401B3241}" destId="{F588998D-8DB9-4114-B47B-2D5FE993341B}" srcOrd="1" destOrd="0" presId="urn:microsoft.com/office/officeart/2005/8/layout/list1"/>
    <dgm:cxn modelId="{7B041E96-4F10-4071-A3AA-FD279FC0FAF7}" type="presOf" srcId="{F88C960A-558C-4978-B476-462B12E4FB68}" destId="{D98F4F75-A09D-431B-87F5-396E80786E89}" srcOrd="1" destOrd="0" presId="urn:microsoft.com/office/officeart/2005/8/layout/list1"/>
    <dgm:cxn modelId="{87A049AA-7087-4851-9F54-111424E1E2C6}" srcId="{5B6A7CAE-EA86-4576-98C0-57C69A21638D}" destId="{DD0AE09E-EA35-4794-B605-F12F401B3241}" srcOrd="1" destOrd="0" parTransId="{FCA211BF-4158-4EF0-84BD-AAA1986861F4}" sibTransId="{4387ED60-207F-437D-888C-689793B03F42}"/>
    <dgm:cxn modelId="{5819F9B8-B3E8-43BE-9E65-A3032D5B563E}" srcId="{5B6A7CAE-EA86-4576-98C0-57C69A21638D}" destId="{222E2370-D0B1-45BD-9EDD-5729840853E4}" srcOrd="0" destOrd="0" parTransId="{90A2913B-C886-4B20-8F9F-7A50A6BF8667}" sibTransId="{0059CD92-72E8-4645-ACA0-FDC9270A8057}"/>
    <dgm:cxn modelId="{6BA77EE8-FEE2-4A20-B012-71379EE4A88C}" type="presOf" srcId="{222E2370-D0B1-45BD-9EDD-5729840853E4}" destId="{E3CD2412-8540-4439-926D-99C0AC63D60B}" srcOrd="0" destOrd="0" presId="urn:microsoft.com/office/officeart/2005/8/layout/list1"/>
    <dgm:cxn modelId="{078A1FEC-7153-4544-BB20-1ED15A633376}" type="presParOf" srcId="{F7AB2F1A-309B-4431-A1A8-A47B5BEDCCD4}" destId="{3F44195D-3885-45D0-BB8E-4E203B8783FC}" srcOrd="0" destOrd="0" presId="urn:microsoft.com/office/officeart/2005/8/layout/list1"/>
    <dgm:cxn modelId="{E24484EB-29D8-426B-8C81-D8D73701F02B}" type="presParOf" srcId="{3F44195D-3885-45D0-BB8E-4E203B8783FC}" destId="{E3CD2412-8540-4439-926D-99C0AC63D60B}" srcOrd="0" destOrd="0" presId="urn:microsoft.com/office/officeart/2005/8/layout/list1"/>
    <dgm:cxn modelId="{1A15B86B-0AB4-4D13-83B5-6E68D6E5E06C}" type="presParOf" srcId="{3F44195D-3885-45D0-BB8E-4E203B8783FC}" destId="{23168E0F-596D-4ABF-93C2-1D2B68FD0E4F}" srcOrd="1" destOrd="0" presId="urn:microsoft.com/office/officeart/2005/8/layout/list1"/>
    <dgm:cxn modelId="{1E225813-4492-478C-90AD-4253CF93EE0A}" type="presParOf" srcId="{F7AB2F1A-309B-4431-A1A8-A47B5BEDCCD4}" destId="{45BBF3DB-777B-4EBC-B95B-4D5C8163BC3B}" srcOrd="1" destOrd="0" presId="urn:microsoft.com/office/officeart/2005/8/layout/list1"/>
    <dgm:cxn modelId="{720B97F1-7476-4796-B9CD-B13A8FE5C7BD}" type="presParOf" srcId="{F7AB2F1A-309B-4431-A1A8-A47B5BEDCCD4}" destId="{38AF75F7-5C96-4440-AD33-7BBF6AD63C0B}" srcOrd="2" destOrd="0" presId="urn:microsoft.com/office/officeart/2005/8/layout/list1"/>
    <dgm:cxn modelId="{FBA6B807-D54A-431E-9FEB-9774D97A1650}" type="presParOf" srcId="{F7AB2F1A-309B-4431-A1A8-A47B5BEDCCD4}" destId="{0D141D88-98A6-47E3-986D-381F7E6EAD49}" srcOrd="3" destOrd="0" presId="urn:microsoft.com/office/officeart/2005/8/layout/list1"/>
    <dgm:cxn modelId="{DF06BD8A-3F6C-4333-9A7C-70C8C0B15B45}" type="presParOf" srcId="{F7AB2F1A-309B-4431-A1A8-A47B5BEDCCD4}" destId="{B2D239A0-18B9-4C5A-8A0E-CBF968C17BD6}" srcOrd="4" destOrd="0" presId="urn:microsoft.com/office/officeart/2005/8/layout/list1"/>
    <dgm:cxn modelId="{DB81EE70-2D49-4609-A539-41A77C756F33}" type="presParOf" srcId="{B2D239A0-18B9-4C5A-8A0E-CBF968C17BD6}" destId="{24EC8F96-3A39-418B-AD87-328AD69066E4}" srcOrd="0" destOrd="0" presId="urn:microsoft.com/office/officeart/2005/8/layout/list1"/>
    <dgm:cxn modelId="{0CBD8452-7712-4CDA-A77A-1068527AF399}" type="presParOf" srcId="{B2D239A0-18B9-4C5A-8A0E-CBF968C17BD6}" destId="{F588998D-8DB9-4114-B47B-2D5FE993341B}" srcOrd="1" destOrd="0" presId="urn:microsoft.com/office/officeart/2005/8/layout/list1"/>
    <dgm:cxn modelId="{25FDAC75-AB66-497E-9560-6A9842294F9E}" type="presParOf" srcId="{F7AB2F1A-309B-4431-A1A8-A47B5BEDCCD4}" destId="{63154474-A864-4BDB-B708-1A1E2C283E74}" srcOrd="5" destOrd="0" presId="urn:microsoft.com/office/officeart/2005/8/layout/list1"/>
    <dgm:cxn modelId="{165E8240-3159-4E58-9B5D-6F16120B0970}" type="presParOf" srcId="{F7AB2F1A-309B-4431-A1A8-A47B5BEDCCD4}" destId="{CBF1E85E-35DB-4268-8C7A-931CA26FF531}" srcOrd="6" destOrd="0" presId="urn:microsoft.com/office/officeart/2005/8/layout/list1"/>
    <dgm:cxn modelId="{55CA409C-1AFA-4360-AE39-9178AADF1335}" type="presParOf" srcId="{F7AB2F1A-309B-4431-A1A8-A47B5BEDCCD4}" destId="{171DE41C-99DB-4D45-8A08-DC6523428146}" srcOrd="7" destOrd="0" presId="urn:microsoft.com/office/officeart/2005/8/layout/list1"/>
    <dgm:cxn modelId="{31FCB0D0-E86D-40D7-823C-E99832407953}" type="presParOf" srcId="{F7AB2F1A-309B-4431-A1A8-A47B5BEDCCD4}" destId="{0BDF6E01-8ED9-43AA-87B5-1EC212A66508}" srcOrd="8" destOrd="0" presId="urn:microsoft.com/office/officeart/2005/8/layout/list1"/>
    <dgm:cxn modelId="{16C38E4A-9427-41A9-A508-787E81B3CB39}" type="presParOf" srcId="{0BDF6E01-8ED9-43AA-87B5-1EC212A66508}" destId="{BF8EB746-7BC1-4A8E-8291-199BDA411BFF}" srcOrd="0" destOrd="0" presId="urn:microsoft.com/office/officeart/2005/8/layout/list1"/>
    <dgm:cxn modelId="{1F1FB48C-230A-4902-8A53-14281B553B95}" type="presParOf" srcId="{0BDF6E01-8ED9-43AA-87B5-1EC212A66508}" destId="{7A57A846-9269-40CE-B607-819B58FAC766}" srcOrd="1" destOrd="0" presId="urn:microsoft.com/office/officeart/2005/8/layout/list1"/>
    <dgm:cxn modelId="{D2CCCEE2-6973-4878-8F04-54895776ADDB}" type="presParOf" srcId="{F7AB2F1A-309B-4431-A1A8-A47B5BEDCCD4}" destId="{4713607F-D914-4E38-81EC-63EBD5B4044B}" srcOrd="9" destOrd="0" presId="urn:microsoft.com/office/officeart/2005/8/layout/list1"/>
    <dgm:cxn modelId="{59556015-075B-4657-8763-7FC12206EA24}" type="presParOf" srcId="{F7AB2F1A-309B-4431-A1A8-A47B5BEDCCD4}" destId="{14F38B85-1494-4CED-8C6F-5087E504D5A6}" srcOrd="10" destOrd="0" presId="urn:microsoft.com/office/officeart/2005/8/layout/list1"/>
    <dgm:cxn modelId="{C46281A7-0776-4FDF-8E01-F3B87E3494EF}" type="presParOf" srcId="{F7AB2F1A-309B-4431-A1A8-A47B5BEDCCD4}" destId="{797FA0FD-773F-4737-98D4-8E9F7433AB3A}" srcOrd="11" destOrd="0" presId="urn:microsoft.com/office/officeart/2005/8/layout/list1"/>
    <dgm:cxn modelId="{368C2FA1-A8FE-479C-9AD3-2CBE24C84AC6}" type="presParOf" srcId="{F7AB2F1A-309B-4431-A1A8-A47B5BEDCCD4}" destId="{B07C3916-928F-469F-9663-97E54D97B13E}" srcOrd="12" destOrd="0" presId="urn:microsoft.com/office/officeart/2005/8/layout/list1"/>
    <dgm:cxn modelId="{27DC4C28-CBAF-4E6D-8936-75641F6E99A7}" type="presParOf" srcId="{B07C3916-928F-469F-9663-97E54D97B13E}" destId="{25D386C9-15C3-4644-9B93-08C75209CF66}" srcOrd="0" destOrd="0" presId="urn:microsoft.com/office/officeart/2005/8/layout/list1"/>
    <dgm:cxn modelId="{69BFD144-739D-4671-AB55-FC4EFCFEB81E}" type="presParOf" srcId="{B07C3916-928F-469F-9663-97E54D97B13E}" destId="{D98F4F75-A09D-431B-87F5-396E80786E89}" srcOrd="1" destOrd="0" presId="urn:microsoft.com/office/officeart/2005/8/layout/list1"/>
    <dgm:cxn modelId="{18235A63-C682-4646-A601-D7DD60B57A2E}" type="presParOf" srcId="{F7AB2F1A-309B-4431-A1A8-A47B5BEDCCD4}" destId="{4CBA75D6-23BC-4FA0-A858-5EE483953F18}" srcOrd="13" destOrd="0" presId="urn:microsoft.com/office/officeart/2005/8/layout/list1"/>
    <dgm:cxn modelId="{75462CE1-5E3B-43CC-8B8F-2E0DBA2C266B}" type="presParOf" srcId="{F7AB2F1A-309B-4431-A1A8-A47B5BEDCCD4}" destId="{FBA1622E-6556-41E1-BC23-2A03CDCAC4F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F9F8DD-BE2A-4296-8080-59CCC595F3B4}" type="doc">
      <dgm:prSet loTypeId="urn:microsoft.com/office/officeart/2005/8/layout/list1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pPr latinLnBrk="1"/>
          <a:endParaRPr lang="ko-KR" altLang="en-US"/>
        </a:p>
      </dgm:t>
    </dgm:pt>
    <dgm:pt modelId="{55DC7E16-78C0-44F3-BB4B-5CF5FC5EED5A}">
      <dgm:prSet phldrT="[Text]"/>
      <dgm:spPr/>
      <dgm:t>
        <a:bodyPr/>
        <a:lstStyle/>
        <a:p>
          <a:pPr latinLnBrk="1"/>
          <a:r>
            <a:rPr lang="en-US" altLang="ko-KR" b="1" dirty="0" err="1"/>
            <a:t>xrun</a:t>
          </a:r>
          <a:r>
            <a:rPr lang="en-US" altLang="ko-KR" dirty="0"/>
            <a:t>: compile + elaborate+ simulation</a:t>
          </a:r>
          <a:endParaRPr lang="ko-KR" altLang="en-US" dirty="0"/>
        </a:p>
      </dgm:t>
    </dgm:pt>
    <dgm:pt modelId="{74DED499-C193-4DF5-B195-FE54EE08EC9B}" type="parTrans" cxnId="{D26FB4D7-997A-41E8-8A51-4D2268647F22}">
      <dgm:prSet/>
      <dgm:spPr/>
      <dgm:t>
        <a:bodyPr/>
        <a:lstStyle/>
        <a:p>
          <a:pPr latinLnBrk="1"/>
          <a:endParaRPr lang="ko-KR" altLang="en-US"/>
        </a:p>
      </dgm:t>
    </dgm:pt>
    <dgm:pt modelId="{AA99FC12-4718-4074-932B-88B035616FA3}" type="sibTrans" cxnId="{D26FB4D7-997A-41E8-8A51-4D2268647F22}">
      <dgm:prSet/>
      <dgm:spPr/>
      <dgm:t>
        <a:bodyPr/>
        <a:lstStyle/>
        <a:p>
          <a:pPr latinLnBrk="1"/>
          <a:endParaRPr lang="ko-KR" altLang="en-US"/>
        </a:p>
      </dgm:t>
    </dgm:pt>
    <dgm:pt modelId="{8726031E-7208-49B8-A674-E04B1D755E11}" type="pres">
      <dgm:prSet presAssocID="{0FF9F8DD-BE2A-4296-8080-59CCC595F3B4}" presName="linear" presStyleCnt="0">
        <dgm:presLayoutVars>
          <dgm:dir/>
          <dgm:animLvl val="lvl"/>
          <dgm:resizeHandles val="exact"/>
        </dgm:presLayoutVars>
      </dgm:prSet>
      <dgm:spPr/>
    </dgm:pt>
    <dgm:pt modelId="{9DE3B2C7-224D-4841-9254-E447312B4072}" type="pres">
      <dgm:prSet presAssocID="{55DC7E16-78C0-44F3-BB4B-5CF5FC5EED5A}" presName="parentLin" presStyleCnt="0"/>
      <dgm:spPr/>
    </dgm:pt>
    <dgm:pt modelId="{2F39832C-DB9F-4BF7-B542-9558EAB29259}" type="pres">
      <dgm:prSet presAssocID="{55DC7E16-78C0-44F3-BB4B-5CF5FC5EED5A}" presName="parentLeftMargin" presStyleLbl="node1" presStyleIdx="0" presStyleCnt="1"/>
      <dgm:spPr/>
    </dgm:pt>
    <dgm:pt modelId="{163C7A14-D8AE-485C-951D-0463DEFBB81D}" type="pres">
      <dgm:prSet presAssocID="{55DC7E16-78C0-44F3-BB4B-5CF5FC5EED5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993DBCF-A6C4-4131-8624-B89D70EBA235}" type="pres">
      <dgm:prSet presAssocID="{55DC7E16-78C0-44F3-BB4B-5CF5FC5EED5A}" presName="negativeSpace" presStyleCnt="0"/>
      <dgm:spPr/>
    </dgm:pt>
    <dgm:pt modelId="{A5FBD10E-A0D1-4958-8561-D7A8E6BB005F}" type="pres">
      <dgm:prSet presAssocID="{55DC7E16-78C0-44F3-BB4B-5CF5FC5EED5A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746A226-F7E0-43B1-A302-3C4167913B4D}" type="presOf" srcId="{55DC7E16-78C0-44F3-BB4B-5CF5FC5EED5A}" destId="{163C7A14-D8AE-485C-951D-0463DEFBB81D}" srcOrd="1" destOrd="0" presId="urn:microsoft.com/office/officeart/2005/8/layout/list1"/>
    <dgm:cxn modelId="{CB815C5A-9B90-405B-8433-42B225761DAB}" type="presOf" srcId="{55DC7E16-78C0-44F3-BB4B-5CF5FC5EED5A}" destId="{2F39832C-DB9F-4BF7-B542-9558EAB29259}" srcOrd="0" destOrd="0" presId="urn:microsoft.com/office/officeart/2005/8/layout/list1"/>
    <dgm:cxn modelId="{D26FB4D7-997A-41E8-8A51-4D2268647F22}" srcId="{0FF9F8DD-BE2A-4296-8080-59CCC595F3B4}" destId="{55DC7E16-78C0-44F3-BB4B-5CF5FC5EED5A}" srcOrd="0" destOrd="0" parTransId="{74DED499-C193-4DF5-B195-FE54EE08EC9B}" sibTransId="{AA99FC12-4718-4074-932B-88B035616FA3}"/>
    <dgm:cxn modelId="{D7D46EE4-D1D0-46E8-A2FB-47DEBBFC4F50}" type="presOf" srcId="{0FF9F8DD-BE2A-4296-8080-59CCC595F3B4}" destId="{8726031E-7208-49B8-A674-E04B1D755E11}" srcOrd="0" destOrd="0" presId="urn:microsoft.com/office/officeart/2005/8/layout/list1"/>
    <dgm:cxn modelId="{BE846E66-B56E-4436-92D0-36136D2BF7DF}" type="presParOf" srcId="{8726031E-7208-49B8-A674-E04B1D755E11}" destId="{9DE3B2C7-224D-4841-9254-E447312B4072}" srcOrd="0" destOrd="0" presId="urn:microsoft.com/office/officeart/2005/8/layout/list1"/>
    <dgm:cxn modelId="{FFFD063C-7B62-4102-A3A4-F2398E4CA0D1}" type="presParOf" srcId="{9DE3B2C7-224D-4841-9254-E447312B4072}" destId="{2F39832C-DB9F-4BF7-B542-9558EAB29259}" srcOrd="0" destOrd="0" presId="urn:microsoft.com/office/officeart/2005/8/layout/list1"/>
    <dgm:cxn modelId="{953883D1-4F4B-4B42-A678-FD5746CB8A3A}" type="presParOf" srcId="{9DE3B2C7-224D-4841-9254-E447312B4072}" destId="{163C7A14-D8AE-485C-951D-0463DEFBB81D}" srcOrd="1" destOrd="0" presId="urn:microsoft.com/office/officeart/2005/8/layout/list1"/>
    <dgm:cxn modelId="{114FBFE3-E8E0-4A27-A974-169C2AD8B846}" type="presParOf" srcId="{8726031E-7208-49B8-A674-E04B1D755E11}" destId="{3993DBCF-A6C4-4131-8624-B89D70EBA235}" srcOrd="1" destOrd="0" presId="urn:microsoft.com/office/officeart/2005/8/layout/list1"/>
    <dgm:cxn modelId="{4D5D0A05-F00E-436D-8D7A-E037D31ADCE0}" type="presParOf" srcId="{8726031E-7208-49B8-A674-E04B1D755E11}" destId="{A5FBD10E-A0D1-4958-8561-D7A8E6BB005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3190F-A579-4AA5-8222-8EB58B87CC3F}">
      <dsp:nvSpPr>
        <dsp:cNvPr id="0" name=""/>
        <dsp:cNvSpPr/>
      </dsp:nvSpPr>
      <dsp:spPr>
        <a:xfrm>
          <a:off x="578" y="1295343"/>
          <a:ext cx="1461982" cy="564325"/>
        </a:xfrm>
        <a:prstGeom prst="chevron">
          <a:avLst>
            <a:gd name="adj" fmla="val 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F3A8E4-85AD-4BCE-B8D4-885FB8CF1892}">
      <dsp:nvSpPr>
        <dsp:cNvPr id="0" name=""/>
        <dsp:cNvSpPr/>
      </dsp:nvSpPr>
      <dsp:spPr>
        <a:xfrm>
          <a:off x="390434" y="1436424"/>
          <a:ext cx="1234574" cy="564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i="1" kern="1200" dirty="0"/>
            <a:t>Compile</a:t>
          </a:r>
          <a:endParaRPr lang="ko-KR" altLang="en-US" sz="1400" b="1" i="1" kern="1200" dirty="0"/>
        </a:p>
      </dsp:txBody>
      <dsp:txXfrm>
        <a:off x="406963" y="1452953"/>
        <a:ext cx="1201516" cy="531267"/>
      </dsp:txXfrm>
    </dsp:sp>
    <dsp:sp modelId="{B234F4B6-EEE9-4A55-AF2F-66F957280FD4}">
      <dsp:nvSpPr>
        <dsp:cNvPr id="0" name=""/>
        <dsp:cNvSpPr/>
      </dsp:nvSpPr>
      <dsp:spPr>
        <a:xfrm>
          <a:off x="1670493" y="1295343"/>
          <a:ext cx="1461982" cy="564325"/>
        </a:xfrm>
        <a:prstGeom prst="chevron">
          <a:avLst>
            <a:gd name="adj" fmla="val 4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AEF81-7E0C-4C8C-B9DB-29E080B3AA67}">
      <dsp:nvSpPr>
        <dsp:cNvPr id="0" name=""/>
        <dsp:cNvSpPr/>
      </dsp:nvSpPr>
      <dsp:spPr>
        <a:xfrm>
          <a:off x="2060355" y="1436424"/>
          <a:ext cx="1234562" cy="564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i="1" kern="1200" dirty="0"/>
            <a:t>Elaboration</a:t>
          </a:r>
          <a:endParaRPr lang="ko-KR" altLang="en-US" sz="1400" b="1" i="1" kern="1200" dirty="0"/>
        </a:p>
      </dsp:txBody>
      <dsp:txXfrm>
        <a:off x="2076884" y="1452953"/>
        <a:ext cx="1201504" cy="531267"/>
      </dsp:txXfrm>
    </dsp:sp>
    <dsp:sp modelId="{6AECD294-60DA-46F3-8035-BD131CC4E8D4}">
      <dsp:nvSpPr>
        <dsp:cNvPr id="0" name=""/>
        <dsp:cNvSpPr/>
      </dsp:nvSpPr>
      <dsp:spPr>
        <a:xfrm>
          <a:off x="3340401" y="1295343"/>
          <a:ext cx="1461982" cy="564325"/>
        </a:xfrm>
        <a:prstGeom prst="chevron">
          <a:avLst>
            <a:gd name="adj" fmla="val 4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55C83-70C6-41BC-ACFC-9FB847F78447}">
      <dsp:nvSpPr>
        <dsp:cNvPr id="0" name=""/>
        <dsp:cNvSpPr/>
      </dsp:nvSpPr>
      <dsp:spPr>
        <a:xfrm>
          <a:off x="3730263" y="1436424"/>
          <a:ext cx="1234562" cy="564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i="1" kern="1200" dirty="0"/>
            <a:t>Simulation</a:t>
          </a:r>
          <a:endParaRPr lang="ko-KR" altLang="en-US" sz="1400" b="1" i="1" kern="1200" dirty="0"/>
        </a:p>
      </dsp:txBody>
      <dsp:txXfrm>
        <a:off x="3746792" y="1452953"/>
        <a:ext cx="1201504" cy="5312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F75F7-5C96-4440-AD33-7BBF6AD63C0B}">
      <dsp:nvSpPr>
        <dsp:cNvPr id="0" name=""/>
        <dsp:cNvSpPr/>
      </dsp:nvSpPr>
      <dsp:spPr>
        <a:xfrm>
          <a:off x="0" y="314720"/>
          <a:ext cx="445386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168E0F-596D-4ABF-93C2-1D2B68FD0E4F}">
      <dsp:nvSpPr>
        <dsp:cNvPr id="0" name=""/>
        <dsp:cNvSpPr/>
      </dsp:nvSpPr>
      <dsp:spPr>
        <a:xfrm>
          <a:off x="222693" y="78560"/>
          <a:ext cx="3362567" cy="47232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842" tIns="0" rIns="117842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/>
            <a:t>Design Setup</a:t>
          </a:r>
          <a:r>
            <a:rPr lang="en-US" altLang="ko-KR" sz="1400" kern="1200" dirty="0"/>
            <a:t>: library &amp; setting file</a:t>
          </a:r>
          <a:endParaRPr lang="ko-KR" altLang="en-US" sz="1400" kern="1200" dirty="0"/>
        </a:p>
      </dsp:txBody>
      <dsp:txXfrm>
        <a:off x="245750" y="101617"/>
        <a:ext cx="3316453" cy="426206"/>
      </dsp:txXfrm>
    </dsp:sp>
    <dsp:sp modelId="{CBF1E85E-35DB-4268-8C7A-931CA26FF531}">
      <dsp:nvSpPr>
        <dsp:cNvPr id="0" name=""/>
        <dsp:cNvSpPr/>
      </dsp:nvSpPr>
      <dsp:spPr>
        <a:xfrm>
          <a:off x="0" y="990673"/>
          <a:ext cx="445386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16428"/>
              <a:satOff val="-2085"/>
              <a:lumOff val="8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8998D-8DB9-4114-B47B-2D5FE993341B}">
      <dsp:nvSpPr>
        <dsp:cNvPr id="0" name=""/>
        <dsp:cNvSpPr/>
      </dsp:nvSpPr>
      <dsp:spPr>
        <a:xfrm>
          <a:off x="222693" y="804320"/>
          <a:ext cx="3331732" cy="422513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842" tIns="0" rIns="117842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 err="1"/>
            <a:t>xmvlog</a:t>
          </a:r>
          <a:r>
            <a:rPr lang="en-US" altLang="ko-KR" sz="1400" kern="1200" dirty="0"/>
            <a:t> : compile source file</a:t>
          </a:r>
          <a:endParaRPr lang="ko-KR" altLang="en-US" sz="1400" kern="1200" dirty="0"/>
        </a:p>
      </dsp:txBody>
      <dsp:txXfrm>
        <a:off x="243318" y="824945"/>
        <a:ext cx="3290482" cy="381263"/>
      </dsp:txXfrm>
    </dsp:sp>
    <dsp:sp modelId="{14F38B85-1494-4CED-8C6F-5087E504D5A6}">
      <dsp:nvSpPr>
        <dsp:cNvPr id="0" name=""/>
        <dsp:cNvSpPr/>
      </dsp:nvSpPr>
      <dsp:spPr>
        <a:xfrm>
          <a:off x="0" y="1716433"/>
          <a:ext cx="445386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32855"/>
              <a:satOff val="-4171"/>
              <a:lumOff val="177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7A846-9269-40CE-B607-819B58FAC766}">
      <dsp:nvSpPr>
        <dsp:cNvPr id="0" name=""/>
        <dsp:cNvSpPr/>
      </dsp:nvSpPr>
      <dsp:spPr>
        <a:xfrm>
          <a:off x="222693" y="1480273"/>
          <a:ext cx="3372138" cy="472320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842" tIns="0" rIns="117842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 err="1"/>
            <a:t>xmelab</a:t>
          </a:r>
          <a:r>
            <a:rPr lang="en-US" altLang="ko-KR" sz="1400" kern="1200" dirty="0"/>
            <a:t>: elaborate the design</a:t>
          </a:r>
          <a:endParaRPr lang="ko-KR" altLang="en-US" sz="1400" kern="1200" dirty="0"/>
        </a:p>
      </dsp:txBody>
      <dsp:txXfrm>
        <a:off x="245750" y="1503330"/>
        <a:ext cx="3326024" cy="426206"/>
      </dsp:txXfrm>
    </dsp:sp>
    <dsp:sp modelId="{FBA1622E-6556-41E1-BC23-2A03CDCAC4F8}">
      <dsp:nvSpPr>
        <dsp:cNvPr id="0" name=""/>
        <dsp:cNvSpPr/>
      </dsp:nvSpPr>
      <dsp:spPr>
        <a:xfrm>
          <a:off x="0" y="2442193"/>
          <a:ext cx="4453861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F4F75-A09D-431B-87F5-396E80786E89}">
      <dsp:nvSpPr>
        <dsp:cNvPr id="0" name=""/>
        <dsp:cNvSpPr/>
      </dsp:nvSpPr>
      <dsp:spPr>
        <a:xfrm>
          <a:off x="222693" y="2206033"/>
          <a:ext cx="3433338" cy="47232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7842" tIns="0" rIns="117842" bIns="0" numCol="1" spcCol="1270" anchor="ctr" anchorCtr="0">
          <a:noAutofit/>
        </a:bodyPr>
        <a:lstStyle/>
        <a:p>
          <a:pPr marL="0" lvl="0" indent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 err="1"/>
            <a:t>xmsim</a:t>
          </a:r>
          <a:r>
            <a:rPr lang="en-US" altLang="ko-KR" sz="1400" kern="1200" dirty="0"/>
            <a:t>: start simulation</a:t>
          </a:r>
          <a:endParaRPr lang="ko-KR" altLang="en-US" sz="1400" kern="1200" dirty="0"/>
        </a:p>
      </dsp:txBody>
      <dsp:txXfrm>
        <a:off x="245750" y="2229090"/>
        <a:ext cx="3387224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BD10E-A0D1-4958-8561-D7A8E6BB005F}">
      <dsp:nvSpPr>
        <dsp:cNvPr id="0" name=""/>
        <dsp:cNvSpPr/>
      </dsp:nvSpPr>
      <dsp:spPr>
        <a:xfrm>
          <a:off x="0" y="320132"/>
          <a:ext cx="4292009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C7A14-D8AE-485C-951D-0463DEFBB81D}">
      <dsp:nvSpPr>
        <dsp:cNvPr id="0" name=""/>
        <dsp:cNvSpPr/>
      </dsp:nvSpPr>
      <dsp:spPr>
        <a:xfrm>
          <a:off x="214600" y="143012"/>
          <a:ext cx="3004406" cy="35424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559" tIns="0" rIns="113559" bIns="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1" kern="1200" dirty="0" err="1"/>
            <a:t>xrun</a:t>
          </a:r>
          <a:r>
            <a:rPr lang="en-US" altLang="ko-KR" sz="1200" kern="1200" dirty="0"/>
            <a:t>: compile + elaborate+ simulation</a:t>
          </a:r>
          <a:endParaRPr lang="ko-KR" altLang="en-US" sz="1200" kern="1200" dirty="0"/>
        </a:p>
      </dsp:txBody>
      <dsp:txXfrm>
        <a:off x="231893" y="160305"/>
        <a:ext cx="2969820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643118-ABF9-4BD2-9A31-197F242B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365126"/>
            <a:ext cx="11310257" cy="639810"/>
          </a:xfr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8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fif"/><Relationship Id="rId4" Type="http://schemas.openxmlformats.org/officeDocument/2006/relationships/image" Target="../media/image17.jf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fif"/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</a:t>
            </a:r>
            <a:r>
              <a:rPr lang="en-US" altLang="ko-KR" sz="3600">
                <a:latin typeface="Arial" panose="020B0604020202020204" pitchFamily="34" charset="0"/>
                <a:cs typeface="Arial" panose="020B0604020202020204" pitchFamily="34" charset="0"/>
              </a:rPr>
              <a:t>: Design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Session4</a:t>
            </a:r>
            <a:r>
              <a:rPr lang="en-US" altLang="ko-KR" dirty="0"/>
              <a:t> : </a:t>
            </a:r>
            <a:r>
              <a:rPr lang="en-US" altLang="ko-KR" b="1" dirty="0"/>
              <a:t>S</a:t>
            </a:r>
            <a:r>
              <a:rPr lang="en-US" altLang="ko-KR" dirty="0"/>
              <a:t>imulation using </a:t>
            </a:r>
            <a:r>
              <a:rPr lang="en-US" altLang="ko-KR" b="1" dirty="0"/>
              <a:t>C</a:t>
            </a:r>
            <a:r>
              <a:rPr lang="en-US" altLang="ko-KR" dirty="0"/>
              <a:t>adence </a:t>
            </a:r>
            <a:r>
              <a:rPr lang="en-US" altLang="ko-KR" b="1" dirty="0" err="1"/>
              <a:t>X</a:t>
            </a:r>
            <a:r>
              <a:rPr lang="en-US" altLang="ko-KR" dirty="0" err="1"/>
              <a:t>celium</a:t>
            </a:r>
            <a:r>
              <a:rPr lang="en-US" dirty="0"/>
              <a:t> ™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Simulation Overview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D06C-00C4-9D63-7DB1-45A20E4831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6082" y="268572"/>
            <a:ext cx="9122807" cy="639763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Imagine your conventional debugging</a:t>
            </a:r>
            <a:endParaRPr lang="ko-KR" altLang="en-US" sz="4000" dirty="0"/>
          </a:p>
        </p:txBody>
      </p:sp>
      <p:pic>
        <p:nvPicPr>
          <p:cNvPr id="4" name="Picture 3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C784355C-640F-005A-BCF7-0D413732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64" y="1083160"/>
            <a:ext cx="2873551" cy="199352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F94502B-28DF-AC50-D4A7-8D2D96BC3C6F}"/>
              </a:ext>
            </a:extLst>
          </p:cNvPr>
          <p:cNvSpPr/>
          <p:nvPr/>
        </p:nvSpPr>
        <p:spPr>
          <a:xfrm>
            <a:off x="5367718" y="1964776"/>
            <a:ext cx="481268" cy="369071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957C3CEF-24AA-8E78-1F88-02CE8104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875" y="1227425"/>
            <a:ext cx="3476346" cy="19935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B2130E-D170-BC82-A0F6-841A9340E01F}"/>
              </a:ext>
            </a:extLst>
          </p:cNvPr>
          <p:cNvSpPr txBox="1"/>
          <p:nvPr/>
        </p:nvSpPr>
        <p:spPr>
          <a:xfrm>
            <a:off x="2537221" y="3304416"/>
            <a:ext cx="896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Design</a:t>
            </a:r>
            <a:endParaRPr lang="ko-KR" altLang="en-US" sz="12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D594B-6420-3882-F285-9EADDC110D53}"/>
              </a:ext>
            </a:extLst>
          </p:cNvPr>
          <p:cNvSpPr txBox="1"/>
          <p:nvPr/>
        </p:nvSpPr>
        <p:spPr>
          <a:xfrm>
            <a:off x="7705559" y="3360051"/>
            <a:ext cx="1949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Verifying &amp; Debugging</a:t>
            </a:r>
            <a:endParaRPr lang="ko-KR" altLang="en-US" sz="1200" b="1" i="1" dirty="0"/>
          </a:p>
        </p:txBody>
      </p:sp>
      <p:pic>
        <p:nvPicPr>
          <p:cNvPr id="6" name="Picture 5" descr="A close-up of a circuit board&#10;&#10;Description automatically generated">
            <a:extLst>
              <a:ext uri="{FF2B5EF4-FFF2-40B4-BE49-F238E27FC236}">
                <a16:creationId xmlns:a16="http://schemas.microsoft.com/office/drawing/2014/main" id="{67C44434-81E0-B746-56FE-353E3671D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664" y="3766289"/>
            <a:ext cx="2873551" cy="194727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47D4173-BF27-95AA-2889-B43E9859DED9}"/>
              </a:ext>
            </a:extLst>
          </p:cNvPr>
          <p:cNvSpPr/>
          <p:nvPr/>
        </p:nvSpPr>
        <p:spPr>
          <a:xfrm>
            <a:off x="5367718" y="4561368"/>
            <a:ext cx="481268" cy="369071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7BEDA3BE-036B-427A-093D-D3A276ADB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50" y="3811875"/>
            <a:ext cx="3456184" cy="194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08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A20D3-A77C-CA1E-5DF7-38DBE16ECB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Simulation Flow</a:t>
            </a:r>
            <a:endParaRPr lang="ko-KR" alt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B58A69F-803D-F630-226E-E95F7E49ACA1}"/>
              </a:ext>
            </a:extLst>
          </p:cNvPr>
          <p:cNvSpPr txBox="1">
            <a:spLocks/>
          </p:cNvSpPr>
          <p:nvPr/>
        </p:nvSpPr>
        <p:spPr>
          <a:xfrm>
            <a:off x="755777" y="1380222"/>
            <a:ext cx="4878162" cy="1179416"/>
          </a:xfrm>
          <a:prstGeom prst="rect">
            <a:avLst/>
          </a:prstGeom>
        </p:spPr>
        <p:txBody>
          <a:bodyPr/>
          <a:lstStyle>
            <a:lvl1pPr marL="346075" indent="-288925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38188" indent="-280988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Courier New" panose="02070309020205020404" pitchFamily="49" charset="0"/>
              <a:buChar char="o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Rubik Light" panose="00000400000000000000" pitchFamily="2" charset="-79"/>
              <a:buChar char="–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52588" indent="-280988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701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Simulation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ko-KR" altLang="en-US" dirty="0"/>
              <a:t>설계 블록</a:t>
            </a:r>
            <a:r>
              <a:rPr lang="en-US" altLang="ko-KR" dirty="0"/>
              <a:t>(DUT)</a:t>
            </a:r>
            <a:r>
              <a:rPr lang="ko-KR" altLang="en-US" dirty="0"/>
              <a:t>에 </a:t>
            </a:r>
            <a:r>
              <a:rPr lang="en-US" altLang="ko-KR" dirty="0"/>
              <a:t>Stimulus</a:t>
            </a:r>
            <a:r>
              <a:rPr lang="ko-KR" altLang="en-US" dirty="0"/>
              <a:t>를 적용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Waveform</a:t>
            </a:r>
            <a:r>
              <a:rPr lang="ko-KR" altLang="en-US" dirty="0"/>
              <a:t>을 확인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C821F-DAF8-D3B9-EA43-2BAE4B4E3A6D}"/>
              </a:ext>
            </a:extLst>
          </p:cNvPr>
          <p:cNvSpPr/>
          <p:nvPr/>
        </p:nvSpPr>
        <p:spPr>
          <a:xfrm>
            <a:off x="1137702" y="2785729"/>
            <a:ext cx="3923414" cy="281682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A90A7-58A1-A772-F3F0-4652707FAA4D}"/>
              </a:ext>
            </a:extLst>
          </p:cNvPr>
          <p:cNvSpPr txBox="1"/>
          <p:nvPr/>
        </p:nvSpPr>
        <p:spPr>
          <a:xfrm>
            <a:off x="1275924" y="2785729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TB(Test Bench)</a:t>
            </a:r>
            <a:endParaRPr lang="ko-KR" altLang="en-US" sz="1200" b="1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278546-95AE-44E9-063F-47D17147ACDE}"/>
              </a:ext>
            </a:extLst>
          </p:cNvPr>
          <p:cNvSpPr/>
          <p:nvPr/>
        </p:nvSpPr>
        <p:spPr>
          <a:xfrm>
            <a:off x="1690595" y="3381706"/>
            <a:ext cx="2764465" cy="222085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0180B-5D08-D07F-8691-C7EF69DC69D8}"/>
              </a:ext>
            </a:extLst>
          </p:cNvPr>
          <p:cNvSpPr txBox="1"/>
          <p:nvPr/>
        </p:nvSpPr>
        <p:spPr>
          <a:xfrm>
            <a:off x="1653380" y="3286410"/>
            <a:ext cx="2014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DUT(Design Under Test) | Top Module</a:t>
            </a:r>
            <a:endParaRPr lang="ko-KR" altLang="en-US" sz="1200" b="1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EEE7BA-03AA-A5D9-0696-E7781218E18B}"/>
              </a:ext>
            </a:extLst>
          </p:cNvPr>
          <p:cNvSpPr/>
          <p:nvPr/>
        </p:nvSpPr>
        <p:spPr>
          <a:xfrm>
            <a:off x="2844228" y="4093531"/>
            <a:ext cx="1610832" cy="150902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40EF2-BD83-8802-D0B2-01D5A0418312}"/>
              </a:ext>
            </a:extLst>
          </p:cNvPr>
          <p:cNvSpPr txBox="1"/>
          <p:nvPr/>
        </p:nvSpPr>
        <p:spPr>
          <a:xfrm>
            <a:off x="3362565" y="4151080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Sub Module</a:t>
            </a:r>
            <a:endParaRPr lang="ko-KR" altLang="en-US" sz="1200" b="1" i="1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25702B0-3A27-CDF4-F1C2-C69C187399D0}"/>
              </a:ext>
            </a:extLst>
          </p:cNvPr>
          <p:cNvSpPr/>
          <p:nvPr/>
        </p:nvSpPr>
        <p:spPr>
          <a:xfrm rot="10800000">
            <a:off x="2660816" y="4848044"/>
            <a:ext cx="366823" cy="223682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60E09-7008-31EE-C649-31EAB7243E5E}"/>
              </a:ext>
            </a:extLst>
          </p:cNvPr>
          <p:cNvSpPr txBox="1"/>
          <p:nvPr/>
        </p:nvSpPr>
        <p:spPr>
          <a:xfrm>
            <a:off x="2373737" y="5071726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Instantiation</a:t>
            </a:r>
            <a:endParaRPr lang="ko-KR" altLang="en-US" sz="1200" b="1" i="1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3B68D6A-21F2-0963-12A2-C36412421C62}"/>
              </a:ext>
            </a:extLst>
          </p:cNvPr>
          <p:cNvSpPr/>
          <p:nvPr/>
        </p:nvSpPr>
        <p:spPr>
          <a:xfrm rot="10800000">
            <a:off x="1507183" y="4231434"/>
            <a:ext cx="366823" cy="223682"/>
          </a:xfrm>
          <a:prstGeom prst="right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74C89-5602-F03B-FC0C-C369B82873E7}"/>
              </a:ext>
            </a:extLst>
          </p:cNvPr>
          <p:cNvSpPr txBox="1"/>
          <p:nvPr/>
        </p:nvSpPr>
        <p:spPr>
          <a:xfrm>
            <a:off x="1236052" y="4402074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Instantiation</a:t>
            </a:r>
            <a:endParaRPr lang="ko-KR" altLang="en-US" sz="1200" b="1" i="1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6B0868-6003-D283-361E-7E7FE6AC2E61}"/>
              </a:ext>
            </a:extLst>
          </p:cNvPr>
          <p:cNvSpPr/>
          <p:nvPr/>
        </p:nvSpPr>
        <p:spPr>
          <a:xfrm rot="10800000">
            <a:off x="4136084" y="3390670"/>
            <a:ext cx="925032" cy="275453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AA1B84-FA24-CBE0-B382-4E249C8FF771}"/>
              </a:ext>
            </a:extLst>
          </p:cNvPr>
          <p:cNvSpPr txBox="1"/>
          <p:nvPr/>
        </p:nvSpPr>
        <p:spPr>
          <a:xfrm>
            <a:off x="4606574" y="3197039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Stimulus</a:t>
            </a:r>
            <a:endParaRPr lang="ko-KR" altLang="en-US" sz="1200" b="1" i="1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2A65A11-7E36-3E2A-7DC5-939362DD862C}"/>
              </a:ext>
            </a:extLst>
          </p:cNvPr>
          <p:cNvSpPr/>
          <p:nvPr/>
        </p:nvSpPr>
        <p:spPr>
          <a:xfrm>
            <a:off x="4148048" y="3657816"/>
            <a:ext cx="925032" cy="275453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1EF029-52BA-9D63-5DBF-180203395949}"/>
              </a:ext>
            </a:extLst>
          </p:cNvPr>
          <p:cNvSpPr txBox="1"/>
          <p:nvPr/>
        </p:nvSpPr>
        <p:spPr>
          <a:xfrm>
            <a:off x="4606574" y="3837865"/>
            <a:ext cx="1275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i="1" dirty="0"/>
              <a:t>Waveform</a:t>
            </a:r>
            <a:endParaRPr lang="ko-KR" altLang="en-US" sz="1200" b="1" i="1" dirty="0"/>
          </a:p>
        </p:txBody>
      </p:sp>
      <p:pic>
        <p:nvPicPr>
          <p:cNvPr id="21" name="Picture 20" descr="A red line on a white background&#10;&#10;Description automatically generated">
            <a:extLst>
              <a:ext uri="{FF2B5EF4-FFF2-40B4-BE49-F238E27FC236}">
                <a16:creationId xmlns:a16="http://schemas.microsoft.com/office/drawing/2014/main" id="{01A3044B-FB31-6EA4-EDE3-F9FC90AA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4725289" y="4111439"/>
            <a:ext cx="1719862" cy="440661"/>
          </a:xfrm>
          <a:prstGeom prst="rect">
            <a:avLst/>
          </a:prstGeom>
        </p:spPr>
      </p:pic>
      <p:pic>
        <p:nvPicPr>
          <p:cNvPr id="23" name="Picture 22" descr="A diagram of a process&#10;&#10;Description automatically generated">
            <a:extLst>
              <a:ext uri="{FF2B5EF4-FFF2-40B4-BE49-F238E27FC236}">
                <a16:creationId xmlns:a16="http://schemas.microsoft.com/office/drawing/2014/main" id="{DEA44C06-3802-DEDD-2291-FB112D0B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487" y="1278777"/>
            <a:ext cx="3423932" cy="449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51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F1C5-949C-C9ED-C124-E011541384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Types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Simulation</a:t>
            </a:r>
            <a:endParaRPr lang="ko-KR" alt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9366D69-3BDD-31FA-5CD2-48BC6F1CF7AC}"/>
              </a:ext>
            </a:extLst>
          </p:cNvPr>
          <p:cNvSpPr txBox="1">
            <a:spLocks/>
          </p:cNvSpPr>
          <p:nvPr/>
        </p:nvSpPr>
        <p:spPr>
          <a:xfrm>
            <a:off x="755777" y="1380222"/>
            <a:ext cx="4878162" cy="1852076"/>
          </a:xfrm>
          <a:prstGeom prst="rect">
            <a:avLst/>
          </a:prstGeom>
        </p:spPr>
        <p:txBody>
          <a:bodyPr/>
          <a:lstStyle>
            <a:lvl1pPr marL="346075" indent="-288925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38188" indent="-280988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Courier New" panose="02070309020205020404" pitchFamily="49" charset="0"/>
              <a:buChar char="o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Rubik Light" panose="00000400000000000000" pitchFamily="2" charset="-79"/>
              <a:buChar char="–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52588" indent="-280988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701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Functional Simulation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로직의 동작을 확인</a:t>
            </a:r>
            <a:endParaRPr lang="en-US" altLang="ko-KR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Gate/propagation delay</a:t>
            </a:r>
            <a:r>
              <a:rPr lang="ko-KR" altLang="en-US" dirty="0"/>
              <a:t>는 고려하지 않음</a:t>
            </a:r>
            <a:endParaRPr lang="en-US" altLang="ko-KR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검증이 간단하고 빠름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C48268C-C27A-69D7-CEB7-0CA39ABBA96B}"/>
              </a:ext>
            </a:extLst>
          </p:cNvPr>
          <p:cNvSpPr txBox="1">
            <a:spLocks/>
          </p:cNvSpPr>
          <p:nvPr/>
        </p:nvSpPr>
        <p:spPr>
          <a:xfrm>
            <a:off x="755777" y="3859619"/>
            <a:ext cx="4878162" cy="1426773"/>
          </a:xfrm>
          <a:prstGeom prst="rect">
            <a:avLst/>
          </a:prstGeom>
        </p:spPr>
        <p:txBody>
          <a:bodyPr/>
          <a:lstStyle>
            <a:lvl1pPr marL="346075" indent="-288925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38188" indent="-280988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Courier New" panose="02070309020205020404" pitchFamily="49" charset="0"/>
              <a:buChar char="o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Rubik Light" panose="00000400000000000000" pitchFamily="2" charset="-79"/>
              <a:buChar char="–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52588" indent="-280988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701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Timing(Post Synthesis)</a:t>
            </a:r>
            <a:r>
              <a:rPr lang="ko-KR" altLang="en-US" dirty="0"/>
              <a:t> </a:t>
            </a:r>
            <a:r>
              <a:rPr lang="en-US" altLang="ko-KR" dirty="0"/>
              <a:t>Simulation</a:t>
            </a:r>
          </a:p>
          <a:p>
            <a:pPr lvl="1">
              <a:buFont typeface="Wingdings" panose="05000000000000000000" pitchFamily="2" charset="2"/>
              <a:buChar char="u"/>
            </a:pPr>
            <a:r>
              <a:rPr lang="ko-KR" altLang="en-US" dirty="0"/>
              <a:t>로직과 </a:t>
            </a:r>
            <a:r>
              <a:rPr lang="en-US" altLang="ko-KR" dirty="0"/>
              <a:t>wire</a:t>
            </a:r>
            <a:r>
              <a:rPr lang="ko-KR" altLang="en-US" dirty="0"/>
              <a:t>의 </a:t>
            </a:r>
            <a:r>
              <a:rPr lang="en-US" altLang="ko-KR" dirty="0"/>
              <a:t>delay</a:t>
            </a:r>
            <a:r>
              <a:rPr lang="ko-KR" altLang="en-US" dirty="0"/>
              <a:t>를 설명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ko-KR" dirty="0"/>
              <a:t>Function Simulation</a:t>
            </a:r>
            <a:r>
              <a:rPr lang="ko-KR" altLang="en-US" dirty="0"/>
              <a:t>보다 현실적임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r>
              <a:rPr lang="ko-KR" altLang="en-US" dirty="0"/>
              <a:t>검증이 복잡하고 느림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u"/>
            </a:pPr>
            <a:endParaRPr lang="en-US" altLang="ko-KR" dirty="0"/>
          </a:p>
        </p:txBody>
      </p:sp>
      <p:pic>
        <p:nvPicPr>
          <p:cNvPr id="8" name="Picture 7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543126A5-D524-D19D-B0F1-16E377A25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939" y="1428687"/>
            <a:ext cx="6122631" cy="1761081"/>
          </a:xfrm>
          <a:prstGeom prst="rect">
            <a:avLst/>
          </a:prstGeom>
        </p:spPr>
      </p:pic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9A505EED-4FEA-82BF-6CAE-893EABD6C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939" y="4000745"/>
            <a:ext cx="6122631" cy="175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0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0021-1270-490E-A339-ECA1ADF30D4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Simulation Process</a:t>
            </a:r>
            <a:endParaRPr lang="ko-KR" altLang="en-US" dirty="0"/>
          </a:p>
        </p:txBody>
      </p:sp>
      <p:pic>
        <p:nvPicPr>
          <p:cNvPr id="4" name="Picture 3" descr="A diagram of a work library&#10;&#10;Description automatically generated">
            <a:extLst>
              <a:ext uri="{FF2B5EF4-FFF2-40B4-BE49-F238E27FC236}">
                <a16:creationId xmlns:a16="http://schemas.microsoft.com/office/drawing/2014/main" id="{2C9DC343-6FF7-E3D2-6F92-0603CEF13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4130"/>
            <a:ext cx="5621898" cy="4355705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E9E2410-F10E-4709-D461-C1B3B4647D21}"/>
              </a:ext>
            </a:extLst>
          </p:cNvPr>
          <p:cNvGraphicFramePr/>
          <p:nvPr/>
        </p:nvGraphicFramePr>
        <p:xfrm>
          <a:off x="776176" y="1637413"/>
          <a:ext cx="4965405" cy="3296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B31F2BE-4FD5-2A70-BF09-DFD7CA352213}"/>
              </a:ext>
            </a:extLst>
          </p:cNvPr>
          <p:cNvSpPr txBox="1"/>
          <p:nvPr/>
        </p:nvSpPr>
        <p:spPr>
          <a:xfrm>
            <a:off x="776176" y="4112977"/>
            <a:ext cx="17543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 dirty="0"/>
              <a:t>문법 체크</a:t>
            </a:r>
            <a:endParaRPr lang="en-US" altLang="ko-KR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400" dirty="0"/>
              <a:t>Simulation</a:t>
            </a:r>
            <a:r>
              <a:rPr lang="ko-KR" altLang="en-US" sz="1400" dirty="0"/>
              <a:t>이나 </a:t>
            </a:r>
            <a:r>
              <a:rPr lang="en-US" altLang="ko-KR" sz="1400" dirty="0"/>
              <a:t>Synthesis</a:t>
            </a:r>
            <a:r>
              <a:rPr lang="ko-KR" altLang="en-US" sz="1400" dirty="0"/>
              <a:t>에 필요한 파일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C1801-7D22-1A5F-7B05-21BEB63407CA}"/>
              </a:ext>
            </a:extLst>
          </p:cNvPr>
          <p:cNvSpPr txBox="1"/>
          <p:nvPr/>
        </p:nvSpPr>
        <p:spPr>
          <a:xfrm>
            <a:off x="2456121" y="1637413"/>
            <a:ext cx="24242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Simulation</a:t>
            </a:r>
            <a:r>
              <a:rPr lang="ko-KR" altLang="en-US" sz="1400" dirty="0"/>
              <a:t>을 준비하는 단계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모듈과 인스턴스 결합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신호 연결</a:t>
            </a:r>
            <a:endParaRPr lang="en-US" altLang="ko-KR" sz="1400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2233E44-71DD-1345-40A0-D267782F04F2}"/>
              </a:ext>
            </a:extLst>
          </p:cNvPr>
          <p:cNvSpPr/>
          <p:nvPr/>
        </p:nvSpPr>
        <p:spPr>
          <a:xfrm>
            <a:off x="1531088" y="3732028"/>
            <a:ext cx="276447" cy="247371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728460E-2875-B352-FEE4-228D8320A88D}"/>
              </a:ext>
            </a:extLst>
          </p:cNvPr>
          <p:cNvSpPr/>
          <p:nvPr/>
        </p:nvSpPr>
        <p:spPr>
          <a:xfrm rot="10800000">
            <a:off x="3120654" y="2591520"/>
            <a:ext cx="276447" cy="247371"/>
          </a:xfrm>
          <a:prstGeom prst="downArrow">
            <a:avLst/>
          </a:prstGeom>
          <a:solidFill>
            <a:srgbClr val="FF8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2702B-0024-6989-4253-76B4C42E80C5}"/>
              </a:ext>
            </a:extLst>
          </p:cNvPr>
          <p:cNvSpPr txBox="1"/>
          <p:nvPr/>
        </p:nvSpPr>
        <p:spPr>
          <a:xfrm>
            <a:off x="3710449" y="4112977"/>
            <a:ext cx="24242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Design</a:t>
            </a:r>
            <a:r>
              <a:rPr lang="ko-KR" altLang="en-US" sz="1400" dirty="0"/>
              <a:t> </a:t>
            </a:r>
            <a:r>
              <a:rPr lang="en-US" altLang="ko-KR" sz="1400" dirty="0"/>
              <a:t>module</a:t>
            </a:r>
            <a:r>
              <a:rPr lang="ko-KR" altLang="en-US" sz="1400" dirty="0"/>
              <a:t>의 실행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Signal/Net</a:t>
            </a:r>
            <a:r>
              <a:rPr lang="ko-KR" altLang="en-US" sz="1400" dirty="0"/>
              <a:t>에서의 변화 값을 계산하여 출력</a:t>
            </a:r>
            <a:endParaRPr lang="en-US" altLang="ko-KR" sz="1400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A9CD132-F945-E59C-8E74-311AFC585448}"/>
              </a:ext>
            </a:extLst>
          </p:cNvPr>
          <p:cNvSpPr/>
          <p:nvPr/>
        </p:nvSpPr>
        <p:spPr>
          <a:xfrm>
            <a:off x="5000847" y="3732027"/>
            <a:ext cx="276447" cy="247371"/>
          </a:xfrm>
          <a:prstGeom prst="downArrow">
            <a:avLst/>
          </a:prstGeom>
          <a:solidFill>
            <a:srgbClr val="FF8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22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Cadence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Xcelium</a:t>
            </a:r>
            <a:r>
              <a:rPr lang="en-US" sz="3200" dirty="0"/>
              <a:t> ™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Simulator</a:t>
            </a:r>
          </a:p>
        </p:txBody>
      </p:sp>
    </p:spTree>
    <p:extLst>
      <p:ext uri="{BB962C8B-B14F-4D97-AF65-F5344CB8AC3E}">
        <p14:creationId xmlns:p14="http://schemas.microsoft.com/office/powerpoint/2010/main" val="292472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4226-E68F-6EE8-AAEA-C0708C596D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Simulation Step[s] in </a:t>
            </a:r>
            <a:r>
              <a:rPr lang="en-US" altLang="ko-KR" dirty="0" err="1"/>
              <a:t>Xcelium</a:t>
            </a:r>
            <a:r>
              <a:rPr lang="en-US" altLang="ko-KR" dirty="0"/>
              <a:t>® Simulator</a:t>
            </a:r>
            <a:endParaRPr lang="ko-KR" alt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998394-FA6B-14AF-AC7A-2CCCE3244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723568"/>
              </p:ext>
            </p:extLst>
          </p:nvPr>
        </p:nvGraphicFramePr>
        <p:xfrm>
          <a:off x="883683" y="1903228"/>
          <a:ext cx="4453861" cy="2923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E1CF409-A015-C389-8239-527DEE85C87A}"/>
              </a:ext>
            </a:extLst>
          </p:cNvPr>
          <p:cNvSpPr txBox="1"/>
          <p:nvPr/>
        </p:nvSpPr>
        <p:spPr>
          <a:xfrm>
            <a:off x="1802808" y="1316088"/>
            <a:ext cx="261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Multi Step Simulation</a:t>
            </a:r>
            <a:endParaRPr lang="ko-KR" altLang="en-US" b="1" i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6297672-F552-9B9B-B4C3-852A0AC2E99C}"/>
              </a:ext>
            </a:extLst>
          </p:cNvPr>
          <p:cNvGraphicFramePr/>
          <p:nvPr/>
        </p:nvGraphicFramePr>
        <p:xfrm>
          <a:off x="7016308" y="2982432"/>
          <a:ext cx="4292009" cy="765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DE4FC0-C428-D033-5F71-25663B531137}"/>
              </a:ext>
            </a:extLst>
          </p:cNvPr>
          <p:cNvSpPr txBox="1"/>
          <p:nvPr/>
        </p:nvSpPr>
        <p:spPr>
          <a:xfrm>
            <a:off x="7207690" y="1316088"/>
            <a:ext cx="3075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i="1" dirty="0"/>
              <a:t>Single Step Simulation</a:t>
            </a:r>
            <a:endParaRPr lang="ko-KR" altLang="en-US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F692C-3F57-9F72-0443-A663ECC6200C}"/>
              </a:ext>
            </a:extLst>
          </p:cNvPr>
          <p:cNvSpPr txBox="1"/>
          <p:nvPr/>
        </p:nvSpPr>
        <p:spPr>
          <a:xfrm>
            <a:off x="6028660" y="2921168"/>
            <a:ext cx="404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/>
              <a:t>:</a:t>
            </a:r>
            <a:endParaRPr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52021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FACB-65F9-CB63-1D07-9A1025EACB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Simulation(1): Design Setup</a:t>
            </a:r>
            <a:endParaRPr lang="ko-KR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0D6306-C45A-6153-F9E7-8B4C39D3DDDB}"/>
              </a:ext>
            </a:extLst>
          </p:cNvPr>
          <p:cNvGrpSpPr/>
          <p:nvPr/>
        </p:nvGrpSpPr>
        <p:grpSpPr>
          <a:xfrm>
            <a:off x="531085" y="1384589"/>
            <a:ext cx="3362567" cy="472320"/>
            <a:chOff x="222693" y="53657"/>
            <a:chExt cx="3362567" cy="4723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74F1569-D045-3193-BBF1-01CE0A591B6A}"/>
                </a:ext>
              </a:extLst>
            </p:cNvPr>
            <p:cNvSpPr/>
            <p:nvPr/>
          </p:nvSpPr>
          <p:spPr>
            <a:xfrm>
              <a:off x="222693" y="53657"/>
              <a:ext cx="3362567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B493421-1E81-5AFD-A076-3F7116163CF0}"/>
                </a:ext>
              </a:extLst>
            </p:cNvPr>
            <p:cNvSpPr txBox="1"/>
            <p:nvPr/>
          </p:nvSpPr>
          <p:spPr>
            <a:xfrm>
              <a:off x="245750" y="76714"/>
              <a:ext cx="3316453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6223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400" b="1" kern="1200" dirty="0"/>
                <a:t>Design Setup</a:t>
              </a:r>
              <a:r>
                <a:rPr lang="en-US" altLang="ko-KR" sz="1400" kern="1200" dirty="0"/>
                <a:t>: library &amp; setting file</a:t>
              </a:r>
              <a:endParaRPr lang="ko-KR" altLang="en-US" sz="1400" kern="120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E799A6E-8B1E-D11D-9D69-951EE1BEC000}"/>
              </a:ext>
            </a:extLst>
          </p:cNvPr>
          <p:cNvSpPr/>
          <p:nvPr/>
        </p:nvSpPr>
        <p:spPr>
          <a:xfrm>
            <a:off x="554142" y="2065105"/>
            <a:ext cx="4212405" cy="194181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dirty="0"/>
              <a:t>// cds.lib</a:t>
            </a:r>
          </a:p>
          <a:p>
            <a:endParaRPr lang="en-US" dirty="0"/>
          </a:p>
          <a:p>
            <a:r>
              <a:rPr lang="en-US" sz="1600" dirty="0"/>
              <a:t>define {alias} {LIBRARY_NAME}</a:t>
            </a:r>
          </a:p>
          <a:p>
            <a:r>
              <a:rPr lang="en-US" sz="1600" dirty="0"/>
              <a:t>include {OTHER_REFERENCED_CDS.LIB}</a:t>
            </a:r>
          </a:p>
          <a:p>
            <a:r>
              <a:rPr lang="en-US" sz="1600" dirty="0"/>
              <a:t>…</a:t>
            </a:r>
          </a:p>
          <a:p>
            <a:r>
              <a:rPr lang="en-US" sz="1600" dirty="0"/>
              <a:t>→ </a:t>
            </a:r>
            <a:r>
              <a:rPr lang="ko-KR" altLang="en-US" sz="1600" dirty="0"/>
              <a:t>설계 및 </a:t>
            </a:r>
            <a:r>
              <a:rPr lang="en-US" altLang="ko-KR" sz="1600" dirty="0"/>
              <a:t>simulation</a:t>
            </a:r>
            <a:r>
              <a:rPr lang="ko-KR" altLang="en-US" sz="1600" dirty="0"/>
              <a:t>에서 사용</a:t>
            </a:r>
            <a:r>
              <a:rPr lang="en-US" altLang="ko-KR" sz="1600" dirty="0"/>
              <a:t>/</a:t>
            </a:r>
            <a:r>
              <a:rPr lang="ko-KR" altLang="en-US" sz="1600" dirty="0"/>
              <a:t>생성되는 </a:t>
            </a:r>
            <a:r>
              <a:rPr lang="en-US" altLang="ko-KR" sz="1600" dirty="0"/>
              <a:t>library</a:t>
            </a:r>
            <a:r>
              <a:rPr lang="ko-KR" altLang="en-US" sz="1600" dirty="0"/>
              <a:t>관리 파일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095DD-58C7-B29F-4A80-8AA0510066D4}"/>
              </a:ext>
            </a:extLst>
          </p:cNvPr>
          <p:cNvSpPr/>
          <p:nvPr/>
        </p:nvSpPr>
        <p:spPr>
          <a:xfrm>
            <a:off x="554142" y="4215117"/>
            <a:ext cx="4212405" cy="1953803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dirty="0"/>
              <a:t>// </a:t>
            </a:r>
            <a:r>
              <a:rPr lang="en-US" dirty="0" err="1"/>
              <a:t>hdl.var</a:t>
            </a:r>
            <a:endParaRPr lang="en-US" dirty="0"/>
          </a:p>
          <a:p>
            <a:r>
              <a:rPr lang="en-US" dirty="0"/>
              <a:t>define WORK {alias}</a:t>
            </a:r>
          </a:p>
          <a:p>
            <a:r>
              <a:rPr lang="en-US" sz="1600" dirty="0"/>
              <a:t>define {SIM_OPTION_VAR} -option</a:t>
            </a:r>
          </a:p>
          <a:p>
            <a:r>
              <a:rPr lang="en-US" sz="1600" dirty="0"/>
              <a:t>…</a:t>
            </a:r>
          </a:p>
          <a:p>
            <a:endParaRPr lang="en-US" sz="1600" dirty="0"/>
          </a:p>
          <a:p>
            <a:r>
              <a:rPr lang="en-US" sz="1600" dirty="0"/>
              <a:t>→ compile, elaboration, simulation</a:t>
            </a:r>
            <a:r>
              <a:rPr lang="ko-KR" altLang="en-US" sz="1600" dirty="0"/>
              <a:t>에서 사용되는 옵션 및 설정 관리 파일</a:t>
            </a:r>
            <a:endParaRPr lang="en-US" sz="1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29F39A-55E7-A592-27FA-A4794431636C}"/>
              </a:ext>
            </a:extLst>
          </p:cNvPr>
          <p:cNvGrpSpPr/>
          <p:nvPr/>
        </p:nvGrpSpPr>
        <p:grpSpPr>
          <a:xfrm>
            <a:off x="6370375" y="3192840"/>
            <a:ext cx="3415412" cy="472320"/>
            <a:chOff x="222693" y="779417"/>
            <a:chExt cx="3415412" cy="47232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82CBF11-A61E-F845-0FBC-7EE524E3441D}"/>
                </a:ext>
              </a:extLst>
            </p:cNvPr>
            <p:cNvSpPr/>
            <p:nvPr/>
          </p:nvSpPr>
          <p:spPr>
            <a:xfrm>
              <a:off x="222693" y="779417"/>
              <a:ext cx="3415412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136509"/>
                <a:satOff val="-26669"/>
                <a:lumOff val="13576"/>
                <a:alphaOff val="0"/>
              </a:schemeClr>
            </a:fillRef>
            <a:effectRef idx="0">
              <a:schemeClr val="accent1">
                <a:shade val="80000"/>
                <a:hueOff val="136509"/>
                <a:satOff val="-26669"/>
                <a:lumOff val="1357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FD57BFA1-A56B-B6A1-0ADA-1BD947B876E6}"/>
                </a:ext>
              </a:extLst>
            </p:cNvPr>
            <p:cNvSpPr txBox="1"/>
            <p:nvPr/>
          </p:nvSpPr>
          <p:spPr>
            <a:xfrm>
              <a:off x="245750" y="802474"/>
              <a:ext cx="3369298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2200" b="1" kern="1200" dirty="0" err="1"/>
                <a:t>xmvlog</a:t>
              </a:r>
              <a:r>
                <a:rPr lang="en-US" altLang="ko-KR" sz="2200" kern="1200" dirty="0"/>
                <a:t> : </a:t>
              </a:r>
              <a:r>
                <a:rPr lang="en-US" altLang="ko-KR" sz="1800" kern="1200" dirty="0"/>
                <a:t>compile source file</a:t>
              </a:r>
              <a:endParaRPr lang="ko-KR" altLang="en-US" sz="18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2AF78B-9EE9-A774-B267-56B23C3C5A73}"/>
              </a:ext>
            </a:extLst>
          </p:cNvPr>
          <p:cNvGrpSpPr/>
          <p:nvPr/>
        </p:nvGrpSpPr>
        <p:grpSpPr>
          <a:xfrm>
            <a:off x="6370375" y="3918600"/>
            <a:ext cx="3698031" cy="472320"/>
            <a:chOff x="222693" y="1505177"/>
            <a:chExt cx="3698031" cy="47232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65C8912-019D-142D-511B-1F0884C93671}"/>
                </a:ext>
              </a:extLst>
            </p:cNvPr>
            <p:cNvSpPr/>
            <p:nvPr/>
          </p:nvSpPr>
          <p:spPr>
            <a:xfrm>
              <a:off x="222693" y="1505177"/>
              <a:ext cx="3698031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273019"/>
                <a:satOff val="-53337"/>
                <a:lumOff val="27151"/>
                <a:alphaOff val="0"/>
              </a:schemeClr>
            </a:fillRef>
            <a:effectRef idx="0">
              <a:schemeClr val="accent1">
                <a:shade val="80000"/>
                <a:hueOff val="273019"/>
                <a:satOff val="-53337"/>
                <a:lumOff val="2715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: Rounded Corners 6">
              <a:extLst>
                <a:ext uri="{FF2B5EF4-FFF2-40B4-BE49-F238E27FC236}">
                  <a16:creationId xmlns:a16="http://schemas.microsoft.com/office/drawing/2014/main" id="{25428637-FDDA-AAC2-BCDC-3A6EC0DF7A52}"/>
                </a:ext>
              </a:extLst>
            </p:cNvPr>
            <p:cNvSpPr txBox="1"/>
            <p:nvPr/>
          </p:nvSpPr>
          <p:spPr>
            <a:xfrm>
              <a:off x="245750" y="1528234"/>
              <a:ext cx="3651917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2200" b="1" kern="1200" dirty="0" err="1"/>
                <a:t>xmelab</a:t>
              </a:r>
              <a:r>
                <a:rPr lang="en-US" altLang="ko-KR" sz="2200" kern="1200" dirty="0"/>
                <a:t>: </a:t>
              </a:r>
              <a:r>
                <a:rPr lang="en-US" altLang="ko-KR" sz="1800" kern="1200" dirty="0"/>
                <a:t>elaborate the design</a:t>
              </a:r>
              <a:endParaRPr lang="ko-KR" altLang="en-US" sz="1800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A8EE3-E326-58C7-1E94-3B4DBFD38CB5}"/>
              </a:ext>
            </a:extLst>
          </p:cNvPr>
          <p:cNvGrpSpPr/>
          <p:nvPr/>
        </p:nvGrpSpPr>
        <p:grpSpPr>
          <a:xfrm>
            <a:off x="6370375" y="4644359"/>
            <a:ext cx="4074619" cy="472320"/>
            <a:chOff x="222693" y="2230936"/>
            <a:chExt cx="4074619" cy="47232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A5ECE85-645D-A9D6-B77F-FAD7D95D26E4}"/>
                </a:ext>
              </a:extLst>
            </p:cNvPr>
            <p:cNvSpPr/>
            <p:nvPr/>
          </p:nvSpPr>
          <p:spPr>
            <a:xfrm>
              <a:off x="222693" y="2230936"/>
              <a:ext cx="4074619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fillRef>
            <a:effectRef idx="0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8">
              <a:extLst>
                <a:ext uri="{FF2B5EF4-FFF2-40B4-BE49-F238E27FC236}">
                  <a16:creationId xmlns:a16="http://schemas.microsoft.com/office/drawing/2014/main" id="{8F8C613D-9BAB-9A05-B265-CDE8FDDCF811}"/>
                </a:ext>
              </a:extLst>
            </p:cNvPr>
            <p:cNvSpPr txBox="1"/>
            <p:nvPr/>
          </p:nvSpPr>
          <p:spPr>
            <a:xfrm>
              <a:off x="245750" y="2253993"/>
              <a:ext cx="4028505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2200" b="1" kern="1200" dirty="0" err="1"/>
                <a:t>xmsim</a:t>
              </a:r>
              <a:r>
                <a:rPr lang="en-US" altLang="ko-KR" sz="2200" kern="1200" dirty="0"/>
                <a:t>: </a:t>
              </a:r>
              <a:r>
                <a:rPr lang="en-US" altLang="ko-KR" sz="1800" kern="1200" dirty="0"/>
                <a:t>start simulation</a:t>
              </a:r>
              <a:endParaRPr lang="ko-KR" altLang="en-US" sz="1800" kern="1200" dirty="0"/>
            </a:p>
          </p:txBody>
        </p:sp>
      </p:grp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2697FB2-B27B-2350-748C-85A2779F34A9}"/>
              </a:ext>
            </a:extLst>
          </p:cNvPr>
          <p:cNvCxnSpPr>
            <a:stCxn id="6" idx="3"/>
          </p:cNvCxnSpPr>
          <p:nvPr/>
        </p:nvCxnSpPr>
        <p:spPr>
          <a:xfrm>
            <a:off x="4766547" y="3036013"/>
            <a:ext cx="1408222" cy="9709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CFBF531C-321A-019C-5E3E-BFB75071D83F}"/>
              </a:ext>
            </a:extLst>
          </p:cNvPr>
          <p:cNvCxnSpPr>
            <a:stCxn id="7" idx="3"/>
          </p:cNvCxnSpPr>
          <p:nvPr/>
        </p:nvCxnSpPr>
        <p:spPr>
          <a:xfrm flipV="1">
            <a:off x="4766547" y="4367863"/>
            <a:ext cx="1408222" cy="8241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FEEC98-20A6-C355-3087-0989E51440CB}"/>
              </a:ext>
            </a:extLst>
          </p:cNvPr>
          <p:cNvSpPr txBox="1"/>
          <p:nvPr/>
        </p:nvSpPr>
        <p:spPr>
          <a:xfrm>
            <a:off x="5218663" y="2416180"/>
            <a:ext cx="2497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Referenced</a:t>
            </a:r>
            <a:r>
              <a:rPr lang="ko-KR" altLang="en-US" sz="1400" b="1" i="1" dirty="0"/>
              <a:t> </a:t>
            </a:r>
            <a:r>
              <a:rPr lang="en-US" altLang="ko-KR" sz="1400" b="1" i="1" dirty="0"/>
              <a:t>in</a:t>
            </a:r>
            <a:r>
              <a:rPr lang="ko-KR" altLang="en-US" sz="1400" b="1" i="1" dirty="0"/>
              <a:t> </a:t>
            </a:r>
            <a:r>
              <a:rPr lang="en-US" altLang="ko-KR" sz="1400" b="1" i="1" dirty="0"/>
              <a:t>each</a:t>
            </a:r>
            <a:r>
              <a:rPr lang="ko-KR" altLang="en-US" sz="1400" b="1" i="1" dirty="0"/>
              <a:t> </a:t>
            </a:r>
            <a:r>
              <a:rPr lang="en-US" altLang="ko-KR" sz="1400" b="1" i="1" dirty="0"/>
              <a:t>step as environmental files</a:t>
            </a:r>
            <a:endParaRPr lang="ko-KR" altLang="en-US" sz="1400" b="1" i="1" dirty="0"/>
          </a:p>
        </p:txBody>
      </p:sp>
    </p:spTree>
    <p:extLst>
      <p:ext uri="{BB962C8B-B14F-4D97-AF65-F5344CB8AC3E}">
        <p14:creationId xmlns:p14="http://schemas.microsoft.com/office/powerpoint/2010/main" val="222416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0758-1D9D-C7D3-63D8-6A9F8D1056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Simulation(Compile)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9F27F7-B008-60F3-4151-2516709166E1}"/>
              </a:ext>
            </a:extLst>
          </p:cNvPr>
          <p:cNvGrpSpPr/>
          <p:nvPr/>
        </p:nvGrpSpPr>
        <p:grpSpPr>
          <a:xfrm>
            <a:off x="627121" y="1435959"/>
            <a:ext cx="3415412" cy="472320"/>
            <a:chOff x="222693" y="779417"/>
            <a:chExt cx="3415412" cy="472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FFD14EB-D744-136D-7700-90FD51947F72}"/>
                </a:ext>
              </a:extLst>
            </p:cNvPr>
            <p:cNvSpPr/>
            <p:nvPr/>
          </p:nvSpPr>
          <p:spPr>
            <a:xfrm>
              <a:off x="222693" y="779417"/>
              <a:ext cx="3415412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136509"/>
                <a:satOff val="-26669"/>
                <a:lumOff val="13576"/>
                <a:alphaOff val="0"/>
              </a:schemeClr>
            </a:fillRef>
            <a:effectRef idx="0">
              <a:schemeClr val="accent1">
                <a:shade val="80000"/>
                <a:hueOff val="136509"/>
                <a:satOff val="-26669"/>
                <a:lumOff val="1357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3A877076-BA75-4E01-10D5-69662FC99C8A}"/>
                </a:ext>
              </a:extLst>
            </p:cNvPr>
            <p:cNvSpPr txBox="1"/>
            <p:nvPr/>
          </p:nvSpPr>
          <p:spPr>
            <a:xfrm>
              <a:off x="245750" y="802474"/>
              <a:ext cx="3369298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400" b="1" kern="1200" dirty="0" err="1"/>
                <a:t>xmvlog</a:t>
              </a:r>
              <a:r>
                <a:rPr lang="en-US" altLang="ko-KR" sz="1400" kern="1200" dirty="0"/>
                <a:t> : compile source file</a:t>
              </a:r>
              <a:endParaRPr lang="ko-KR" altLang="en-US" sz="1400" kern="12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8F6BACE-511A-78BD-DBAB-97F316E5DB4C}"/>
              </a:ext>
            </a:extLst>
          </p:cNvPr>
          <p:cNvSpPr/>
          <p:nvPr/>
        </p:nvSpPr>
        <p:spPr>
          <a:xfrm>
            <a:off x="718924" y="3200546"/>
            <a:ext cx="4212405" cy="174917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-message OR –MESS: compile </a:t>
            </a:r>
            <a:r>
              <a:rPr lang="ko-KR" altLang="en-US" sz="1600" dirty="0"/>
              <a:t>진행과정</a:t>
            </a:r>
            <a:r>
              <a:rPr lang="en-US" altLang="ko-KR" sz="1600" dirty="0"/>
              <a:t>/</a:t>
            </a:r>
            <a:r>
              <a:rPr lang="ko-KR" altLang="en-US" sz="1600" dirty="0"/>
              <a:t>결과를 모듈별로 출력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</a:t>
            </a:r>
            <a:r>
              <a:rPr lang="en-US" sz="1600" dirty="0" err="1"/>
              <a:t>linedebug</a:t>
            </a:r>
            <a:r>
              <a:rPr lang="en-US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 err="1"/>
              <a:t>verilog</a:t>
            </a:r>
            <a:r>
              <a:rPr lang="ko-KR" altLang="en-US" sz="1600" dirty="0"/>
              <a:t> 코드에 </a:t>
            </a:r>
            <a:r>
              <a:rPr lang="en-US" altLang="ko-KR" sz="1600" dirty="0"/>
              <a:t>breakpoint</a:t>
            </a:r>
            <a:r>
              <a:rPr lang="ko-KR" altLang="en-US" sz="1600" dirty="0"/>
              <a:t>를 적용하여 </a:t>
            </a:r>
            <a:r>
              <a:rPr lang="en-US" altLang="ko-KR" sz="1600" dirty="0"/>
              <a:t>code line</a:t>
            </a:r>
            <a:r>
              <a:rPr lang="ko-KR" altLang="en-US" sz="1600" dirty="0"/>
              <a:t>별로 </a:t>
            </a:r>
            <a:r>
              <a:rPr lang="en-US" altLang="ko-KR" sz="1600" dirty="0"/>
              <a:t>debugging</a:t>
            </a:r>
            <a:r>
              <a:rPr lang="ko-KR" altLang="en-US" sz="1600" dirty="0"/>
              <a:t>을 수행할 수 있도록 함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5E4B3E-676B-650C-B966-64CE3DFADF73}"/>
              </a:ext>
            </a:extLst>
          </p:cNvPr>
          <p:cNvSpPr/>
          <p:nvPr/>
        </p:nvSpPr>
        <p:spPr>
          <a:xfrm>
            <a:off x="706542" y="2217505"/>
            <a:ext cx="4212405" cy="47232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$ </a:t>
            </a:r>
            <a:r>
              <a:rPr lang="en-US" sz="1600" dirty="0" err="1"/>
              <a:t>xmlvog</a:t>
            </a:r>
            <a:r>
              <a:rPr lang="en-US" sz="1600" dirty="0"/>
              <a:t> –message –</a:t>
            </a:r>
            <a:r>
              <a:rPr lang="en-US" sz="1600" dirty="0" err="1"/>
              <a:t>linedebug</a:t>
            </a:r>
            <a:r>
              <a:rPr lang="en-US" sz="1600" dirty="0"/>
              <a:t> </a:t>
            </a:r>
            <a:r>
              <a:rPr lang="en-US" sz="1600" dirty="0" err="1"/>
              <a:t>mux.v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2B72A9-1F56-7417-EE07-74E2208F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206" y="2196361"/>
            <a:ext cx="6534364" cy="962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18E7AA-A33A-F013-481F-F067C22D1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206" y="3526823"/>
            <a:ext cx="6534364" cy="962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BC7869-6326-57A9-B7B3-BA17A9936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206" y="5062768"/>
            <a:ext cx="6534364" cy="809738"/>
          </a:xfrm>
          <a:prstGeom prst="rect">
            <a:avLst/>
          </a:prstGeom>
        </p:spPr>
      </p:pic>
      <p:sp>
        <p:nvSpPr>
          <p:cNvPr id="18" name="Arrow: Down 17">
            <a:extLst>
              <a:ext uri="{FF2B5EF4-FFF2-40B4-BE49-F238E27FC236}">
                <a16:creationId xmlns:a16="http://schemas.microsoft.com/office/drawing/2014/main" id="{E5B9A9F0-586D-8891-2EC4-48D91B284CDF}"/>
              </a:ext>
            </a:extLst>
          </p:cNvPr>
          <p:cNvSpPr/>
          <p:nvPr/>
        </p:nvSpPr>
        <p:spPr>
          <a:xfrm>
            <a:off x="8119518" y="4585803"/>
            <a:ext cx="369870" cy="38014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0A4635-2E2C-4470-FA08-A75A46686098}"/>
              </a:ext>
            </a:extLst>
          </p:cNvPr>
          <p:cNvSpPr/>
          <p:nvPr/>
        </p:nvSpPr>
        <p:spPr>
          <a:xfrm>
            <a:off x="703165" y="5467144"/>
            <a:ext cx="4212405" cy="67680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L.C:V</a:t>
            </a:r>
          </a:p>
          <a:p>
            <a:r>
              <a:rPr lang="en-US" sz="1600" dirty="0" err="1"/>
              <a:t>Library.Cell:View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7ED41F-8659-D965-9FCF-F725A93A6E1D}"/>
              </a:ext>
            </a:extLst>
          </p:cNvPr>
          <p:cNvSpPr txBox="1"/>
          <p:nvPr/>
        </p:nvSpPr>
        <p:spPr>
          <a:xfrm>
            <a:off x="8695056" y="4775875"/>
            <a:ext cx="2497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dirty="0"/>
              <a:t>$ </a:t>
            </a:r>
            <a:r>
              <a:rPr lang="en-US" altLang="ko-KR" sz="1400" b="1" i="1" dirty="0" err="1"/>
              <a:t>xmls</a:t>
            </a:r>
            <a:r>
              <a:rPr lang="en-US" altLang="ko-KR" sz="1400" b="1" i="1" dirty="0"/>
              <a:t> –all: Compile</a:t>
            </a:r>
            <a:r>
              <a:rPr lang="ko-KR" altLang="en-US" sz="1400" b="1" i="1" dirty="0"/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06640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9CA4-6E84-F816-5323-12E3479156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Simulation(Elaboration)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831225-BF69-E9CD-2C54-91F1444842BE}"/>
              </a:ext>
            </a:extLst>
          </p:cNvPr>
          <p:cNvGrpSpPr/>
          <p:nvPr/>
        </p:nvGrpSpPr>
        <p:grpSpPr>
          <a:xfrm>
            <a:off x="544928" y="1308964"/>
            <a:ext cx="3698031" cy="472320"/>
            <a:chOff x="222693" y="1505177"/>
            <a:chExt cx="3698031" cy="4723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7228A70-D443-EB0E-28BF-E689F3BC6D8A}"/>
                </a:ext>
              </a:extLst>
            </p:cNvPr>
            <p:cNvSpPr/>
            <p:nvPr/>
          </p:nvSpPr>
          <p:spPr>
            <a:xfrm>
              <a:off x="222693" y="1505177"/>
              <a:ext cx="3698031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273019"/>
                <a:satOff val="-53337"/>
                <a:lumOff val="27151"/>
                <a:alphaOff val="0"/>
              </a:schemeClr>
            </a:fillRef>
            <a:effectRef idx="0">
              <a:schemeClr val="accent1">
                <a:shade val="80000"/>
                <a:hueOff val="273019"/>
                <a:satOff val="-53337"/>
                <a:lumOff val="2715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: Rounded Corners 6">
              <a:extLst>
                <a:ext uri="{FF2B5EF4-FFF2-40B4-BE49-F238E27FC236}">
                  <a16:creationId xmlns:a16="http://schemas.microsoft.com/office/drawing/2014/main" id="{7EAFA026-C685-056B-EC50-AEE553CBB8FC}"/>
                </a:ext>
              </a:extLst>
            </p:cNvPr>
            <p:cNvSpPr txBox="1"/>
            <p:nvPr/>
          </p:nvSpPr>
          <p:spPr>
            <a:xfrm>
              <a:off x="245750" y="1528234"/>
              <a:ext cx="3651917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400" b="1" kern="1200" dirty="0" err="1"/>
                <a:t>xmelab</a:t>
              </a:r>
              <a:r>
                <a:rPr lang="en-US" altLang="ko-KR" sz="1400" kern="1200" dirty="0"/>
                <a:t>: elaborate the design</a:t>
              </a:r>
              <a:endParaRPr lang="ko-KR" altLang="en-US" sz="1400" kern="120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669B972-DE6F-A27D-EF54-F45791B56F21}"/>
              </a:ext>
            </a:extLst>
          </p:cNvPr>
          <p:cNvSpPr/>
          <p:nvPr/>
        </p:nvSpPr>
        <p:spPr>
          <a:xfrm>
            <a:off x="544928" y="2085312"/>
            <a:ext cx="4212405" cy="63981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$ </a:t>
            </a:r>
            <a:r>
              <a:rPr lang="en-US" sz="1600" dirty="0" err="1"/>
              <a:t>xmelab</a:t>
            </a:r>
            <a:r>
              <a:rPr lang="en-US" sz="1600" dirty="0"/>
              <a:t> –message –access RWC </a:t>
            </a:r>
            <a:r>
              <a:rPr lang="en-US" sz="1600" dirty="0" err="1"/>
              <a:t>mux_test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07158-3867-62EC-F3DD-2A0CF5B64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100" y="1308964"/>
            <a:ext cx="5798441" cy="26979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864BE8-DD1F-9C61-F339-2ACB566CC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100" y="4312538"/>
            <a:ext cx="5838771" cy="14820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F3F381A-9444-EDDC-C0A7-B4D86C214A82}"/>
              </a:ext>
            </a:extLst>
          </p:cNvPr>
          <p:cNvSpPr/>
          <p:nvPr/>
        </p:nvSpPr>
        <p:spPr>
          <a:xfrm>
            <a:off x="544927" y="3132333"/>
            <a:ext cx="4212405" cy="174917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-message OR –MESS: compile </a:t>
            </a:r>
            <a:r>
              <a:rPr lang="ko-KR" altLang="en-US" sz="1600" dirty="0"/>
              <a:t>진행과정</a:t>
            </a:r>
            <a:r>
              <a:rPr lang="en-US" altLang="ko-KR" sz="1600" dirty="0"/>
              <a:t>/</a:t>
            </a:r>
            <a:r>
              <a:rPr lang="ko-KR" altLang="en-US" sz="1600" dirty="0"/>
              <a:t>결과를 모듈별로 출력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-access RWC: compile</a:t>
            </a:r>
            <a:r>
              <a:rPr lang="ko-KR" altLang="en-US" sz="1600" dirty="0"/>
              <a:t>된 </a:t>
            </a:r>
            <a:r>
              <a:rPr lang="en-US" altLang="ko-KR" sz="1600" dirty="0" err="1"/>
              <a:t>verilog</a:t>
            </a:r>
            <a:r>
              <a:rPr lang="ko-KR" altLang="en-US" sz="1600" dirty="0"/>
              <a:t>파일에 </a:t>
            </a:r>
            <a:r>
              <a:rPr lang="en-US" altLang="ko-KR" sz="1600" dirty="0"/>
              <a:t>RWC</a:t>
            </a:r>
            <a:r>
              <a:rPr lang="ko-KR" altLang="en-US" sz="1600" dirty="0"/>
              <a:t>권한을 부여하여 파형을 확인할 수 있도록 함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2798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6844-87D9-2B0A-EB8C-CD70504AC52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Simulation(Simulation: no-</a:t>
            </a:r>
            <a:r>
              <a:rPr lang="en-US" altLang="ko-KR" dirty="0" err="1"/>
              <a:t>gui</a:t>
            </a:r>
            <a:r>
              <a:rPr lang="en-US" altLang="ko-KR" dirty="0"/>
              <a:t>)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B6353E-1C3F-CFC3-4714-1A651E20F0DD}"/>
              </a:ext>
            </a:extLst>
          </p:cNvPr>
          <p:cNvGrpSpPr/>
          <p:nvPr/>
        </p:nvGrpSpPr>
        <p:grpSpPr>
          <a:xfrm>
            <a:off x="446313" y="1212791"/>
            <a:ext cx="4074619" cy="472320"/>
            <a:chOff x="222693" y="2230936"/>
            <a:chExt cx="4074619" cy="4723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FC15331-9ED4-58D9-126C-29BDA91F0ECB}"/>
                </a:ext>
              </a:extLst>
            </p:cNvPr>
            <p:cNvSpPr/>
            <p:nvPr/>
          </p:nvSpPr>
          <p:spPr>
            <a:xfrm>
              <a:off x="222693" y="2230936"/>
              <a:ext cx="4074619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fillRef>
            <a:effectRef idx="0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Rectangle: Rounded Corners 8">
              <a:extLst>
                <a:ext uri="{FF2B5EF4-FFF2-40B4-BE49-F238E27FC236}">
                  <a16:creationId xmlns:a16="http://schemas.microsoft.com/office/drawing/2014/main" id="{C5E341F2-2E18-100F-2B39-60F5A5BF2305}"/>
                </a:ext>
              </a:extLst>
            </p:cNvPr>
            <p:cNvSpPr txBox="1"/>
            <p:nvPr/>
          </p:nvSpPr>
          <p:spPr>
            <a:xfrm>
              <a:off x="245750" y="2253993"/>
              <a:ext cx="4028505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400" b="1" kern="1200" dirty="0" err="1"/>
                <a:t>xmsim</a:t>
              </a:r>
              <a:r>
                <a:rPr lang="en-US" altLang="ko-KR" sz="1400" kern="1200" dirty="0"/>
                <a:t>: start simulation</a:t>
              </a:r>
              <a:endParaRPr lang="ko-KR" altLang="en-US" sz="1400" kern="120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F5A8D29-4187-BC6B-EAFA-498DFBC05128}"/>
              </a:ext>
            </a:extLst>
          </p:cNvPr>
          <p:cNvSpPr/>
          <p:nvPr/>
        </p:nvSpPr>
        <p:spPr>
          <a:xfrm>
            <a:off x="446313" y="1892966"/>
            <a:ext cx="4212405" cy="47232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$ </a:t>
            </a:r>
            <a:r>
              <a:rPr lang="en-US" sz="1600" dirty="0" err="1"/>
              <a:t>xmsim</a:t>
            </a:r>
            <a:r>
              <a:rPr lang="en-US" sz="1600" dirty="0"/>
              <a:t> –message </a:t>
            </a:r>
            <a:r>
              <a:rPr lang="en-US" sz="1600" dirty="0" err="1"/>
              <a:t>mux_test</a:t>
            </a:r>
            <a:r>
              <a:rPr lang="en-US" sz="1600" dirty="0"/>
              <a:t> -</a:t>
            </a:r>
            <a:r>
              <a:rPr lang="en-US" sz="1600" dirty="0" err="1"/>
              <a:t>gui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E8DBE-CB3B-2666-300E-7463F8906238}"/>
              </a:ext>
            </a:extLst>
          </p:cNvPr>
          <p:cNvSpPr/>
          <p:nvPr/>
        </p:nvSpPr>
        <p:spPr>
          <a:xfrm>
            <a:off x="446313" y="2743539"/>
            <a:ext cx="4212405" cy="1749176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-message OR –MESS: compile </a:t>
            </a:r>
            <a:r>
              <a:rPr lang="ko-KR" altLang="en-US" sz="1600" dirty="0"/>
              <a:t>진행과정</a:t>
            </a:r>
            <a:r>
              <a:rPr lang="en-US" altLang="ko-KR" sz="1600" dirty="0"/>
              <a:t>/</a:t>
            </a:r>
            <a:r>
              <a:rPr lang="ko-KR" altLang="en-US" sz="1600" dirty="0"/>
              <a:t>결과를 모듈별로 출력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-</a:t>
            </a:r>
            <a:r>
              <a:rPr lang="en-US" sz="1600" dirty="0" err="1"/>
              <a:t>gui</a:t>
            </a:r>
            <a:r>
              <a:rPr lang="en-US" sz="1600" dirty="0"/>
              <a:t>: </a:t>
            </a:r>
            <a:r>
              <a:rPr lang="en-US" sz="1600" dirty="0" err="1"/>
              <a:t>gui</a:t>
            </a:r>
            <a:r>
              <a:rPr lang="ko-KR" altLang="en-US" sz="1600" dirty="0"/>
              <a:t> </a:t>
            </a:r>
            <a:r>
              <a:rPr lang="en-US" altLang="ko-KR" sz="1600" dirty="0"/>
              <a:t>tool(</a:t>
            </a:r>
            <a:r>
              <a:rPr lang="en-US" altLang="ko-KR" sz="1600" dirty="0" err="1"/>
              <a:t>simvision</a:t>
            </a:r>
            <a:r>
              <a:rPr lang="en-US" altLang="ko-KR" sz="1600" dirty="0"/>
              <a:t>)</a:t>
            </a:r>
            <a:r>
              <a:rPr lang="ko-KR" altLang="en-US" sz="1600" dirty="0"/>
              <a:t>을 구동함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170556-FFD8-18A2-8DC8-361E92F00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086" y="2365286"/>
            <a:ext cx="6868484" cy="17242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D9425C-64F9-470D-5E31-80750086D5C3}"/>
              </a:ext>
            </a:extLst>
          </p:cNvPr>
          <p:cNvSpPr txBox="1"/>
          <p:nvPr/>
        </p:nvSpPr>
        <p:spPr>
          <a:xfrm>
            <a:off x="6907352" y="4184938"/>
            <a:ext cx="2497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dirty="0" err="1"/>
              <a:t>xmsim</a:t>
            </a:r>
            <a:r>
              <a:rPr lang="en-US" altLang="ko-KR" sz="1400" b="1" i="1" dirty="0"/>
              <a:t>: no-</a:t>
            </a:r>
            <a:r>
              <a:rPr lang="en-US" altLang="ko-KR" sz="1400" b="1" i="1" dirty="0" err="1"/>
              <a:t>gui</a:t>
            </a:r>
            <a:r>
              <a:rPr lang="en-US" altLang="ko-KR" sz="1400" b="1" i="1" dirty="0"/>
              <a:t> mode</a:t>
            </a:r>
          </a:p>
          <a:p>
            <a:endParaRPr lang="ko-KR" altLang="en-US" sz="1400" b="1" i="1" dirty="0"/>
          </a:p>
        </p:txBody>
      </p:sp>
    </p:spTree>
    <p:extLst>
      <p:ext uri="{BB962C8B-B14F-4D97-AF65-F5344CB8AC3E}">
        <p14:creationId xmlns:p14="http://schemas.microsoft.com/office/powerpoint/2010/main" val="2579085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E45FF-E8D6-C6AC-C3E8-04D26C3472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Simulation(Simulation: </a:t>
            </a:r>
            <a:r>
              <a:rPr lang="en-US" altLang="ko-KR" dirty="0" err="1"/>
              <a:t>gui</a:t>
            </a:r>
            <a:r>
              <a:rPr lang="en-US" altLang="ko-KR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CAEE8-3041-4D6C-52DA-DF9797828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06" y="1186193"/>
            <a:ext cx="9527625" cy="448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7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85EF-9648-3B1B-F798-FFF39EC002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Multi-step</a:t>
            </a:r>
            <a:r>
              <a:rPr lang="ko-KR" altLang="en-US" dirty="0"/>
              <a:t> </a:t>
            </a:r>
            <a:r>
              <a:rPr lang="en-US" altLang="ko-KR" dirty="0"/>
              <a:t>Simulation(</a:t>
            </a:r>
            <a:r>
              <a:rPr lang="en-US" altLang="ko-KR" dirty="0" err="1"/>
              <a:t>Simulation:PPE</a:t>
            </a:r>
            <a:r>
              <a:rPr lang="en-US" altLang="ko-KR" dirty="0"/>
              <a:t>)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FEDF14-C733-F9C2-EFD9-F2BAD0DD4F37}"/>
              </a:ext>
            </a:extLst>
          </p:cNvPr>
          <p:cNvGrpSpPr/>
          <p:nvPr/>
        </p:nvGrpSpPr>
        <p:grpSpPr>
          <a:xfrm>
            <a:off x="446313" y="1212791"/>
            <a:ext cx="4074619" cy="472320"/>
            <a:chOff x="222693" y="2230936"/>
            <a:chExt cx="4074619" cy="4723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79F4D6-2A3D-A397-A5C3-96B296C2E87B}"/>
                </a:ext>
              </a:extLst>
            </p:cNvPr>
            <p:cNvSpPr/>
            <p:nvPr/>
          </p:nvSpPr>
          <p:spPr>
            <a:xfrm>
              <a:off x="222693" y="2230936"/>
              <a:ext cx="4074619" cy="4723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fillRef>
            <a:effectRef idx="0">
              <a:schemeClr val="accent1">
                <a:shade val="80000"/>
                <a:hueOff val="409528"/>
                <a:satOff val="-80006"/>
                <a:lumOff val="4072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: Rounded Corners 8">
              <a:extLst>
                <a:ext uri="{FF2B5EF4-FFF2-40B4-BE49-F238E27FC236}">
                  <a16:creationId xmlns:a16="http://schemas.microsoft.com/office/drawing/2014/main" id="{0C2DCAA7-5264-B485-F087-18B27B289BB2}"/>
                </a:ext>
              </a:extLst>
            </p:cNvPr>
            <p:cNvSpPr txBox="1"/>
            <p:nvPr/>
          </p:nvSpPr>
          <p:spPr>
            <a:xfrm>
              <a:off x="245750" y="2253993"/>
              <a:ext cx="4028505" cy="426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7842" tIns="0" rIns="117842" bIns="0" numCol="1" spcCol="1270" anchor="ctr" anchorCtr="0">
              <a:noAutofit/>
            </a:bodyPr>
            <a:lstStyle/>
            <a:p>
              <a:pPr marL="0" lvl="0" indent="0" algn="l" defTabSz="9779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2200" b="1" dirty="0"/>
                <a:t>PPE</a:t>
              </a:r>
              <a:r>
                <a:rPr lang="en-US" altLang="ko-KR" sz="2200" kern="1200" dirty="0"/>
                <a:t>: </a:t>
              </a:r>
              <a:r>
                <a:rPr lang="en-US" altLang="ko-KR" dirty="0"/>
                <a:t>Post Processing Environment</a:t>
              </a:r>
              <a:endParaRPr lang="ko-KR" altLang="en-US" sz="1800" kern="12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BB83B19-3B2E-7CCB-BA87-5E03B4730510}"/>
              </a:ext>
            </a:extLst>
          </p:cNvPr>
          <p:cNvSpPr/>
          <p:nvPr/>
        </p:nvSpPr>
        <p:spPr>
          <a:xfrm>
            <a:off x="446313" y="1892966"/>
            <a:ext cx="4212405" cy="47232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$ </a:t>
            </a:r>
            <a:r>
              <a:rPr lang="en-US" sz="1600" dirty="0" err="1"/>
              <a:t>simvison</a:t>
            </a:r>
            <a:r>
              <a:rPr lang="en-US" sz="1600" dirty="0"/>
              <a:t> </a:t>
            </a:r>
            <a:r>
              <a:rPr lang="en-US" sz="1600" dirty="0" err="1"/>
              <a:t>waves.shm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995106-FBD7-0D24-1CC1-C562FBA168E0}"/>
              </a:ext>
            </a:extLst>
          </p:cNvPr>
          <p:cNvSpPr/>
          <p:nvPr/>
        </p:nvSpPr>
        <p:spPr>
          <a:xfrm>
            <a:off x="446312" y="2743538"/>
            <a:ext cx="4212405" cy="2232907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PPE</a:t>
            </a:r>
            <a:r>
              <a:rPr lang="ko-KR" altLang="en-US" sz="1600" dirty="0"/>
              <a:t>모드에서는 이미 완료된 </a:t>
            </a:r>
            <a:r>
              <a:rPr lang="en-US" altLang="ko-KR" sz="1600" dirty="0" err="1"/>
              <a:t>simulatio</a:t>
            </a:r>
            <a:r>
              <a:rPr lang="ko-KR" altLang="en-US" sz="1600" dirty="0"/>
              <a:t>결과에 대해 파형을 관찰하는 경우에 사용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이미 생성된 </a:t>
            </a:r>
            <a:r>
              <a:rPr lang="en-US" altLang="ko-KR" sz="1600" dirty="0" err="1"/>
              <a:t>waves.shm</a:t>
            </a:r>
            <a:r>
              <a:rPr lang="en-US" altLang="ko-KR" sz="1600" dirty="0"/>
              <a:t> database</a:t>
            </a:r>
            <a:r>
              <a:rPr lang="ko-KR" altLang="en-US" sz="1600" dirty="0"/>
              <a:t>에 </a:t>
            </a:r>
            <a:r>
              <a:rPr lang="en-US" altLang="ko-KR" sz="1600" dirty="0"/>
              <a:t>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*.</a:t>
            </a:r>
            <a:r>
              <a:rPr lang="en-US" sz="1600" dirty="0" err="1"/>
              <a:t>shm</a:t>
            </a:r>
            <a:r>
              <a:rPr lang="en-US" sz="1600" dirty="0"/>
              <a:t> : Cadence</a:t>
            </a:r>
            <a:r>
              <a:rPr lang="ko-KR" altLang="en-US" sz="1600" dirty="0"/>
              <a:t>사 고유의 </a:t>
            </a:r>
            <a:r>
              <a:rPr lang="en-US" altLang="ko-KR" sz="1600" dirty="0"/>
              <a:t>waveform format(cf. .</a:t>
            </a:r>
            <a:r>
              <a:rPr lang="en-US" altLang="ko-KR" sz="1600" dirty="0" err="1"/>
              <a:t>fsdb</a:t>
            </a:r>
            <a:r>
              <a:rPr lang="en-US" altLang="ko-KR" sz="1600" dirty="0"/>
              <a:t> : Synopsys</a:t>
            </a:r>
            <a:r>
              <a:rPr lang="ko-KR" altLang="en-US" sz="1600" dirty="0"/>
              <a:t>사의 </a:t>
            </a:r>
            <a:r>
              <a:rPr lang="en-US" altLang="ko-KR" sz="1600" dirty="0"/>
              <a:t>format)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64D3F-29D0-CF68-96D2-B82322A6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667" y="1212791"/>
            <a:ext cx="6447647" cy="600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B9283B-61C3-5325-3D9E-64641DF2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667" y="2437346"/>
            <a:ext cx="6447647" cy="3810202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57B8F455-1871-9649-64DF-0A264262DFC3}"/>
              </a:ext>
            </a:extLst>
          </p:cNvPr>
          <p:cNvSpPr/>
          <p:nvPr/>
        </p:nvSpPr>
        <p:spPr>
          <a:xfrm>
            <a:off x="7995555" y="2020805"/>
            <a:ext cx="369870" cy="380144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5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 Dump File Simulation</a:t>
            </a:r>
          </a:p>
        </p:txBody>
      </p:sp>
    </p:spTree>
    <p:extLst>
      <p:ext uri="{BB962C8B-B14F-4D97-AF65-F5344CB8AC3E}">
        <p14:creationId xmlns:p14="http://schemas.microsoft.com/office/powerpoint/2010/main" val="1662107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85EF-9648-3B1B-F798-FFF39EC002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VCD Dump</a:t>
            </a: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3D10D8B-DD5F-488D-A5CE-D19562074EFB}"/>
              </a:ext>
            </a:extLst>
          </p:cNvPr>
          <p:cNvSpPr txBox="1">
            <a:spLocks/>
          </p:cNvSpPr>
          <p:nvPr/>
        </p:nvSpPr>
        <p:spPr>
          <a:xfrm>
            <a:off x="579930" y="1292298"/>
            <a:ext cx="4968015" cy="2347717"/>
          </a:xfrm>
          <a:prstGeom prst="rect">
            <a:avLst/>
          </a:prstGeom>
        </p:spPr>
        <p:txBody>
          <a:bodyPr/>
          <a:lstStyle>
            <a:lvl1pPr marL="346075" indent="-288925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38188" indent="-280988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Courier New" panose="02070309020205020404" pitchFamily="49" charset="0"/>
              <a:buChar char="o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Rubik Light" panose="00000400000000000000" pitchFamily="2" charset="-79"/>
              <a:buChar char="–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52588" indent="-280988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701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VCD(Value Change Dump)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IEEE</a:t>
            </a:r>
            <a:r>
              <a:rPr lang="ko-KR" altLang="en-US" dirty="0"/>
              <a:t>에서 지원하는 </a:t>
            </a:r>
            <a:r>
              <a:rPr lang="en-US" altLang="ko-KR" dirty="0"/>
              <a:t>ASCII </a:t>
            </a:r>
            <a:r>
              <a:rPr lang="ko-KR" altLang="en-US" dirty="0"/>
              <a:t>기반의 </a:t>
            </a:r>
            <a:r>
              <a:rPr lang="en-US" altLang="ko-KR" dirty="0"/>
              <a:t>waveform standard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*.</a:t>
            </a:r>
            <a:r>
              <a:rPr lang="en-US" altLang="ko-KR" dirty="0" err="1"/>
              <a:t>shm</a:t>
            </a:r>
            <a:r>
              <a:rPr lang="en-US" altLang="ko-KR" dirty="0"/>
              <a:t>(Cadence), *.</a:t>
            </a:r>
            <a:r>
              <a:rPr lang="en-US" altLang="ko-KR" dirty="0" err="1"/>
              <a:t>fsdb</a:t>
            </a:r>
            <a:r>
              <a:rPr lang="en-US" altLang="ko-KR" dirty="0"/>
              <a:t>(Synopsys)</a:t>
            </a:r>
            <a:r>
              <a:rPr lang="ko-KR" altLang="en-US" dirty="0"/>
              <a:t>와 달리 대부분의 </a:t>
            </a:r>
            <a:r>
              <a:rPr lang="en-US" altLang="ko-KR" dirty="0"/>
              <a:t>Simulator</a:t>
            </a:r>
            <a:r>
              <a:rPr lang="ko-KR" altLang="en-US" dirty="0"/>
              <a:t>에서 지원</a:t>
            </a:r>
            <a:r>
              <a:rPr lang="en-US" altLang="ko-KR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27EE4-8942-4246-A254-19FD2D6B0492}"/>
              </a:ext>
            </a:extLst>
          </p:cNvPr>
          <p:cNvSpPr/>
          <p:nvPr/>
        </p:nvSpPr>
        <p:spPr>
          <a:xfrm>
            <a:off x="659060" y="3640015"/>
            <a:ext cx="4590209" cy="2171700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Initial begin</a:t>
            </a:r>
          </a:p>
          <a:p>
            <a:r>
              <a:rPr lang="en-US" sz="1600" dirty="0"/>
              <a:t> $</a:t>
            </a:r>
            <a:r>
              <a:rPr lang="en-US" sz="1600" dirty="0" err="1"/>
              <a:t>dumpfile</a:t>
            </a:r>
            <a:r>
              <a:rPr lang="en-US" sz="1600" dirty="0"/>
              <a:t>(“./</a:t>
            </a:r>
            <a:r>
              <a:rPr lang="en-US" sz="1600" dirty="0" err="1"/>
              <a:t>name.vcd</a:t>
            </a:r>
            <a:r>
              <a:rPr lang="en-US" sz="1600" dirty="0"/>
              <a:t>”);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sz="1600" dirty="0"/>
              <a:t> $</a:t>
            </a:r>
            <a:r>
              <a:rPr lang="en-US" sz="1600" dirty="0" err="1"/>
              <a:t>dumpvars</a:t>
            </a:r>
            <a:r>
              <a:rPr lang="en-US" sz="1600" dirty="0"/>
              <a:t>(&lt;levels&gt;, &lt;</a:t>
            </a:r>
            <a:r>
              <a:rPr lang="en-US" sz="1600" dirty="0" err="1"/>
              <a:t>module_or_variables</a:t>
            </a:r>
            <a:r>
              <a:rPr lang="en-US" sz="1600" dirty="0"/>
              <a:t>&gt;</a:t>
            </a:r>
          </a:p>
          <a:p>
            <a:r>
              <a:rPr lang="en-US" sz="1600" dirty="0"/>
              <a:t>End</a:t>
            </a:r>
          </a:p>
          <a:p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F0"/>
                </a:solidFill>
              </a:rPr>
              <a:t>level 0: </a:t>
            </a:r>
            <a:r>
              <a:rPr lang="ko-KR" altLang="en-US" sz="1400" dirty="0">
                <a:solidFill>
                  <a:srgbClr val="00B0F0"/>
                </a:solidFill>
              </a:rPr>
              <a:t>하위 모든 </a:t>
            </a:r>
            <a:r>
              <a:rPr lang="en-US" altLang="ko-KR" sz="1400" dirty="0">
                <a:solidFill>
                  <a:srgbClr val="00B0F0"/>
                </a:solidFill>
              </a:rPr>
              <a:t>submodule</a:t>
            </a:r>
            <a:r>
              <a:rPr lang="ko-KR" altLang="en-US" sz="1400" dirty="0">
                <a:solidFill>
                  <a:srgbClr val="00B0F0"/>
                </a:solidFill>
              </a:rPr>
              <a:t>까지 </a:t>
            </a:r>
            <a:r>
              <a:rPr lang="en-US" altLang="ko-KR" sz="1400" dirty="0">
                <a:solidFill>
                  <a:srgbClr val="00B0F0"/>
                </a:solidFill>
              </a:rPr>
              <a:t>dump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F0"/>
                </a:solidFill>
              </a:rPr>
              <a:t>level 1: </a:t>
            </a:r>
            <a:r>
              <a:rPr lang="ko-KR" altLang="en-US" sz="1400" dirty="0">
                <a:solidFill>
                  <a:srgbClr val="00B0F0"/>
                </a:solidFill>
              </a:rPr>
              <a:t>지정된 </a:t>
            </a:r>
            <a:r>
              <a:rPr lang="en-US" altLang="ko-KR" sz="1400" dirty="0">
                <a:solidFill>
                  <a:srgbClr val="00B0F0"/>
                </a:solidFill>
              </a:rPr>
              <a:t>module</a:t>
            </a:r>
            <a:r>
              <a:rPr lang="ko-KR" altLang="en-US" sz="1400" dirty="0">
                <a:solidFill>
                  <a:srgbClr val="00B0F0"/>
                </a:solidFill>
              </a:rPr>
              <a:t>만 </a:t>
            </a:r>
            <a:r>
              <a:rPr lang="en-US" altLang="ko-KR" sz="1400" dirty="0">
                <a:solidFill>
                  <a:srgbClr val="00B0F0"/>
                </a:solidFill>
              </a:rPr>
              <a:t>dump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F0"/>
                </a:solidFill>
              </a:rPr>
              <a:t>level 2: 1</a:t>
            </a:r>
            <a:r>
              <a:rPr lang="ko-KR" altLang="en-US" sz="1400" dirty="0">
                <a:solidFill>
                  <a:srgbClr val="00B0F0"/>
                </a:solidFill>
              </a:rPr>
              <a:t>단계 하위 </a:t>
            </a:r>
            <a:r>
              <a:rPr lang="en-US" altLang="ko-KR" sz="1400" dirty="0">
                <a:solidFill>
                  <a:srgbClr val="00B0F0"/>
                </a:solidFill>
              </a:rPr>
              <a:t>module</a:t>
            </a:r>
            <a:r>
              <a:rPr lang="ko-KR" altLang="en-US" sz="1400" dirty="0">
                <a:solidFill>
                  <a:srgbClr val="00B0F0"/>
                </a:solidFill>
              </a:rPr>
              <a:t>까지만 </a:t>
            </a:r>
            <a:r>
              <a:rPr lang="en-US" altLang="ko-KR" sz="1400" dirty="0">
                <a:solidFill>
                  <a:srgbClr val="00B0F0"/>
                </a:solidFill>
              </a:rPr>
              <a:t>dump</a:t>
            </a:r>
            <a:endParaRPr lang="en-US" sz="1400" dirty="0">
              <a:solidFill>
                <a:srgbClr val="00B0F0"/>
              </a:solidFill>
            </a:endParaRPr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84324-C8D8-492B-8163-5C062F307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68425"/>
            <a:ext cx="5947997" cy="10572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5175D0-D4A4-4BD2-A605-B17A8B36B961}"/>
              </a:ext>
            </a:extLst>
          </p:cNvPr>
          <p:cNvSpPr/>
          <p:nvPr/>
        </p:nvSpPr>
        <p:spPr>
          <a:xfrm>
            <a:off x="6096000" y="4351094"/>
            <a:ext cx="4590209" cy="650631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816FF-7332-4242-96B9-76C9684A1251}"/>
              </a:ext>
            </a:extLst>
          </p:cNvPr>
          <p:cNvSpPr txBox="1"/>
          <p:nvPr/>
        </p:nvSpPr>
        <p:spPr>
          <a:xfrm>
            <a:off x="1951893" y="5822686"/>
            <a:ext cx="2391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TB</a:t>
            </a:r>
            <a:r>
              <a:rPr lang="ko-KR" altLang="en-US" sz="1200" dirty="0"/>
              <a:t>내에 </a:t>
            </a:r>
            <a:r>
              <a:rPr lang="en-US" altLang="ko-KR" sz="1200" dirty="0" err="1"/>
              <a:t>dumpfile</a:t>
            </a:r>
            <a:r>
              <a:rPr lang="en-US" altLang="ko-KR" sz="1200" dirty="0"/>
              <a:t> </a:t>
            </a:r>
            <a:r>
              <a:rPr lang="ko-KR" altLang="en-US" sz="1200" dirty="0"/>
              <a:t>생성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A7A8B-DCC3-4B33-AD48-B70E7FDDB94C}"/>
              </a:ext>
            </a:extLst>
          </p:cNvPr>
          <p:cNvSpPr txBox="1"/>
          <p:nvPr/>
        </p:nvSpPr>
        <p:spPr>
          <a:xfrm>
            <a:off x="6536531" y="5124772"/>
            <a:ext cx="3174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Dumpfile</a:t>
            </a:r>
            <a:r>
              <a:rPr lang="en-US" sz="1200" dirty="0"/>
              <a:t>(*.</a:t>
            </a:r>
            <a:r>
              <a:rPr lang="en-US" sz="1200" dirty="0" err="1"/>
              <a:t>vcd</a:t>
            </a:r>
            <a:r>
              <a:rPr lang="en-US" sz="1200" dirty="0"/>
              <a:t>)</a:t>
            </a:r>
            <a:r>
              <a:rPr lang="ko-KR" altLang="en-US" sz="1200" dirty="0"/>
              <a:t> 이용한 </a:t>
            </a:r>
            <a:r>
              <a:rPr lang="en-US" altLang="ko-KR" sz="1200" dirty="0"/>
              <a:t>waveform </a:t>
            </a:r>
            <a:r>
              <a:rPr lang="ko-KR" altLang="en-US" sz="1200" dirty="0"/>
              <a:t>확인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C7995-CA98-4C06-84DF-386D6BB9C229}"/>
              </a:ext>
            </a:extLst>
          </p:cNvPr>
          <p:cNvSpPr/>
          <p:nvPr/>
        </p:nvSpPr>
        <p:spPr>
          <a:xfrm>
            <a:off x="6217180" y="4507132"/>
            <a:ext cx="2435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$ </a:t>
            </a:r>
            <a:r>
              <a:rPr lang="en-US" sz="1600" dirty="0" err="1">
                <a:solidFill>
                  <a:schemeClr val="accent2"/>
                </a:solidFill>
              </a:rPr>
              <a:t>simvsion</a:t>
            </a:r>
            <a:r>
              <a:rPr lang="en-US" sz="1600" dirty="0">
                <a:solidFill>
                  <a:schemeClr val="accent2"/>
                </a:solidFill>
              </a:rPr>
              <a:t> {</a:t>
            </a:r>
            <a:r>
              <a:rPr lang="en-US" sz="1600" dirty="0" err="1">
                <a:solidFill>
                  <a:schemeClr val="accent2"/>
                </a:solidFill>
              </a:rPr>
              <a:t>dumfile.vcd</a:t>
            </a:r>
            <a:r>
              <a:rPr lang="en-US" sz="1600" dirty="0">
                <a:solidFill>
                  <a:schemeClr val="accent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819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4. Make File for Automation</a:t>
            </a:r>
          </a:p>
        </p:txBody>
      </p:sp>
    </p:spTree>
    <p:extLst>
      <p:ext uri="{BB962C8B-B14F-4D97-AF65-F5344CB8AC3E}">
        <p14:creationId xmlns:p14="http://schemas.microsoft.com/office/powerpoint/2010/main" val="3209539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85EF-9648-3B1B-F798-FFF39EC0022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Make File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3D10D8B-DD5F-488D-A5CE-D19562074EFB}"/>
              </a:ext>
            </a:extLst>
          </p:cNvPr>
          <p:cNvSpPr txBox="1">
            <a:spLocks/>
          </p:cNvSpPr>
          <p:nvPr/>
        </p:nvSpPr>
        <p:spPr>
          <a:xfrm>
            <a:off x="579930" y="1292298"/>
            <a:ext cx="4968015" cy="2347717"/>
          </a:xfrm>
          <a:prstGeom prst="rect">
            <a:avLst/>
          </a:prstGeom>
        </p:spPr>
        <p:txBody>
          <a:bodyPr/>
          <a:lstStyle>
            <a:lvl1pPr marL="346075" indent="-288925" algn="l" defTabSz="914400" rtl="0" eaLnBrk="1" latinLnBrk="0" hangingPunct="1">
              <a:lnSpc>
                <a:spcPct val="90000"/>
              </a:lnSpc>
              <a:spcBef>
                <a:spcPts val="16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38188" indent="-280988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Courier New" panose="02070309020205020404" pitchFamily="49" charset="0"/>
              <a:buChar char="o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Rubik Light" panose="00000400000000000000" pitchFamily="2" charset="-79"/>
              <a:buChar char="–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52588" indent="-280988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70113" indent="-341313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200"/>
              </a:spcAft>
              <a:buClr>
                <a:schemeClr val="accent2"/>
              </a:buClr>
              <a:buSzPct val="115000"/>
              <a:buFont typeface=".Lucida Grande UI Regular"/>
              <a:buChar char="▹"/>
              <a:tabLst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en-US" altLang="ko-KR" dirty="0"/>
              <a:t> Make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ko-KR" dirty="0"/>
              <a:t>Unix/Linux</a:t>
            </a:r>
            <a:r>
              <a:rPr lang="ko-KR" altLang="en-US" dirty="0"/>
              <a:t>에 내장된 </a:t>
            </a:r>
            <a:r>
              <a:rPr lang="en-US" altLang="ko-KR" dirty="0"/>
              <a:t>Build </a:t>
            </a:r>
            <a:r>
              <a:rPr lang="ko-KR" altLang="en-US" dirty="0"/>
              <a:t>자동화 소프트웨어</a:t>
            </a:r>
            <a:endParaRPr lang="en-US" altLang="ko-KR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여러 단계에 걸쳐서 이루어지는 과정을 하나의 파일</a:t>
            </a:r>
            <a:r>
              <a:rPr lang="en-US" altLang="ko-KR" dirty="0"/>
              <a:t>(</a:t>
            </a:r>
            <a:r>
              <a:rPr lang="en-US" altLang="ko-KR" dirty="0" err="1"/>
              <a:t>Makefile</a:t>
            </a:r>
            <a:r>
              <a:rPr lang="en-US" altLang="ko-KR" dirty="0"/>
              <a:t>)</a:t>
            </a:r>
            <a:r>
              <a:rPr lang="ko-KR" altLang="en-US" dirty="0"/>
              <a:t>로 작성하여 부분 및 전체를 컨트롤</a:t>
            </a:r>
            <a:endParaRPr lang="en-US" altLang="ko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E3297-3942-4017-AE62-075DEF59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891" y="1120286"/>
            <a:ext cx="5417687" cy="461742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0227EE4-8942-4246-A254-19FD2D6B0492}"/>
              </a:ext>
            </a:extLst>
          </p:cNvPr>
          <p:cNvSpPr/>
          <p:nvPr/>
        </p:nvSpPr>
        <p:spPr>
          <a:xfrm>
            <a:off x="957734" y="4246683"/>
            <a:ext cx="4212405" cy="650631"/>
          </a:xfrm>
          <a:prstGeom prst="rect">
            <a:avLst/>
          </a:prstGeom>
          <a:noFill/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en-US" sz="1600" dirty="0"/>
              <a:t>$ make</a:t>
            </a:r>
            <a:r>
              <a:rPr lang="ko-KR" altLang="en-US" sz="1600" dirty="0"/>
              <a:t> </a:t>
            </a:r>
            <a:r>
              <a:rPr lang="en-US" altLang="ko-KR" sz="1600" dirty="0"/>
              <a:t>{</a:t>
            </a:r>
            <a:r>
              <a:rPr lang="ko-KR" altLang="en-US" sz="1600" dirty="0"/>
              <a:t>부분 명령어</a:t>
            </a:r>
            <a:r>
              <a:rPr lang="en-US" altLang="ko-KR" sz="1600" dirty="0"/>
              <a:t>}</a:t>
            </a:r>
          </a:p>
          <a:p>
            <a:r>
              <a:rPr lang="en-US" sz="1600" dirty="0"/>
              <a:t>$ make</a:t>
            </a:r>
            <a:r>
              <a:rPr lang="ko-KR" altLang="en-US" sz="1600" dirty="0"/>
              <a:t> </a:t>
            </a:r>
            <a:r>
              <a:rPr lang="en-US" altLang="ko-KR" sz="1600" dirty="0"/>
              <a:t>{</a:t>
            </a:r>
            <a:r>
              <a:rPr lang="ko-KR" altLang="en-US" sz="1600" dirty="0"/>
              <a:t>결합</a:t>
            </a:r>
            <a:r>
              <a:rPr lang="en-US" altLang="ko-KR" sz="1600" dirty="0"/>
              <a:t>(</a:t>
            </a:r>
            <a:r>
              <a:rPr lang="ko-KR" altLang="en-US" sz="1600" dirty="0"/>
              <a:t>전체</a:t>
            </a:r>
            <a:r>
              <a:rPr lang="en-US" altLang="ko-KR" sz="1600" dirty="0"/>
              <a:t>)</a:t>
            </a:r>
            <a:r>
              <a:rPr lang="ko-KR" altLang="en-US" sz="1600" dirty="0"/>
              <a:t> 명령어</a:t>
            </a:r>
            <a:r>
              <a:rPr lang="en-US" altLang="ko-KR" sz="1600" dirty="0"/>
              <a:t>}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42629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46593-F0FE-03CD-027A-98A0788BD1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LAB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5DA22-DADD-40A5-F7D8-5B40055BB973}"/>
              </a:ext>
            </a:extLst>
          </p:cNvPr>
          <p:cNvSpPr txBox="1"/>
          <p:nvPr/>
        </p:nvSpPr>
        <p:spPr>
          <a:xfrm>
            <a:off x="531119" y="1116992"/>
            <a:ext cx="111534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Go to “SoC_102/2_SIM/4_SAMPLE”.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Dive into the DUT and Testbench.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 3-step simulation according to the process aforementioned in the lecture slide.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that, construct </a:t>
            </a:r>
            <a:r>
              <a:rPr lang="en-US" dirty="0" err="1"/>
              <a:t>Makefile</a:t>
            </a:r>
            <a:r>
              <a:rPr lang="en-US" dirty="0"/>
              <a:t> automation script followed by a verification.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Make </a:t>
            </a:r>
            <a:r>
              <a:rPr lang="en-US" dirty="0" err="1"/>
              <a:t>tcl</a:t>
            </a:r>
            <a:r>
              <a:rPr lang="en-US" dirty="0"/>
              <a:t> script and compare it with the </a:t>
            </a:r>
            <a:r>
              <a:rPr lang="en-US" dirty="0" err="1"/>
              <a:t>Makefile</a:t>
            </a:r>
            <a:r>
              <a:rPr lang="en-US" dirty="0"/>
              <a:t> made in the previous step.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Simulate again using </a:t>
            </a:r>
            <a:r>
              <a:rPr lang="en-US" dirty="0" err="1"/>
              <a:t>dumpfile</a:t>
            </a:r>
            <a:r>
              <a:rPr lang="en-US" dirty="0"/>
              <a:t> generated in the process of CLI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15CFB-5CBF-4698-80AA-617ECF11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92" y="3238399"/>
            <a:ext cx="4085494" cy="2664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79B5A2-4427-4A35-BF11-AF70A2731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95" y="3238399"/>
            <a:ext cx="6500871" cy="155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31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13918</TotalTime>
  <Words>732</Words>
  <Application>Microsoft Office PowerPoint</Application>
  <PresentationFormat>와이드스크린</PresentationFormat>
  <Paragraphs>128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Rubik Light</vt:lpstr>
      <vt:lpstr>나눔스퀘어 네오 Regular</vt:lpstr>
      <vt:lpstr>Arial</vt:lpstr>
      <vt:lpstr>Wingdings</vt:lpstr>
      <vt:lpstr>Office 테마</vt:lpstr>
      <vt:lpstr>SoC 102: Design</vt:lpstr>
      <vt:lpstr>1. Simulation Overview</vt:lpstr>
      <vt:lpstr>Imagine your conventional debugging</vt:lpstr>
      <vt:lpstr>Simulation Flow</vt:lpstr>
      <vt:lpstr>Types of Simulation</vt:lpstr>
      <vt:lpstr>Simulation Process</vt:lpstr>
      <vt:lpstr>2. Cadence Xcelium ™ Simulator</vt:lpstr>
      <vt:lpstr>Simulation Step[s] in Xcelium® Simulator</vt:lpstr>
      <vt:lpstr>Multi-step Simulation(1): Design Setup</vt:lpstr>
      <vt:lpstr>Multi-step Simulation(Compile)</vt:lpstr>
      <vt:lpstr>Multi-step Simulation(Elaboration)</vt:lpstr>
      <vt:lpstr>Multi-step Simulation(Simulation: no-gui)</vt:lpstr>
      <vt:lpstr>Multi-step Simulation(Simulation: gui)</vt:lpstr>
      <vt:lpstr>Multi-step Simulation(Simulation:PPE)</vt:lpstr>
      <vt:lpstr>PowerPoint 프레젠테이션</vt:lpstr>
      <vt:lpstr>VCD Dump</vt:lpstr>
      <vt:lpstr>PowerPoint 프레젠테이션</vt:lpstr>
      <vt:lpstr>Make File</vt:lpstr>
      <vt:lpstr>PowerPoint 프레젠테이션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719</cp:revision>
  <dcterms:created xsi:type="dcterms:W3CDTF">2024-09-20T05:42:48Z</dcterms:created>
  <dcterms:modified xsi:type="dcterms:W3CDTF">2026-07-05T10:52:56Z</dcterms:modified>
</cp:coreProperties>
</file>